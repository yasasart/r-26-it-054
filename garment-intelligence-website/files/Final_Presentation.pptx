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5" r:id="rId3"/>
    <p:sldId id="257" r:id="rId4"/>
    <p:sldId id="259" r:id="rId5"/>
    <p:sldId id="261" r:id="rId6"/>
    <p:sldId id="262" r:id="rId7"/>
    <p:sldId id="260"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3"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as jayaweera" userId="442cb86a2de8e17b" providerId="LiveId" clId="{E16B7109-3A68-4E6F-B0A2-44E4E53CCECD}"/>
    <pc:docChg chg="modSld">
      <pc:chgData name="yasas jayaweera" userId="442cb86a2de8e17b" providerId="LiveId" clId="{E16B7109-3A68-4E6F-B0A2-44E4E53CCECD}" dt="2026-10-19T22:19:06.133" v="5" actId="20577"/>
      <pc:docMkLst>
        <pc:docMk/>
      </pc:docMkLst>
      <pc:sldChg chg="modSp mod">
        <pc:chgData name="yasas jayaweera" userId="442cb86a2de8e17b" providerId="LiveId" clId="{E16B7109-3A68-4E6F-B0A2-44E4E53CCECD}" dt="2026-10-19T22:19:06.133" v="5" actId="20577"/>
        <pc:sldMkLst>
          <pc:docMk/>
          <pc:sldMk cId="0" sldId="256"/>
        </pc:sldMkLst>
        <pc:spChg chg="mod">
          <ac:chgData name="yasas jayaweera" userId="442cb86a2de8e17b" providerId="LiveId" clId="{E16B7109-3A68-4E6F-B0A2-44E4E53CCECD}" dt="2026-10-19T22:19:06.133" v="5" actId="20577"/>
          <ac:spMkLst>
            <pc:docMk/>
            <pc:sldMk cId="0" sldId="256"/>
            <ac:spMk id="12" creationId="{00000000-0000-0000-0000-000000000000}"/>
          </ac:spMkLst>
        </pc:spChg>
        <pc:spChg chg="mod">
          <ac:chgData name="yasas jayaweera" userId="442cb86a2de8e17b" providerId="LiveId" clId="{E16B7109-3A68-4E6F-B0A2-44E4E53CCECD}" dt="2026-10-19T22:18:54.685" v="1" actId="20577"/>
          <ac:spMkLst>
            <pc:docMk/>
            <pc:sldMk cId="0" sldId="256"/>
            <ac:spMk id="14" creationId="{00000000-0000-0000-0000-000000000000}"/>
          </ac:spMkLst>
        </pc:spChg>
        <pc:spChg chg="mod">
          <ac:chgData name="yasas jayaweera" userId="442cb86a2de8e17b" providerId="LiveId" clId="{E16B7109-3A68-4E6F-B0A2-44E4E53CCECD}" dt="2026-10-19T22:18:59.562" v="3" actId="20577"/>
          <ac:spMkLst>
            <pc:docMk/>
            <pc:sldMk cId="0" sldId="256"/>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6308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title and the four components in production order. Name the team once; each component slide repeats its owner in the footer.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problem is that sewing, quality checking and packing rely on manual counts and visual checks. The four cards show how our components address each task. Production Monitoring counts completed pieces and measures cycle times. The Rework Counter records good and rework counts separately. Style and Colour Detection recognises garment styles and colours. Size Detection measures dimensions and records size counts. The shape of our fix is one offline desktop application, using camera-based analysis and local records across these four checkpoints.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comment, say what changed in one sentence, point at the evidence column, move on. Replace rows 1-2 with your real PP2 comments and fill the two bracketed cells.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counting rule is the research contribution. A piece counts only at a confirmed sewing-to-idle transition, only while a real workstation is visible, and only while the controller reports normal mode. Point at the red bar: rework, downtime and a disconnected controller all pause counting, and none of them ever resets the confirmed count.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was never the problem - 0.958 mAP on its test set. The problem was that the live loop asked it the wrong question, at the wrong moment, on pixels that included the table. Walk down the funnel: each bar is one failure removed. The bottom right is the headline - an empty table is never classified, because the model is never called. Then give the overtime number: 84.3 against 122.9 needed, nine days late, four hours of overtime a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part is marker-free measurement at a calibrated height. Point at the 100 cm line - that is what converts pixels to centimetres, and it is why moving the camera breaks the measurement. Best frame is chosen by agreement between three frames, not by picking the sharpest one. Measure your error in millimetres before the viva.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component has the least quantitative evidence. Before presenting, measure detection accuracy and the good-versus-rework confusion on your own test set. If the panel asks for a number you do not have, say it is being measured - do not improvise.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0.958 and say what it is measured on. State the limitations yourself - the honesty buys credibility for the numbers above them. Finish on the NEXT line and hand over to the demo. Fill the UAT box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35"/>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852160" cy="5852160"/>
          </a:xfrm>
          <a:prstGeom prst="ellipse">
            <a:avLst/>
          </a:prstGeom>
          <a:solidFill>
            <a:srgbClr val="2A3596">
              <a:alpha val="45000"/>
            </a:srgbClr>
          </a:solidFill>
          <a:ln/>
        </p:spPr>
        <p:txBody>
          <a:bodyPr/>
          <a:lstStyle/>
          <a:p>
            <a:endParaRPr lang="en-GB"/>
          </a:p>
        </p:txBody>
      </p:sp>
      <p:pic>
        <p:nvPicPr>
          <p:cNvPr id="4" name="Image 0" descr="icon.png"/>
          <p:cNvPicPr>
            <a:picLocks noChangeAspect="1"/>
          </p:cNvPicPr>
          <p:nvPr/>
        </p:nvPicPr>
        <p:blipFill>
          <a:blip r:embed="rId3"/>
          <a:stretch>
            <a:fillRect/>
          </a:stretch>
        </p:blipFill>
        <p:spPr>
          <a:xfrm>
            <a:off x="502920" y="548640"/>
            <a:ext cx="841248" cy="841248"/>
          </a:xfrm>
          <a:prstGeom prst="rect">
            <a:avLst/>
          </a:prstGeom>
        </p:spPr>
      </p:pic>
      <p:sp>
        <p:nvSpPr>
          <p:cNvPr id="5" name="Text 2"/>
          <p:cNvSpPr txBox="1"/>
          <p:nvPr/>
        </p:nvSpPr>
        <p:spPr>
          <a:xfrm>
            <a:off x="1554480" y="731520"/>
            <a:ext cx="8229600" cy="256032"/>
          </a:xfrm>
          <a:prstGeom prst="rect">
            <a:avLst/>
          </a:prstGeom>
          <a:noFill/>
          <a:ln/>
        </p:spPr>
        <p:txBody>
          <a:bodyPr wrap="square" lIns="0" tIns="0" rIns="0" bIns="0" rtlCol="0" anchor="ctr"/>
          <a:lstStyle/>
          <a:p>
            <a:pPr marL="0" indent="0">
              <a:buNone/>
            </a:pPr>
            <a:r>
              <a:rPr lang="en-US" sz="1050" b="1" kern="0" spc="200" dirty="0">
                <a:solidFill>
                  <a:srgbClr val="2FC79A"/>
                </a:solidFill>
                <a:latin typeface="Calibri" pitchFamily="34" charset="0"/>
                <a:ea typeface="Calibri" pitchFamily="34" charset="-122"/>
                <a:cs typeface="Calibri" pitchFamily="34" charset="-120"/>
              </a:rPr>
              <a:t>IT4010 RESEARCH PROJECT  ·  FINAL PRESENTATION &amp; VIVA</a:t>
            </a:r>
            <a:endParaRPr lang="en-US" sz="1050" dirty="0"/>
          </a:p>
        </p:txBody>
      </p:sp>
      <p:sp>
        <p:nvSpPr>
          <p:cNvPr id="6" name="Text 3"/>
          <p:cNvSpPr txBox="1"/>
          <p:nvPr/>
        </p:nvSpPr>
        <p:spPr>
          <a:xfrm>
            <a:off x="502920" y="1664208"/>
            <a:ext cx="9326880" cy="1371600"/>
          </a:xfrm>
          <a:prstGeom prst="rect">
            <a:avLst/>
          </a:prstGeom>
          <a:noFill/>
          <a:ln/>
        </p:spPr>
        <p:txBody>
          <a:bodyPr wrap="square" lIns="0" tIns="0" rIns="0" bIns="0" rtlCol="0" anchor="ctr"/>
          <a:lstStyle/>
          <a:p>
            <a:pPr marL="0" indent="0">
              <a:lnSpc>
                <a:spcPct val="98000"/>
              </a:lnSpc>
              <a:buNone/>
            </a:pPr>
            <a:r>
              <a:rPr lang="en-US" sz="3500" b="1" dirty="0">
                <a:solidFill>
                  <a:srgbClr val="FFFFFF"/>
                </a:solidFill>
                <a:latin typeface="Cambria" pitchFamily="34" charset="0"/>
                <a:ea typeface="Cambria" pitchFamily="34" charset="-122"/>
                <a:cs typeface="Cambria" pitchFamily="34" charset="-120"/>
              </a:rPr>
              <a:t>AI-Powered Vision System for</a:t>
            </a:r>
            <a:endParaRPr lang="en-US" sz="3500" dirty="0"/>
          </a:p>
          <a:p>
            <a:pPr marL="0" indent="0">
              <a:lnSpc>
                <a:spcPct val="98000"/>
              </a:lnSpc>
              <a:buNone/>
            </a:pPr>
            <a:r>
              <a:rPr lang="en-US" sz="3500" b="1" dirty="0">
                <a:solidFill>
                  <a:srgbClr val="FFFFFF"/>
                </a:solidFill>
                <a:latin typeface="Cambria" pitchFamily="34" charset="0"/>
                <a:ea typeface="Cambria" pitchFamily="34" charset="-122"/>
                <a:cs typeface="Cambria" pitchFamily="34" charset="-120"/>
              </a:rPr>
              <a:t>Real-Time Garment Tracking</a:t>
            </a:r>
            <a:endParaRPr lang="en-US" sz="3500" dirty="0"/>
          </a:p>
        </p:txBody>
      </p:sp>
      <p:sp>
        <p:nvSpPr>
          <p:cNvPr id="7" name="Text 4"/>
          <p:cNvSpPr txBox="1"/>
          <p:nvPr/>
        </p:nvSpPr>
        <p:spPr>
          <a:xfrm>
            <a:off x="502920" y="2999232"/>
            <a:ext cx="9326880" cy="402336"/>
          </a:xfrm>
          <a:prstGeom prst="rect">
            <a:avLst/>
          </a:prstGeom>
          <a:noFill/>
          <a:ln/>
        </p:spPr>
        <p:txBody>
          <a:bodyPr wrap="square" lIns="0" tIns="0" rIns="0" bIns="0" rtlCol="0" anchor="ctr"/>
          <a:lstStyle/>
          <a:p>
            <a:pPr marL="0" indent="0">
              <a:buNone/>
            </a:pPr>
            <a:r>
              <a:rPr lang="en-US" sz="2100" dirty="0">
                <a:solidFill>
                  <a:srgbClr val="C6CEF7"/>
                </a:solidFill>
                <a:latin typeface="Cambria" pitchFamily="34" charset="0"/>
                <a:ea typeface="Cambria" pitchFamily="34" charset="-122"/>
                <a:cs typeface="Cambria" pitchFamily="34" charset="-120"/>
              </a:rPr>
              <a:t>in Apparel Manufacturing</a:t>
            </a:r>
            <a:endParaRPr lang="en-US" sz="2100" dirty="0"/>
          </a:p>
        </p:txBody>
      </p:sp>
      <p:sp>
        <p:nvSpPr>
          <p:cNvPr id="8" name="Text 5"/>
          <p:cNvSpPr txBox="1"/>
          <p:nvPr/>
        </p:nvSpPr>
        <p:spPr>
          <a:xfrm>
            <a:off x="502920" y="3584448"/>
            <a:ext cx="8229600" cy="310896"/>
          </a:xfrm>
          <a:prstGeom prst="rect">
            <a:avLst/>
          </a:prstGeom>
          <a:noFill/>
          <a:ln/>
        </p:spPr>
        <p:txBody>
          <a:bodyPr wrap="square" lIns="0" tIns="0" rIns="0" bIns="0" rtlCol="0" anchor="ctr"/>
          <a:lstStyle/>
          <a:p>
            <a:pPr marL="0" indent="0">
              <a:buNone/>
            </a:pPr>
            <a:r>
              <a:rPr lang="en-US" sz="1250" dirty="0">
                <a:solidFill>
                  <a:srgbClr val="C6CEF7"/>
                </a:solidFill>
                <a:latin typeface="Calibri" pitchFamily="34" charset="0"/>
                <a:ea typeface="Calibri" pitchFamily="34" charset="-122"/>
                <a:cs typeface="Calibri" pitchFamily="34" charset="-120"/>
              </a:rPr>
              <a:t>Garment Intelligence 3.1  —  four garment-vision components in one offline desktop application.</a:t>
            </a:r>
            <a:endParaRPr lang="en-US" sz="1250" dirty="0"/>
          </a:p>
        </p:txBody>
      </p:sp>
      <p:sp>
        <p:nvSpPr>
          <p:cNvPr id="9" name="Shape 6"/>
          <p:cNvSpPr/>
          <p:nvPr/>
        </p:nvSpPr>
        <p:spPr>
          <a:xfrm>
            <a:off x="502920" y="4315968"/>
            <a:ext cx="2633472" cy="1042416"/>
          </a:xfrm>
          <a:prstGeom prst="roundRect">
            <a:avLst>
              <a:gd name="adj" fmla="val 7895"/>
            </a:avLst>
          </a:prstGeom>
          <a:solidFill>
            <a:srgbClr val="1E2352"/>
          </a:solidFill>
          <a:ln/>
        </p:spPr>
        <p:txBody>
          <a:bodyPr/>
          <a:lstStyle/>
          <a:p>
            <a:endParaRPr lang="en-GB"/>
          </a:p>
        </p:txBody>
      </p:sp>
      <p:sp>
        <p:nvSpPr>
          <p:cNvPr id="10" name="Text 7"/>
          <p:cNvSpPr txBox="1"/>
          <p:nvPr/>
        </p:nvSpPr>
        <p:spPr>
          <a:xfrm>
            <a:off x="667512" y="4425696"/>
            <a:ext cx="2304288" cy="841248"/>
          </a:xfrm>
          <a:prstGeom prst="rect">
            <a:avLst/>
          </a:prstGeom>
          <a:noFill/>
          <a:ln/>
        </p:spPr>
        <p:txBody>
          <a:bodyPr wrap="square" lIns="0" tIns="0" rIns="0" bIns="0" rtlCol="0" anchor="ctr"/>
          <a:lstStyle/>
          <a:p>
            <a:pPr marL="0" indent="0">
              <a:lnSpc>
                <a:spcPct val="102000"/>
              </a:lnSpc>
              <a:buNone/>
            </a:pPr>
            <a:r>
              <a:rPr lang="en-US" sz="750" b="1" kern="0" spc="100" dirty="0">
                <a:solidFill>
                  <a:srgbClr val="2FC79A"/>
                </a:solidFill>
                <a:latin typeface="Calibri" pitchFamily="34" charset="0"/>
                <a:ea typeface="Calibri" pitchFamily="34" charset="-122"/>
                <a:cs typeface="Calibri" pitchFamily="34" charset="-120"/>
              </a:rPr>
              <a:t>C1  PRODUCTION MONITORING</a:t>
            </a:r>
            <a:endParaRPr lang="en-US" sz="750" dirty="0"/>
          </a:p>
          <a:p>
            <a:pPr marL="0" indent="0">
              <a:lnSpc>
                <a:spcPct val="102000"/>
              </a:lnSpc>
              <a:buNone/>
            </a:pPr>
            <a:r>
              <a:rPr lang="en-US" sz="1100" b="1" dirty="0">
                <a:solidFill>
                  <a:srgbClr val="FFFFFF"/>
                </a:solidFill>
                <a:latin typeface="Calibri" pitchFamily="34" charset="0"/>
                <a:ea typeface="Calibri" pitchFamily="34" charset="-122"/>
                <a:cs typeface="Calibri" pitchFamily="34" charset="-120"/>
              </a:rPr>
              <a:t>Dharmarathna P.W.A.N.</a:t>
            </a:r>
            <a:endParaRPr lang="en-US" sz="750" dirty="0"/>
          </a:p>
          <a:p>
            <a:pPr marL="0" indent="0">
              <a:lnSpc>
                <a:spcPct val="102000"/>
              </a:lnSpc>
              <a:buNone/>
            </a:pPr>
            <a:r>
              <a:rPr lang="en-US" sz="950" dirty="0">
                <a:solidFill>
                  <a:srgbClr val="72778F"/>
                </a:solidFill>
                <a:latin typeface="Calibri" pitchFamily="34" charset="0"/>
                <a:ea typeface="Calibri" pitchFamily="34" charset="-122"/>
                <a:cs typeface="Calibri" pitchFamily="34" charset="-120"/>
              </a:rPr>
              <a:t>IT21255892</a:t>
            </a:r>
            <a:endParaRPr lang="en-US" sz="750" dirty="0"/>
          </a:p>
        </p:txBody>
      </p:sp>
      <p:sp>
        <p:nvSpPr>
          <p:cNvPr id="11" name="Shape 8"/>
          <p:cNvSpPr/>
          <p:nvPr/>
        </p:nvSpPr>
        <p:spPr>
          <a:xfrm>
            <a:off x="3346704" y="4315968"/>
            <a:ext cx="2633472" cy="1042416"/>
          </a:xfrm>
          <a:prstGeom prst="roundRect">
            <a:avLst>
              <a:gd name="adj" fmla="val 7895"/>
            </a:avLst>
          </a:prstGeom>
          <a:solidFill>
            <a:srgbClr val="1E2352"/>
          </a:solidFill>
          <a:ln/>
        </p:spPr>
        <p:txBody>
          <a:bodyPr/>
          <a:lstStyle/>
          <a:p>
            <a:endParaRPr lang="en-GB"/>
          </a:p>
        </p:txBody>
      </p:sp>
      <p:sp>
        <p:nvSpPr>
          <p:cNvPr id="13" name="Shape 10"/>
          <p:cNvSpPr/>
          <p:nvPr/>
        </p:nvSpPr>
        <p:spPr>
          <a:xfrm>
            <a:off x="6190488" y="4315968"/>
            <a:ext cx="2633472" cy="1042416"/>
          </a:xfrm>
          <a:prstGeom prst="roundRect">
            <a:avLst>
              <a:gd name="adj" fmla="val 7895"/>
            </a:avLst>
          </a:prstGeom>
          <a:solidFill>
            <a:srgbClr val="1E2352"/>
          </a:solidFill>
          <a:ln/>
        </p:spPr>
        <p:txBody>
          <a:bodyPr/>
          <a:lstStyle/>
          <a:p>
            <a:endParaRPr lang="en-GB"/>
          </a:p>
        </p:txBody>
      </p:sp>
      <p:sp>
        <p:nvSpPr>
          <p:cNvPr id="14" name="Text 11"/>
          <p:cNvSpPr txBox="1"/>
          <p:nvPr/>
        </p:nvSpPr>
        <p:spPr>
          <a:xfrm>
            <a:off x="3776472" y="4425696"/>
            <a:ext cx="2304288" cy="841248"/>
          </a:xfrm>
          <a:prstGeom prst="rect">
            <a:avLst/>
          </a:prstGeom>
          <a:noFill/>
          <a:ln/>
        </p:spPr>
        <p:txBody>
          <a:bodyPr wrap="square" lIns="0" tIns="0" rIns="0" bIns="0" rtlCol="0" anchor="ctr"/>
          <a:lstStyle/>
          <a:p>
            <a:pPr marL="0" indent="0">
              <a:lnSpc>
                <a:spcPct val="102000"/>
              </a:lnSpc>
              <a:buNone/>
            </a:pPr>
            <a:r>
              <a:rPr lang="en-US" sz="750" b="1" kern="0" spc="100" dirty="0">
                <a:solidFill>
                  <a:srgbClr val="2FC79A"/>
                </a:solidFill>
                <a:latin typeface="Calibri" pitchFamily="34" charset="0"/>
                <a:ea typeface="Calibri" pitchFamily="34" charset="-122"/>
                <a:cs typeface="Calibri" pitchFamily="34" charset="-120"/>
              </a:rPr>
              <a:t>C2  STYLE &amp; COLOUR DETECTION</a:t>
            </a:r>
            <a:endParaRPr lang="en-US" sz="750" dirty="0"/>
          </a:p>
          <a:p>
            <a:pPr marL="0" indent="0">
              <a:lnSpc>
                <a:spcPct val="102000"/>
              </a:lnSpc>
              <a:buNone/>
            </a:pPr>
            <a:r>
              <a:rPr lang="en-US" sz="1100" b="1" dirty="0">
                <a:solidFill>
                  <a:srgbClr val="FFFFFF"/>
                </a:solidFill>
                <a:latin typeface="Calibri" pitchFamily="34" charset="0"/>
                <a:ea typeface="Calibri" pitchFamily="34" charset="-122"/>
                <a:cs typeface="Calibri" pitchFamily="34" charset="-120"/>
              </a:rPr>
              <a:t>Jayaweera M.P.Y.C.</a:t>
            </a:r>
            <a:endParaRPr lang="en-US" sz="750" dirty="0"/>
          </a:p>
          <a:p>
            <a:pPr marL="0" indent="0">
              <a:lnSpc>
                <a:spcPct val="102000"/>
              </a:lnSpc>
              <a:buNone/>
            </a:pPr>
            <a:r>
              <a:rPr lang="en-US" sz="950" dirty="0">
                <a:solidFill>
                  <a:srgbClr val="72778F"/>
                </a:solidFill>
                <a:latin typeface="Calibri" pitchFamily="34" charset="0"/>
                <a:ea typeface="Calibri" pitchFamily="34" charset="-122"/>
                <a:cs typeface="Calibri" pitchFamily="34" charset="-120"/>
              </a:rPr>
              <a:t>IT22556370</a:t>
            </a:r>
            <a:endParaRPr lang="en-US" sz="750" dirty="0"/>
          </a:p>
        </p:txBody>
      </p:sp>
      <p:sp>
        <p:nvSpPr>
          <p:cNvPr id="15" name="Shape 12"/>
          <p:cNvSpPr/>
          <p:nvPr/>
        </p:nvSpPr>
        <p:spPr>
          <a:xfrm>
            <a:off x="9047370" y="4315968"/>
            <a:ext cx="2633472" cy="1042416"/>
          </a:xfrm>
          <a:prstGeom prst="roundRect">
            <a:avLst>
              <a:gd name="adj" fmla="val 7895"/>
            </a:avLst>
          </a:prstGeom>
          <a:solidFill>
            <a:srgbClr val="1E2352"/>
          </a:solidFill>
          <a:ln/>
        </p:spPr>
        <p:txBody>
          <a:bodyPr/>
          <a:lstStyle/>
          <a:p>
            <a:endParaRPr lang="en-GB"/>
          </a:p>
        </p:txBody>
      </p:sp>
      <p:sp>
        <p:nvSpPr>
          <p:cNvPr id="16" name="Text 13"/>
          <p:cNvSpPr txBox="1"/>
          <p:nvPr/>
        </p:nvSpPr>
        <p:spPr>
          <a:xfrm>
            <a:off x="6473952" y="4425696"/>
            <a:ext cx="2304288" cy="841248"/>
          </a:xfrm>
          <a:prstGeom prst="rect">
            <a:avLst/>
          </a:prstGeom>
          <a:noFill/>
          <a:ln/>
        </p:spPr>
        <p:txBody>
          <a:bodyPr wrap="square" lIns="0" tIns="0" rIns="0" bIns="0" rtlCol="0" anchor="ctr"/>
          <a:lstStyle/>
          <a:p>
            <a:pPr marL="0" indent="0">
              <a:lnSpc>
                <a:spcPct val="102000"/>
              </a:lnSpc>
              <a:buNone/>
            </a:pPr>
            <a:r>
              <a:rPr lang="en-US" sz="750" b="1" kern="0" spc="100" dirty="0">
                <a:solidFill>
                  <a:srgbClr val="2FC79A"/>
                </a:solidFill>
                <a:latin typeface="Calibri" pitchFamily="34" charset="0"/>
                <a:ea typeface="Calibri" pitchFamily="34" charset="-122"/>
                <a:cs typeface="Calibri" pitchFamily="34" charset="-120"/>
              </a:rPr>
              <a:t>C3  SIZE DETECTION</a:t>
            </a:r>
            <a:endParaRPr lang="en-US" sz="750" dirty="0"/>
          </a:p>
          <a:p>
            <a:pPr marL="0" indent="0">
              <a:lnSpc>
                <a:spcPct val="102000"/>
              </a:lnSpc>
              <a:buNone/>
            </a:pPr>
            <a:r>
              <a:rPr lang="en-US" sz="1100" b="1" dirty="0">
                <a:solidFill>
                  <a:srgbClr val="FFFFFF"/>
                </a:solidFill>
                <a:latin typeface="Calibri" pitchFamily="34" charset="0"/>
                <a:ea typeface="Calibri" pitchFamily="34" charset="-122"/>
                <a:cs typeface="Calibri" pitchFamily="34" charset="-120"/>
              </a:rPr>
              <a:t>Jayarathna W.G.U.C.G.</a:t>
            </a:r>
            <a:endParaRPr lang="en-US" sz="750" dirty="0"/>
          </a:p>
          <a:p>
            <a:pPr marL="0" indent="0">
              <a:lnSpc>
                <a:spcPct val="102000"/>
              </a:lnSpc>
              <a:buNone/>
            </a:pPr>
            <a:r>
              <a:rPr lang="en-US" sz="950" dirty="0">
                <a:solidFill>
                  <a:srgbClr val="72778F"/>
                </a:solidFill>
                <a:latin typeface="Calibri" pitchFamily="34" charset="0"/>
                <a:ea typeface="Calibri" pitchFamily="34" charset="-122"/>
                <a:cs typeface="Calibri" pitchFamily="34" charset="-120"/>
              </a:rPr>
              <a:t>IT22187796</a:t>
            </a:r>
            <a:endParaRPr lang="en-US" sz="750" dirty="0"/>
          </a:p>
        </p:txBody>
      </p:sp>
      <p:sp>
        <p:nvSpPr>
          <p:cNvPr id="17" name="Text 14"/>
          <p:cNvSpPr txBox="1"/>
          <p:nvPr/>
        </p:nvSpPr>
        <p:spPr>
          <a:xfrm>
            <a:off x="502920" y="5614416"/>
            <a:ext cx="11155680" cy="256032"/>
          </a:xfrm>
          <a:prstGeom prst="rect">
            <a:avLst/>
          </a:prstGeom>
          <a:noFill/>
          <a:ln/>
        </p:spPr>
        <p:txBody>
          <a:bodyPr wrap="square" lIns="0" tIns="0" rIns="0" bIns="0" rtlCol="0" anchor="ctr"/>
          <a:lstStyle/>
          <a:p>
            <a:pPr marL="0" indent="0">
              <a:buNone/>
            </a:pPr>
            <a:r>
              <a:rPr lang="en-US" sz="1000" dirty="0">
                <a:solidFill>
                  <a:srgbClr val="72778F"/>
                </a:solidFill>
                <a:latin typeface="Calibri" pitchFamily="34" charset="0"/>
                <a:ea typeface="Calibri" pitchFamily="34" charset="-122"/>
                <a:cs typeface="Calibri" pitchFamily="34" charset="-120"/>
              </a:rPr>
              <a:t>Project ID R26-IT-054      ·      Supervisor: Ms. Narmada Gamage      ·      Co-Supervisor: Ms. Buddhima Attanayaka      ·      SLIIT</a:t>
            </a:r>
            <a:endParaRPr lang="en-US" sz="1000" dirty="0"/>
          </a:p>
        </p:txBody>
      </p:sp>
      <p:sp>
        <p:nvSpPr>
          <p:cNvPr id="3" name="Shape 1"/>
          <p:cNvSpPr/>
          <p:nvPr/>
        </p:nvSpPr>
        <p:spPr>
          <a:xfrm>
            <a:off x="10424160" y="3566160"/>
            <a:ext cx="2926080" cy="2926080"/>
          </a:xfrm>
          <a:prstGeom prst="ellipse">
            <a:avLst/>
          </a:prstGeom>
          <a:solidFill>
            <a:srgbClr val="2FC79A">
              <a:alpha val="16000"/>
            </a:srgbClr>
          </a:solidFill>
          <a:ln/>
        </p:spPr>
        <p:txBody>
          <a:bodyPr/>
          <a:lstStyle/>
          <a:p>
            <a:endParaRPr lang="en-GB"/>
          </a:p>
        </p:txBody>
      </p:sp>
      <p:sp>
        <p:nvSpPr>
          <p:cNvPr id="12" name="Text 9"/>
          <p:cNvSpPr txBox="1"/>
          <p:nvPr/>
        </p:nvSpPr>
        <p:spPr>
          <a:xfrm>
            <a:off x="9354312" y="4429485"/>
            <a:ext cx="2304288" cy="841248"/>
          </a:xfrm>
          <a:prstGeom prst="rect">
            <a:avLst/>
          </a:prstGeom>
          <a:noFill/>
          <a:ln/>
        </p:spPr>
        <p:txBody>
          <a:bodyPr wrap="square" lIns="0" tIns="0" rIns="0" bIns="0" rtlCol="0" anchor="ctr"/>
          <a:lstStyle/>
          <a:p>
            <a:pPr marL="0" indent="0">
              <a:lnSpc>
                <a:spcPct val="102000"/>
              </a:lnSpc>
              <a:buNone/>
            </a:pPr>
            <a:r>
              <a:rPr lang="en-US" sz="750" b="1" kern="0" spc="100">
                <a:solidFill>
                  <a:srgbClr val="2FC79A"/>
                </a:solidFill>
                <a:latin typeface="Calibri" pitchFamily="34" charset="0"/>
                <a:ea typeface="Calibri" pitchFamily="34" charset="-122"/>
                <a:cs typeface="Calibri" pitchFamily="34" charset="-120"/>
              </a:rPr>
              <a:t>C4  </a:t>
            </a:r>
            <a:r>
              <a:rPr lang="en-US" sz="750" b="1" kern="0" spc="100" dirty="0">
                <a:solidFill>
                  <a:srgbClr val="2FC79A"/>
                </a:solidFill>
                <a:latin typeface="Calibri" pitchFamily="34" charset="0"/>
                <a:ea typeface="Calibri" pitchFamily="34" charset="-122"/>
                <a:cs typeface="Calibri" pitchFamily="34" charset="-120"/>
              </a:rPr>
              <a:t>REWORK COUNTER</a:t>
            </a:r>
            <a:endParaRPr lang="en-US" sz="750" dirty="0"/>
          </a:p>
          <a:p>
            <a:pPr marL="0" indent="0">
              <a:lnSpc>
                <a:spcPct val="102000"/>
              </a:lnSpc>
              <a:buNone/>
            </a:pPr>
            <a:r>
              <a:rPr lang="en-US" sz="1100" b="1" dirty="0">
                <a:solidFill>
                  <a:srgbClr val="FFFFFF"/>
                </a:solidFill>
                <a:latin typeface="Calibri" pitchFamily="34" charset="0"/>
                <a:ea typeface="Calibri" pitchFamily="34" charset="-122"/>
                <a:cs typeface="Calibri" pitchFamily="34" charset="-120"/>
              </a:rPr>
              <a:t>Pathiraja H.P.M.H.D.S.</a:t>
            </a:r>
            <a:endParaRPr lang="en-US" sz="750" dirty="0"/>
          </a:p>
          <a:p>
            <a:pPr marL="0" indent="0">
              <a:lnSpc>
                <a:spcPct val="102000"/>
              </a:lnSpc>
              <a:buNone/>
            </a:pPr>
            <a:r>
              <a:rPr lang="en-US" sz="950" dirty="0">
                <a:solidFill>
                  <a:srgbClr val="72778F"/>
                </a:solidFill>
                <a:latin typeface="Calibri" pitchFamily="34" charset="0"/>
                <a:ea typeface="Calibri" pitchFamily="34" charset="-122"/>
                <a:cs typeface="Calibri" pitchFamily="34" charset="-120"/>
              </a:rPr>
              <a:t>IT22627582</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4" name="original-heading">
            <a:extLst>
              <a:ext uri="{FF2B5EF4-FFF2-40B4-BE49-F238E27FC236}">
                <a16:creationId xmlns:a16="http://schemas.microsoft.com/office/drawing/2014/main" id="{C0BFAD49-7A13-4226-886D-CFD0B42DB08D}"/>
              </a:ext>
            </a:extLst>
          </p:cNvPr>
          <p:cNvSpPr>
            <a:spLocks noGrp="1"/>
          </p:cNvSpPr>
          <p:nvPr/>
        </p:nvSpPr>
        <p:spPr>
          <a:xfrm>
            <a:off x="502920" y="365760"/>
            <a:ext cx="11155680" cy="603504"/>
          </a:xfrm>
          <a:prstGeom prst="rect">
            <a:avLst/>
          </a:prstGeom>
          <a:noFill/>
          <a:ln w="0">
            <a:noFill/>
            <a:prstDash val="solid"/>
          </a:ln>
        </p:spPr>
        <p:txBody>
          <a:bodyPr wrap="square" lIns="0" tIns="0" rIns="0" bIns="0" anchor="ctr">
            <a:noAutofit/>
          </a:bodyPr>
          <a:lstStyle>
            <a:defPPr>
              <a:defRPr sz="3100" b="1">
                <a:solidFill>
                  <a:srgbClr val="141735"/>
                </a:solidFill>
                <a:latin typeface="Cambria"/>
                <a:ea typeface="Cambria"/>
                <a:cs typeface="Cambria"/>
              </a:defRPr>
            </a:defPPr>
            <a:lvl1pPr>
              <a:defRPr sz="3100" b="1">
                <a:solidFill>
                  <a:srgbClr val="141735"/>
                </a:solidFill>
                <a:latin typeface="Cambria"/>
                <a:ea typeface="Cambria"/>
                <a:cs typeface="Cambria"/>
              </a:defRPr>
            </a:lvl1pPr>
            <a:lvl2pPr>
              <a:defRPr sz="3100" b="1">
                <a:solidFill>
                  <a:srgbClr val="141735"/>
                </a:solidFill>
                <a:latin typeface="Cambria"/>
                <a:ea typeface="Cambria"/>
                <a:cs typeface="Cambria"/>
              </a:defRPr>
            </a:lvl2pPr>
            <a:lvl3pPr>
              <a:defRPr sz="3100" b="1">
                <a:solidFill>
                  <a:srgbClr val="141735"/>
                </a:solidFill>
                <a:latin typeface="Cambria"/>
                <a:ea typeface="Cambria"/>
                <a:cs typeface="Cambria"/>
              </a:defRPr>
            </a:lvl3pPr>
            <a:lvl4pPr>
              <a:defRPr sz="3100" b="1">
                <a:solidFill>
                  <a:srgbClr val="141735"/>
                </a:solidFill>
                <a:latin typeface="Cambria"/>
                <a:ea typeface="Cambria"/>
                <a:cs typeface="Cambria"/>
              </a:defRPr>
            </a:lvl4pPr>
            <a:lvl5pPr>
              <a:defRPr sz="3100" b="1">
                <a:solidFill>
                  <a:srgbClr val="141735"/>
                </a:solidFill>
                <a:latin typeface="Cambria"/>
                <a:ea typeface="Cambria"/>
                <a:cs typeface="Cambria"/>
              </a:defRPr>
            </a:lvl5pPr>
            <a:lvl6pPr>
              <a:defRPr sz="3100" b="1">
                <a:solidFill>
                  <a:srgbClr val="141735"/>
                </a:solidFill>
                <a:latin typeface="Cambria"/>
                <a:ea typeface="Cambria"/>
                <a:cs typeface="Cambria"/>
              </a:defRPr>
            </a:lvl6pPr>
            <a:lvl7pPr>
              <a:defRPr sz="3100" b="1">
                <a:solidFill>
                  <a:srgbClr val="141735"/>
                </a:solidFill>
                <a:latin typeface="Cambria"/>
                <a:ea typeface="Cambria"/>
                <a:cs typeface="Cambria"/>
              </a:defRPr>
            </a:lvl7pPr>
            <a:lvl8pPr>
              <a:defRPr sz="3100" b="1">
                <a:solidFill>
                  <a:srgbClr val="141735"/>
                </a:solidFill>
                <a:latin typeface="Cambria"/>
                <a:ea typeface="Cambria"/>
                <a:cs typeface="Cambria"/>
              </a:defRPr>
            </a:lvl8pPr>
            <a:lvl9pPr>
              <a:defRPr sz="3100" b="1">
                <a:solidFill>
                  <a:srgbClr val="141735"/>
                </a:solidFill>
                <a:latin typeface="Cambria"/>
                <a:ea typeface="Cambria"/>
                <a:cs typeface="Cambria"/>
              </a:defRPr>
            </a:lvl9pPr>
          </a:lstStyle>
          <a:p>
            <a:pPr>
              <a:defRPr sz="3100" b="1">
                <a:solidFill>
                  <a:srgbClr val="141735"/>
                </a:solidFill>
                <a:latin typeface="Cambria"/>
                <a:ea typeface="Cambria"/>
                <a:cs typeface="Cambria"/>
              </a:defRPr>
            </a:pPr>
            <a:r>
              <a:rPr sz="3100" b="1">
                <a:solidFill>
                  <a:srgbClr val="141735"/>
                </a:solidFill>
                <a:latin typeface="Cambria"/>
                <a:ea typeface="Cambria"/>
                <a:cs typeface="Cambria"/>
              </a:rPr>
              <a:t>The problem, and the shape of the fix</a:t>
            </a:r>
          </a:p>
        </p:txBody>
      </p:sp>
      <p:sp>
        <p:nvSpPr>
          <p:cNvPr id="2" name="problem-summary">
            <a:extLst>
              <a:ext uri="{FF2B5EF4-FFF2-40B4-BE49-F238E27FC236}">
                <a16:creationId xmlns:a16="http://schemas.microsoft.com/office/drawing/2014/main" id="{D696951C-8572-4D74-A14D-FE6A9E45633A}"/>
              </a:ext>
            </a:extLst>
          </p:cNvPr>
          <p:cNvSpPr>
            <a:spLocks noGrp="1"/>
          </p:cNvSpPr>
          <p:nvPr/>
        </p:nvSpPr>
        <p:spPr>
          <a:xfrm>
            <a:off x="502920" y="1028700"/>
            <a:ext cx="11155680" cy="342900"/>
          </a:xfrm>
          <a:prstGeom prst="rect">
            <a:avLst/>
          </a:prstGeom>
          <a:noFill/>
          <a:ln w="0">
            <a:noFill/>
            <a:prstDash val="solid"/>
          </a:ln>
        </p:spPr>
        <p:txBody>
          <a:bodyPr wrap="square" lIns="0" tIns="0" rIns="0" bIns="0" anchor="ctr">
            <a:noAutofit/>
          </a:bodyPr>
          <a:lstStyle>
            <a:defPPr>
              <a:defRPr sz="1650" b="0">
                <a:solidFill>
                  <a:srgbClr val="72778F"/>
                </a:solidFill>
                <a:latin typeface="Calibri"/>
                <a:ea typeface="Calibri"/>
                <a:cs typeface="Calibri"/>
              </a:defRPr>
            </a:defPPr>
            <a:lvl1pPr>
              <a:defRPr sz="1650" b="0">
                <a:solidFill>
                  <a:srgbClr val="72778F"/>
                </a:solidFill>
                <a:latin typeface="Calibri"/>
                <a:ea typeface="Calibri"/>
                <a:cs typeface="Calibri"/>
              </a:defRPr>
            </a:lvl1pPr>
            <a:lvl2pPr>
              <a:defRPr sz="1650" b="0">
                <a:solidFill>
                  <a:srgbClr val="72778F"/>
                </a:solidFill>
                <a:latin typeface="Calibri"/>
                <a:ea typeface="Calibri"/>
                <a:cs typeface="Calibri"/>
              </a:defRPr>
            </a:lvl2pPr>
            <a:lvl3pPr>
              <a:defRPr sz="1650" b="0">
                <a:solidFill>
                  <a:srgbClr val="72778F"/>
                </a:solidFill>
                <a:latin typeface="Calibri"/>
                <a:ea typeface="Calibri"/>
                <a:cs typeface="Calibri"/>
              </a:defRPr>
            </a:lvl3pPr>
            <a:lvl4pPr>
              <a:defRPr sz="1650" b="0">
                <a:solidFill>
                  <a:srgbClr val="72778F"/>
                </a:solidFill>
                <a:latin typeface="Calibri"/>
                <a:ea typeface="Calibri"/>
                <a:cs typeface="Calibri"/>
              </a:defRPr>
            </a:lvl4pPr>
            <a:lvl5pPr>
              <a:defRPr sz="1650" b="0">
                <a:solidFill>
                  <a:srgbClr val="72778F"/>
                </a:solidFill>
                <a:latin typeface="Calibri"/>
                <a:ea typeface="Calibri"/>
                <a:cs typeface="Calibri"/>
              </a:defRPr>
            </a:lvl5pPr>
            <a:lvl6pPr>
              <a:defRPr sz="1650" b="0">
                <a:solidFill>
                  <a:srgbClr val="72778F"/>
                </a:solidFill>
                <a:latin typeface="Calibri"/>
                <a:ea typeface="Calibri"/>
                <a:cs typeface="Calibri"/>
              </a:defRPr>
            </a:lvl6pPr>
            <a:lvl7pPr>
              <a:defRPr sz="1650" b="0">
                <a:solidFill>
                  <a:srgbClr val="72778F"/>
                </a:solidFill>
                <a:latin typeface="Calibri"/>
                <a:ea typeface="Calibri"/>
                <a:cs typeface="Calibri"/>
              </a:defRPr>
            </a:lvl7pPr>
            <a:lvl8pPr>
              <a:defRPr sz="1650" b="0">
                <a:solidFill>
                  <a:srgbClr val="72778F"/>
                </a:solidFill>
                <a:latin typeface="Calibri"/>
                <a:ea typeface="Calibri"/>
                <a:cs typeface="Calibri"/>
              </a:defRPr>
            </a:lvl8pPr>
            <a:lvl9pPr>
              <a:defRPr sz="1650" b="0">
                <a:solidFill>
                  <a:srgbClr val="72778F"/>
                </a:solidFill>
                <a:latin typeface="Calibri"/>
                <a:ea typeface="Calibri"/>
                <a:cs typeface="Calibri"/>
              </a:defRPr>
            </a:lvl9pPr>
          </a:lstStyle>
          <a:p>
            <a:pPr>
              <a:defRPr sz="1650" b="0">
                <a:solidFill>
                  <a:srgbClr val="72778F"/>
                </a:solidFill>
                <a:latin typeface="Calibri"/>
                <a:ea typeface="Calibri"/>
                <a:cs typeface="Calibri"/>
              </a:defRPr>
            </a:pPr>
            <a:r>
              <a:rPr sz="1650" b="0">
                <a:solidFill>
                  <a:srgbClr val="72778F"/>
                </a:solidFill>
                <a:latin typeface="Calibri"/>
                <a:ea typeface="Calibri"/>
                <a:cs typeface="Calibri"/>
              </a:rPr>
              <a:t>Manual counts and visual checks make consistent production tracking difficult.</a:t>
            </a:r>
          </a:p>
        </p:txBody>
      </p:sp>
      <p:sp>
        <p:nvSpPr>
          <p:cNvPr id="3" name="card-C1">
            <a:extLst>
              <a:ext uri="{FF2B5EF4-FFF2-40B4-BE49-F238E27FC236}">
                <a16:creationId xmlns:a16="http://schemas.microsoft.com/office/drawing/2014/main" id="{60987F36-0C91-4F95-9DB8-84B49D28D9E7}"/>
              </a:ext>
            </a:extLst>
          </p:cNvPr>
          <p:cNvSpPr>
            <a:spLocks noGrp="1"/>
          </p:cNvSpPr>
          <p:nvPr/>
        </p:nvSpPr>
        <p:spPr>
          <a:xfrm>
            <a:off x="502920" y="1695450"/>
            <a:ext cx="2628900" cy="3638550"/>
          </a:xfrm>
          <a:prstGeom prst="roundRect">
            <a:avLst>
              <a:gd name="adj" fmla="val 4348"/>
            </a:avLst>
          </a:prstGeom>
          <a:solidFill>
            <a:srgbClr val="F2F3FD"/>
          </a:solidFill>
          <a:ln w="9525">
            <a:solidFill>
              <a:srgbClr val="DDE1F2"/>
            </a:solidFill>
            <a:prstDash val="solid"/>
          </a:ln>
        </p:spPr>
        <p:txBody>
          <a:bodyPr/>
          <a:lstStyle/>
          <a:p>
            <a:endParaRPr lang="en-US"/>
          </a:p>
        </p:txBody>
      </p:sp>
      <p:sp>
        <p:nvSpPr>
          <p:cNvPr id="4" name="stage-C1">
            <a:extLst>
              <a:ext uri="{FF2B5EF4-FFF2-40B4-BE49-F238E27FC236}">
                <a16:creationId xmlns:a16="http://schemas.microsoft.com/office/drawing/2014/main" id="{9128556D-3C08-4F25-95B8-1DA779BACD3C}"/>
              </a:ext>
            </a:extLst>
          </p:cNvPr>
          <p:cNvSpPr>
            <a:spLocks noGrp="1"/>
          </p:cNvSpPr>
          <p:nvPr/>
        </p:nvSpPr>
        <p:spPr>
          <a:xfrm>
            <a:off x="693420" y="1876425"/>
            <a:ext cx="2247900" cy="190500"/>
          </a:xfrm>
          <a:prstGeom prst="rect">
            <a:avLst/>
          </a:prstGeom>
          <a:noFill/>
          <a:ln w="0">
            <a:noFill/>
            <a:prstDash val="solid"/>
          </a:ln>
        </p:spPr>
        <p:txBody>
          <a:bodyPr wrap="square" lIns="0" tIns="0" rIns="0" bIns="0" anchor="ctr">
            <a:noAutofit/>
          </a:bodyPr>
          <a:lstStyle>
            <a:defPPr>
              <a:defRPr sz="1050" b="1">
                <a:solidFill>
                  <a:srgbClr val="3B4BC8"/>
                </a:solidFill>
                <a:latin typeface="Calibri"/>
                <a:ea typeface="Calibri"/>
                <a:cs typeface="Calibri"/>
              </a:defRPr>
            </a:defPPr>
            <a:lvl1pPr>
              <a:defRPr sz="1050" b="1">
                <a:solidFill>
                  <a:srgbClr val="3B4BC8"/>
                </a:solidFill>
                <a:latin typeface="Calibri"/>
                <a:ea typeface="Calibri"/>
                <a:cs typeface="Calibri"/>
              </a:defRPr>
            </a:lvl1pPr>
            <a:lvl2pPr>
              <a:defRPr sz="1050" b="1">
                <a:solidFill>
                  <a:srgbClr val="3B4BC8"/>
                </a:solidFill>
                <a:latin typeface="Calibri"/>
                <a:ea typeface="Calibri"/>
                <a:cs typeface="Calibri"/>
              </a:defRPr>
            </a:lvl2pPr>
            <a:lvl3pPr>
              <a:defRPr sz="1050" b="1">
                <a:solidFill>
                  <a:srgbClr val="3B4BC8"/>
                </a:solidFill>
                <a:latin typeface="Calibri"/>
                <a:ea typeface="Calibri"/>
                <a:cs typeface="Calibri"/>
              </a:defRPr>
            </a:lvl3pPr>
            <a:lvl4pPr>
              <a:defRPr sz="1050" b="1">
                <a:solidFill>
                  <a:srgbClr val="3B4BC8"/>
                </a:solidFill>
                <a:latin typeface="Calibri"/>
                <a:ea typeface="Calibri"/>
                <a:cs typeface="Calibri"/>
              </a:defRPr>
            </a:lvl4pPr>
            <a:lvl5pPr>
              <a:defRPr sz="1050" b="1">
                <a:solidFill>
                  <a:srgbClr val="3B4BC8"/>
                </a:solidFill>
                <a:latin typeface="Calibri"/>
                <a:ea typeface="Calibri"/>
                <a:cs typeface="Calibri"/>
              </a:defRPr>
            </a:lvl5pPr>
            <a:lvl6pPr>
              <a:defRPr sz="1050" b="1">
                <a:solidFill>
                  <a:srgbClr val="3B4BC8"/>
                </a:solidFill>
                <a:latin typeface="Calibri"/>
                <a:ea typeface="Calibri"/>
                <a:cs typeface="Calibri"/>
              </a:defRPr>
            </a:lvl6pPr>
            <a:lvl7pPr>
              <a:defRPr sz="1050" b="1">
                <a:solidFill>
                  <a:srgbClr val="3B4BC8"/>
                </a:solidFill>
                <a:latin typeface="Calibri"/>
                <a:ea typeface="Calibri"/>
                <a:cs typeface="Calibri"/>
              </a:defRPr>
            </a:lvl7pPr>
            <a:lvl8pPr>
              <a:defRPr sz="1050" b="1">
                <a:solidFill>
                  <a:srgbClr val="3B4BC8"/>
                </a:solidFill>
                <a:latin typeface="Calibri"/>
                <a:ea typeface="Calibri"/>
                <a:cs typeface="Calibri"/>
              </a:defRPr>
            </a:lvl8pPr>
            <a:lvl9pPr>
              <a:defRPr sz="1050" b="1">
                <a:solidFill>
                  <a:srgbClr val="3B4BC8"/>
                </a:solidFill>
                <a:latin typeface="Calibri"/>
                <a:ea typeface="Calibri"/>
                <a:cs typeface="Calibri"/>
              </a:defRPr>
            </a:lvl9pPr>
          </a:lstStyle>
          <a:p>
            <a:pPr>
              <a:defRPr sz="1050" b="1">
                <a:solidFill>
                  <a:srgbClr val="3B4BC8"/>
                </a:solidFill>
                <a:latin typeface="Calibri"/>
                <a:ea typeface="Calibri"/>
                <a:cs typeface="Calibri"/>
              </a:defRPr>
            </a:pPr>
            <a:r>
              <a:rPr sz="1050" b="1">
                <a:solidFill>
                  <a:srgbClr val="3B4BC8"/>
                </a:solidFill>
                <a:latin typeface="Calibri"/>
                <a:ea typeface="Calibri"/>
                <a:cs typeface="Calibri"/>
              </a:rPr>
              <a:t>SEWING</a:t>
            </a:r>
          </a:p>
        </p:txBody>
      </p:sp>
      <p:sp>
        <p:nvSpPr>
          <p:cNvPr id="5" name="code-C1">
            <a:extLst>
              <a:ext uri="{FF2B5EF4-FFF2-40B4-BE49-F238E27FC236}">
                <a16:creationId xmlns:a16="http://schemas.microsoft.com/office/drawing/2014/main" id="{6AF26CEE-8BA7-4FAB-AE84-B1AA15C8C57C}"/>
              </a:ext>
            </a:extLst>
          </p:cNvPr>
          <p:cNvSpPr>
            <a:spLocks noGrp="1"/>
          </p:cNvSpPr>
          <p:nvPr/>
        </p:nvSpPr>
        <p:spPr>
          <a:xfrm>
            <a:off x="693420" y="2190750"/>
            <a:ext cx="409575" cy="523875"/>
          </a:xfrm>
          <a:prstGeom prst="rect">
            <a:avLst/>
          </a:prstGeom>
          <a:noFill/>
          <a:ln w="0">
            <a:noFill/>
            <a:prstDash val="solid"/>
          </a:ln>
        </p:spPr>
        <p:txBody>
          <a:bodyPr wrap="square" lIns="0" tIns="0" rIns="0" bIns="0" anchor="ctr">
            <a:noAutofit/>
          </a:bodyPr>
          <a:lstStyle>
            <a:defPPr>
              <a:defRPr sz="2175" b="1">
                <a:solidFill>
                  <a:srgbClr val="3B4BC8"/>
                </a:solidFill>
                <a:latin typeface="Calibri"/>
                <a:ea typeface="Calibri"/>
                <a:cs typeface="Calibri"/>
              </a:defRPr>
            </a:defPPr>
            <a:lvl1pPr>
              <a:defRPr sz="2175" b="1">
                <a:solidFill>
                  <a:srgbClr val="3B4BC8"/>
                </a:solidFill>
                <a:latin typeface="Calibri"/>
                <a:ea typeface="Calibri"/>
                <a:cs typeface="Calibri"/>
              </a:defRPr>
            </a:lvl1pPr>
            <a:lvl2pPr>
              <a:defRPr sz="2175" b="1">
                <a:solidFill>
                  <a:srgbClr val="3B4BC8"/>
                </a:solidFill>
                <a:latin typeface="Calibri"/>
                <a:ea typeface="Calibri"/>
                <a:cs typeface="Calibri"/>
              </a:defRPr>
            </a:lvl2pPr>
            <a:lvl3pPr>
              <a:defRPr sz="2175" b="1">
                <a:solidFill>
                  <a:srgbClr val="3B4BC8"/>
                </a:solidFill>
                <a:latin typeface="Calibri"/>
                <a:ea typeface="Calibri"/>
                <a:cs typeface="Calibri"/>
              </a:defRPr>
            </a:lvl3pPr>
            <a:lvl4pPr>
              <a:defRPr sz="2175" b="1">
                <a:solidFill>
                  <a:srgbClr val="3B4BC8"/>
                </a:solidFill>
                <a:latin typeface="Calibri"/>
                <a:ea typeface="Calibri"/>
                <a:cs typeface="Calibri"/>
              </a:defRPr>
            </a:lvl4pPr>
            <a:lvl5pPr>
              <a:defRPr sz="2175" b="1">
                <a:solidFill>
                  <a:srgbClr val="3B4BC8"/>
                </a:solidFill>
                <a:latin typeface="Calibri"/>
                <a:ea typeface="Calibri"/>
                <a:cs typeface="Calibri"/>
              </a:defRPr>
            </a:lvl5pPr>
            <a:lvl6pPr>
              <a:defRPr sz="2175" b="1">
                <a:solidFill>
                  <a:srgbClr val="3B4BC8"/>
                </a:solidFill>
                <a:latin typeface="Calibri"/>
                <a:ea typeface="Calibri"/>
                <a:cs typeface="Calibri"/>
              </a:defRPr>
            </a:lvl6pPr>
            <a:lvl7pPr>
              <a:defRPr sz="2175" b="1">
                <a:solidFill>
                  <a:srgbClr val="3B4BC8"/>
                </a:solidFill>
                <a:latin typeface="Calibri"/>
                <a:ea typeface="Calibri"/>
                <a:cs typeface="Calibri"/>
              </a:defRPr>
            </a:lvl7pPr>
            <a:lvl8pPr>
              <a:defRPr sz="2175" b="1">
                <a:solidFill>
                  <a:srgbClr val="3B4BC8"/>
                </a:solidFill>
                <a:latin typeface="Calibri"/>
                <a:ea typeface="Calibri"/>
                <a:cs typeface="Calibri"/>
              </a:defRPr>
            </a:lvl8pPr>
            <a:lvl9pPr>
              <a:defRPr sz="2175" b="1">
                <a:solidFill>
                  <a:srgbClr val="3B4BC8"/>
                </a:solidFill>
                <a:latin typeface="Calibri"/>
                <a:ea typeface="Calibri"/>
                <a:cs typeface="Calibri"/>
              </a:defRPr>
            </a:lvl9pPr>
          </a:lstStyle>
          <a:p>
            <a:pPr>
              <a:defRPr sz="2175" b="1">
                <a:solidFill>
                  <a:srgbClr val="3B4BC8"/>
                </a:solidFill>
                <a:latin typeface="Calibri"/>
                <a:ea typeface="Calibri"/>
                <a:cs typeface="Calibri"/>
              </a:defRPr>
            </a:pPr>
            <a:r>
              <a:rPr sz="2175" b="1">
                <a:solidFill>
                  <a:srgbClr val="3B4BC8"/>
                </a:solidFill>
                <a:latin typeface="Calibri"/>
                <a:ea typeface="Calibri"/>
                <a:cs typeface="Calibri"/>
              </a:rPr>
              <a:t>C1</a:t>
            </a:r>
          </a:p>
        </p:txBody>
      </p:sp>
      <p:sp>
        <p:nvSpPr>
          <p:cNvPr id="6" name="component-C1">
            <a:extLst>
              <a:ext uri="{FF2B5EF4-FFF2-40B4-BE49-F238E27FC236}">
                <a16:creationId xmlns:a16="http://schemas.microsoft.com/office/drawing/2014/main" id="{A62A2D8F-13CB-4C70-9ECB-AB88F9570C23}"/>
              </a:ext>
            </a:extLst>
          </p:cNvPr>
          <p:cNvSpPr>
            <a:spLocks noGrp="1"/>
          </p:cNvSpPr>
          <p:nvPr/>
        </p:nvSpPr>
        <p:spPr>
          <a:xfrm>
            <a:off x="1188720" y="2181225"/>
            <a:ext cx="1771650" cy="581025"/>
          </a:xfrm>
          <a:prstGeom prst="rect">
            <a:avLst/>
          </a:prstGeom>
          <a:noFill/>
          <a:ln w="0">
            <a:noFill/>
            <a:prstDash val="solid"/>
          </a:ln>
        </p:spPr>
        <p:txBody>
          <a:bodyPr wrap="square" lIns="0" tIns="0" rIns="0" bIns="0" anchor="ctr">
            <a:noAutofit/>
          </a:bodyPr>
          <a:lstStyle>
            <a:defPPr>
              <a:defRPr sz="1725" b="1">
                <a:solidFill>
                  <a:srgbClr val="141735"/>
                </a:solidFill>
                <a:latin typeface="Calibri"/>
                <a:ea typeface="Calibri"/>
                <a:cs typeface="Calibri"/>
              </a:defRPr>
            </a:defPPr>
            <a:lvl1pPr>
              <a:defRPr sz="1725" b="1">
                <a:solidFill>
                  <a:srgbClr val="141735"/>
                </a:solidFill>
                <a:latin typeface="Calibri"/>
                <a:ea typeface="Calibri"/>
                <a:cs typeface="Calibri"/>
              </a:defRPr>
            </a:lvl1pPr>
            <a:lvl2pPr>
              <a:defRPr sz="1725" b="1">
                <a:solidFill>
                  <a:srgbClr val="141735"/>
                </a:solidFill>
                <a:latin typeface="Calibri"/>
                <a:ea typeface="Calibri"/>
                <a:cs typeface="Calibri"/>
              </a:defRPr>
            </a:lvl2pPr>
            <a:lvl3pPr>
              <a:defRPr sz="1725" b="1">
                <a:solidFill>
                  <a:srgbClr val="141735"/>
                </a:solidFill>
                <a:latin typeface="Calibri"/>
                <a:ea typeface="Calibri"/>
                <a:cs typeface="Calibri"/>
              </a:defRPr>
            </a:lvl3pPr>
            <a:lvl4pPr>
              <a:defRPr sz="1725" b="1">
                <a:solidFill>
                  <a:srgbClr val="141735"/>
                </a:solidFill>
                <a:latin typeface="Calibri"/>
                <a:ea typeface="Calibri"/>
                <a:cs typeface="Calibri"/>
              </a:defRPr>
            </a:lvl4pPr>
            <a:lvl5pPr>
              <a:defRPr sz="1725" b="1">
                <a:solidFill>
                  <a:srgbClr val="141735"/>
                </a:solidFill>
                <a:latin typeface="Calibri"/>
                <a:ea typeface="Calibri"/>
                <a:cs typeface="Calibri"/>
              </a:defRPr>
            </a:lvl5pPr>
            <a:lvl6pPr>
              <a:defRPr sz="1725" b="1">
                <a:solidFill>
                  <a:srgbClr val="141735"/>
                </a:solidFill>
                <a:latin typeface="Calibri"/>
                <a:ea typeface="Calibri"/>
                <a:cs typeface="Calibri"/>
              </a:defRPr>
            </a:lvl6pPr>
            <a:lvl7pPr>
              <a:defRPr sz="1725" b="1">
                <a:solidFill>
                  <a:srgbClr val="141735"/>
                </a:solidFill>
                <a:latin typeface="Calibri"/>
                <a:ea typeface="Calibri"/>
                <a:cs typeface="Calibri"/>
              </a:defRPr>
            </a:lvl7pPr>
            <a:lvl8pPr>
              <a:defRPr sz="1725" b="1">
                <a:solidFill>
                  <a:srgbClr val="141735"/>
                </a:solidFill>
                <a:latin typeface="Calibri"/>
                <a:ea typeface="Calibri"/>
                <a:cs typeface="Calibri"/>
              </a:defRPr>
            </a:lvl8pPr>
            <a:lvl9pPr>
              <a:defRPr sz="1725" b="1">
                <a:solidFill>
                  <a:srgbClr val="141735"/>
                </a:solidFill>
                <a:latin typeface="Calibri"/>
                <a:ea typeface="Calibri"/>
                <a:cs typeface="Calibri"/>
              </a:defRPr>
            </a:lvl9pPr>
          </a:lstStyle>
          <a:p>
            <a:pPr>
              <a:defRPr sz="1725" b="1">
                <a:solidFill>
                  <a:srgbClr val="141735"/>
                </a:solidFill>
                <a:latin typeface="Calibri"/>
                <a:ea typeface="Calibri"/>
                <a:cs typeface="Calibri"/>
              </a:defRPr>
            </a:pPr>
            <a:r>
              <a:rPr sz="1725" b="1">
                <a:solidFill>
                  <a:srgbClr val="141735"/>
                </a:solidFill>
                <a:latin typeface="Calibri"/>
                <a:ea typeface="Calibri"/>
                <a:cs typeface="Calibri"/>
              </a:rPr>
              <a:t>Production</a:t>
            </a:r>
          </a:p>
          <a:p>
            <a:pPr>
              <a:defRPr sz="1725" b="1">
                <a:solidFill>
                  <a:srgbClr val="141735"/>
                </a:solidFill>
                <a:latin typeface="Calibri"/>
                <a:ea typeface="Calibri"/>
                <a:cs typeface="Calibri"/>
              </a:defRPr>
            </a:pPr>
            <a:r>
              <a:rPr sz="1725" b="1">
                <a:solidFill>
                  <a:srgbClr val="141735"/>
                </a:solidFill>
                <a:latin typeface="Calibri"/>
                <a:ea typeface="Calibri"/>
                <a:cs typeface="Calibri"/>
              </a:rPr>
              <a:t>Monitoring</a:t>
            </a:r>
          </a:p>
        </p:txBody>
      </p:sp>
      <p:sp>
        <p:nvSpPr>
          <p:cNvPr id="7" name="problem-label-C1">
            <a:extLst>
              <a:ext uri="{FF2B5EF4-FFF2-40B4-BE49-F238E27FC236}">
                <a16:creationId xmlns:a16="http://schemas.microsoft.com/office/drawing/2014/main" id="{7FBEAC2B-8C63-4530-AB65-F16E1B49106F}"/>
              </a:ext>
            </a:extLst>
          </p:cNvPr>
          <p:cNvSpPr>
            <a:spLocks noGrp="1"/>
          </p:cNvSpPr>
          <p:nvPr/>
        </p:nvSpPr>
        <p:spPr>
          <a:xfrm>
            <a:off x="693420" y="2943225"/>
            <a:ext cx="2247900" cy="190500"/>
          </a:xfrm>
          <a:prstGeom prst="rect">
            <a:avLst/>
          </a:prstGeom>
          <a:noFill/>
          <a:ln w="0">
            <a:noFill/>
            <a:prstDash val="solid"/>
          </a:ln>
        </p:spPr>
        <p:txBody>
          <a:bodyPr wrap="square" lIns="0" tIns="0" rIns="0" bIns="0" anchor="ctr">
            <a:noAutofit/>
          </a:bodyPr>
          <a:lstStyle>
            <a:defPPr>
              <a:defRPr sz="1013" b="1">
                <a:solidFill>
                  <a:srgbClr val="72778F"/>
                </a:solidFill>
                <a:latin typeface="Calibri"/>
                <a:ea typeface="Calibri"/>
                <a:cs typeface="Calibri"/>
              </a:defRPr>
            </a:defPPr>
            <a:lvl1pPr>
              <a:defRPr sz="1013" b="1">
                <a:solidFill>
                  <a:srgbClr val="72778F"/>
                </a:solidFill>
                <a:latin typeface="Calibri"/>
                <a:ea typeface="Calibri"/>
                <a:cs typeface="Calibri"/>
              </a:defRPr>
            </a:lvl1pPr>
            <a:lvl2pPr>
              <a:defRPr sz="1013" b="1">
                <a:solidFill>
                  <a:srgbClr val="72778F"/>
                </a:solidFill>
                <a:latin typeface="Calibri"/>
                <a:ea typeface="Calibri"/>
                <a:cs typeface="Calibri"/>
              </a:defRPr>
            </a:lvl2pPr>
            <a:lvl3pPr>
              <a:defRPr sz="1013" b="1">
                <a:solidFill>
                  <a:srgbClr val="72778F"/>
                </a:solidFill>
                <a:latin typeface="Calibri"/>
                <a:ea typeface="Calibri"/>
                <a:cs typeface="Calibri"/>
              </a:defRPr>
            </a:lvl3pPr>
            <a:lvl4pPr>
              <a:defRPr sz="1013" b="1">
                <a:solidFill>
                  <a:srgbClr val="72778F"/>
                </a:solidFill>
                <a:latin typeface="Calibri"/>
                <a:ea typeface="Calibri"/>
                <a:cs typeface="Calibri"/>
              </a:defRPr>
            </a:lvl4pPr>
            <a:lvl5pPr>
              <a:defRPr sz="1013" b="1">
                <a:solidFill>
                  <a:srgbClr val="72778F"/>
                </a:solidFill>
                <a:latin typeface="Calibri"/>
                <a:ea typeface="Calibri"/>
                <a:cs typeface="Calibri"/>
              </a:defRPr>
            </a:lvl5pPr>
            <a:lvl6pPr>
              <a:defRPr sz="1013" b="1">
                <a:solidFill>
                  <a:srgbClr val="72778F"/>
                </a:solidFill>
                <a:latin typeface="Calibri"/>
                <a:ea typeface="Calibri"/>
                <a:cs typeface="Calibri"/>
              </a:defRPr>
            </a:lvl6pPr>
            <a:lvl7pPr>
              <a:defRPr sz="1013" b="1">
                <a:solidFill>
                  <a:srgbClr val="72778F"/>
                </a:solidFill>
                <a:latin typeface="Calibri"/>
                <a:ea typeface="Calibri"/>
                <a:cs typeface="Calibri"/>
              </a:defRPr>
            </a:lvl7pPr>
            <a:lvl8pPr>
              <a:defRPr sz="1013" b="1">
                <a:solidFill>
                  <a:srgbClr val="72778F"/>
                </a:solidFill>
                <a:latin typeface="Calibri"/>
                <a:ea typeface="Calibri"/>
                <a:cs typeface="Calibri"/>
              </a:defRPr>
            </a:lvl8pPr>
            <a:lvl9pPr>
              <a:defRPr sz="1013" b="1">
                <a:solidFill>
                  <a:srgbClr val="72778F"/>
                </a:solidFill>
                <a:latin typeface="Calibri"/>
                <a:ea typeface="Calibri"/>
                <a:cs typeface="Calibri"/>
              </a:defRPr>
            </a:lvl9pPr>
          </a:lstStyle>
          <a:p>
            <a:pPr>
              <a:defRPr sz="1013" b="1">
                <a:solidFill>
                  <a:srgbClr val="72778F"/>
                </a:solidFill>
                <a:latin typeface="Calibri"/>
                <a:ea typeface="Calibri"/>
                <a:cs typeface="Calibri"/>
              </a:defRPr>
            </a:pPr>
            <a:r>
              <a:rPr sz="1013" b="1">
                <a:solidFill>
                  <a:srgbClr val="72778F"/>
                </a:solidFill>
                <a:latin typeface="Calibri"/>
                <a:ea typeface="Calibri"/>
                <a:cs typeface="Calibri"/>
              </a:rPr>
              <a:t>THE PROBLEM</a:t>
            </a:r>
          </a:p>
        </p:txBody>
      </p:sp>
      <p:sp>
        <p:nvSpPr>
          <p:cNvPr id="8" name="problem-C1">
            <a:extLst>
              <a:ext uri="{FF2B5EF4-FFF2-40B4-BE49-F238E27FC236}">
                <a16:creationId xmlns:a16="http://schemas.microsoft.com/office/drawing/2014/main" id="{15DDFFA9-CBC8-41F1-BA2A-64AE4C196D0F}"/>
              </a:ext>
            </a:extLst>
          </p:cNvPr>
          <p:cNvSpPr>
            <a:spLocks noGrp="1"/>
          </p:cNvSpPr>
          <p:nvPr/>
        </p:nvSpPr>
        <p:spPr>
          <a:xfrm>
            <a:off x="693420" y="3209925"/>
            <a:ext cx="2286000" cy="800100"/>
          </a:xfrm>
          <a:prstGeom prst="rect">
            <a:avLst/>
          </a:prstGeom>
          <a:noFill/>
          <a:ln w="0">
            <a:noFill/>
            <a:prstDash val="solid"/>
          </a:ln>
        </p:spPr>
        <p:txBody>
          <a:bodyPr wrap="square" lIns="0" tIns="0" rIns="0" bIns="0" anchor="ctr">
            <a:noAutofit/>
          </a:bodyPr>
          <a:lstStyle>
            <a:defPPr>
              <a:defRPr sz="1500" b="0">
                <a:solidFill>
                  <a:srgbClr val="141735"/>
                </a:solidFill>
                <a:latin typeface="Calibri"/>
                <a:ea typeface="Calibri"/>
                <a:cs typeface="Calibri"/>
              </a:defRPr>
            </a:defPPr>
            <a:lvl1pPr>
              <a:defRPr sz="1500" b="0">
                <a:solidFill>
                  <a:srgbClr val="141735"/>
                </a:solidFill>
                <a:latin typeface="Calibri"/>
                <a:ea typeface="Calibri"/>
                <a:cs typeface="Calibri"/>
              </a:defRPr>
            </a:lvl1pPr>
            <a:lvl2pPr>
              <a:defRPr sz="1500" b="0">
                <a:solidFill>
                  <a:srgbClr val="141735"/>
                </a:solidFill>
                <a:latin typeface="Calibri"/>
                <a:ea typeface="Calibri"/>
                <a:cs typeface="Calibri"/>
              </a:defRPr>
            </a:lvl2pPr>
            <a:lvl3pPr>
              <a:defRPr sz="1500" b="0">
                <a:solidFill>
                  <a:srgbClr val="141735"/>
                </a:solidFill>
                <a:latin typeface="Calibri"/>
                <a:ea typeface="Calibri"/>
                <a:cs typeface="Calibri"/>
              </a:defRPr>
            </a:lvl3pPr>
            <a:lvl4pPr>
              <a:defRPr sz="1500" b="0">
                <a:solidFill>
                  <a:srgbClr val="141735"/>
                </a:solidFill>
                <a:latin typeface="Calibri"/>
                <a:ea typeface="Calibri"/>
                <a:cs typeface="Calibri"/>
              </a:defRPr>
            </a:lvl4pPr>
            <a:lvl5pPr>
              <a:defRPr sz="1500" b="0">
                <a:solidFill>
                  <a:srgbClr val="141735"/>
                </a:solidFill>
                <a:latin typeface="Calibri"/>
                <a:ea typeface="Calibri"/>
                <a:cs typeface="Calibri"/>
              </a:defRPr>
            </a:lvl5pPr>
            <a:lvl6pPr>
              <a:defRPr sz="1500" b="0">
                <a:solidFill>
                  <a:srgbClr val="141735"/>
                </a:solidFill>
                <a:latin typeface="Calibri"/>
                <a:ea typeface="Calibri"/>
                <a:cs typeface="Calibri"/>
              </a:defRPr>
            </a:lvl6pPr>
            <a:lvl7pPr>
              <a:defRPr sz="1500" b="0">
                <a:solidFill>
                  <a:srgbClr val="141735"/>
                </a:solidFill>
                <a:latin typeface="Calibri"/>
                <a:ea typeface="Calibri"/>
                <a:cs typeface="Calibri"/>
              </a:defRPr>
            </a:lvl7pPr>
            <a:lvl8pPr>
              <a:defRPr sz="1500" b="0">
                <a:solidFill>
                  <a:srgbClr val="141735"/>
                </a:solidFill>
                <a:latin typeface="Calibri"/>
                <a:ea typeface="Calibri"/>
                <a:cs typeface="Calibri"/>
              </a:defRPr>
            </a:lvl8pPr>
            <a:lvl9pPr>
              <a:defRPr sz="1500" b="0">
                <a:solidFill>
                  <a:srgbClr val="141735"/>
                </a:solidFill>
                <a:latin typeface="Calibri"/>
                <a:ea typeface="Calibri"/>
                <a:cs typeface="Calibri"/>
              </a:defRPr>
            </a:lvl9pPr>
          </a:lstStyle>
          <a:p>
            <a:pPr>
              <a:defRPr sz="1500" b="0">
                <a:solidFill>
                  <a:srgbClr val="141735"/>
                </a:solidFill>
                <a:latin typeface="Calibri"/>
                <a:ea typeface="Calibri"/>
                <a:cs typeface="Calibri"/>
              </a:defRPr>
            </a:pPr>
            <a:r>
              <a:rPr sz="1500" b="0">
                <a:solidFill>
                  <a:srgbClr val="141735"/>
                </a:solidFill>
                <a:latin typeface="Calibri"/>
                <a:ea typeface="Calibri"/>
                <a:cs typeface="Calibri"/>
              </a:rPr>
              <a:t>Pieces counted by hand.</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Cycle times need</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separate measurement.</a:t>
            </a:r>
          </a:p>
        </p:txBody>
      </p:sp>
      <p:sp>
        <p:nvSpPr>
          <p:cNvPr id="9" name="divider-C1">
            <a:extLst>
              <a:ext uri="{FF2B5EF4-FFF2-40B4-BE49-F238E27FC236}">
                <a16:creationId xmlns:a16="http://schemas.microsoft.com/office/drawing/2014/main" id="{0DB1E6A4-16DB-4236-B636-40022673F8A9}"/>
              </a:ext>
            </a:extLst>
          </p:cNvPr>
          <p:cNvSpPr>
            <a:spLocks noGrp="1"/>
          </p:cNvSpPr>
          <p:nvPr/>
        </p:nvSpPr>
        <p:spPr>
          <a:xfrm>
            <a:off x="693420" y="4114800"/>
            <a:ext cx="2247900" cy="9525"/>
          </a:xfrm>
          <a:prstGeom prst="rect">
            <a:avLst/>
          </a:prstGeom>
          <a:solidFill>
            <a:srgbClr val="DDE1F2"/>
          </a:solidFill>
          <a:ln w="0">
            <a:noFill/>
            <a:prstDash val="solid"/>
          </a:ln>
        </p:spPr>
        <p:txBody>
          <a:bodyPr/>
          <a:lstStyle/>
          <a:p>
            <a:endParaRPr lang="en-US"/>
          </a:p>
        </p:txBody>
      </p:sp>
      <p:sp>
        <p:nvSpPr>
          <p:cNvPr id="10" name="fix-label-C1">
            <a:extLst>
              <a:ext uri="{FF2B5EF4-FFF2-40B4-BE49-F238E27FC236}">
                <a16:creationId xmlns:a16="http://schemas.microsoft.com/office/drawing/2014/main" id="{F0FBE3B5-5154-4412-9912-6BB10BADEA01}"/>
              </a:ext>
            </a:extLst>
          </p:cNvPr>
          <p:cNvSpPr>
            <a:spLocks noGrp="1"/>
          </p:cNvSpPr>
          <p:nvPr/>
        </p:nvSpPr>
        <p:spPr>
          <a:xfrm>
            <a:off x="693420" y="4276725"/>
            <a:ext cx="2247900" cy="190500"/>
          </a:xfrm>
          <a:prstGeom prst="rect">
            <a:avLst/>
          </a:prstGeom>
          <a:noFill/>
          <a:ln w="0">
            <a:noFill/>
            <a:prstDash val="solid"/>
          </a:ln>
        </p:spPr>
        <p:txBody>
          <a:bodyPr wrap="square" lIns="0" tIns="0" rIns="0" bIns="0" anchor="ctr">
            <a:noAutofit/>
          </a:bodyPr>
          <a:lstStyle>
            <a:defPPr>
              <a:defRPr sz="1013" b="1">
                <a:solidFill>
                  <a:srgbClr val="3B4BC8"/>
                </a:solidFill>
                <a:latin typeface="Calibri"/>
                <a:ea typeface="Calibri"/>
                <a:cs typeface="Calibri"/>
              </a:defRPr>
            </a:defPPr>
            <a:lvl1pPr>
              <a:defRPr sz="1013" b="1">
                <a:solidFill>
                  <a:srgbClr val="3B4BC8"/>
                </a:solidFill>
                <a:latin typeface="Calibri"/>
                <a:ea typeface="Calibri"/>
                <a:cs typeface="Calibri"/>
              </a:defRPr>
            </a:lvl1pPr>
            <a:lvl2pPr>
              <a:defRPr sz="1013" b="1">
                <a:solidFill>
                  <a:srgbClr val="3B4BC8"/>
                </a:solidFill>
                <a:latin typeface="Calibri"/>
                <a:ea typeface="Calibri"/>
                <a:cs typeface="Calibri"/>
              </a:defRPr>
            </a:lvl2pPr>
            <a:lvl3pPr>
              <a:defRPr sz="1013" b="1">
                <a:solidFill>
                  <a:srgbClr val="3B4BC8"/>
                </a:solidFill>
                <a:latin typeface="Calibri"/>
                <a:ea typeface="Calibri"/>
                <a:cs typeface="Calibri"/>
              </a:defRPr>
            </a:lvl3pPr>
            <a:lvl4pPr>
              <a:defRPr sz="1013" b="1">
                <a:solidFill>
                  <a:srgbClr val="3B4BC8"/>
                </a:solidFill>
                <a:latin typeface="Calibri"/>
                <a:ea typeface="Calibri"/>
                <a:cs typeface="Calibri"/>
              </a:defRPr>
            </a:lvl4pPr>
            <a:lvl5pPr>
              <a:defRPr sz="1013" b="1">
                <a:solidFill>
                  <a:srgbClr val="3B4BC8"/>
                </a:solidFill>
                <a:latin typeface="Calibri"/>
                <a:ea typeface="Calibri"/>
                <a:cs typeface="Calibri"/>
              </a:defRPr>
            </a:lvl5pPr>
            <a:lvl6pPr>
              <a:defRPr sz="1013" b="1">
                <a:solidFill>
                  <a:srgbClr val="3B4BC8"/>
                </a:solidFill>
                <a:latin typeface="Calibri"/>
                <a:ea typeface="Calibri"/>
                <a:cs typeface="Calibri"/>
              </a:defRPr>
            </a:lvl6pPr>
            <a:lvl7pPr>
              <a:defRPr sz="1013" b="1">
                <a:solidFill>
                  <a:srgbClr val="3B4BC8"/>
                </a:solidFill>
                <a:latin typeface="Calibri"/>
                <a:ea typeface="Calibri"/>
                <a:cs typeface="Calibri"/>
              </a:defRPr>
            </a:lvl7pPr>
            <a:lvl8pPr>
              <a:defRPr sz="1013" b="1">
                <a:solidFill>
                  <a:srgbClr val="3B4BC8"/>
                </a:solidFill>
                <a:latin typeface="Calibri"/>
                <a:ea typeface="Calibri"/>
                <a:cs typeface="Calibri"/>
              </a:defRPr>
            </a:lvl8pPr>
            <a:lvl9pPr>
              <a:defRPr sz="1013" b="1">
                <a:solidFill>
                  <a:srgbClr val="3B4BC8"/>
                </a:solidFill>
                <a:latin typeface="Calibri"/>
                <a:ea typeface="Calibri"/>
                <a:cs typeface="Calibri"/>
              </a:defRPr>
            </a:lvl9pPr>
          </a:lstStyle>
          <a:p>
            <a:pPr>
              <a:defRPr sz="1013" b="1">
                <a:solidFill>
                  <a:srgbClr val="3B4BC8"/>
                </a:solidFill>
                <a:latin typeface="Calibri"/>
                <a:ea typeface="Calibri"/>
                <a:cs typeface="Calibri"/>
              </a:defRPr>
            </a:pPr>
            <a:r>
              <a:rPr sz="1013" b="1">
                <a:solidFill>
                  <a:srgbClr val="3B4BC8"/>
                </a:solidFill>
                <a:latin typeface="Calibri"/>
                <a:ea typeface="Calibri"/>
                <a:cs typeface="Calibri"/>
              </a:rPr>
              <a:t>THE FIX</a:t>
            </a:r>
          </a:p>
        </p:txBody>
      </p:sp>
      <p:sp>
        <p:nvSpPr>
          <p:cNvPr id="11" name="fix-C1">
            <a:extLst>
              <a:ext uri="{FF2B5EF4-FFF2-40B4-BE49-F238E27FC236}">
                <a16:creationId xmlns:a16="http://schemas.microsoft.com/office/drawing/2014/main" id="{31183C62-0AE6-401A-848A-46949C205F21}"/>
              </a:ext>
            </a:extLst>
          </p:cNvPr>
          <p:cNvSpPr>
            <a:spLocks noGrp="1"/>
          </p:cNvSpPr>
          <p:nvPr/>
        </p:nvSpPr>
        <p:spPr>
          <a:xfrm>
            <a:off x="693420" y="4562475"/>
            <a:ext cx="2286000" cy="657225"/>
          </a:xfrm>
          <a:prstGeom prst="rect">
            <a:avLst/>
          </a:prstGeom>
          <a:noFill/>
          <a:ln w="0">
            <a:noFill/>
            <a:prstDash val="solid"/>
          </a:ln>
        </p:spPr>
        <p:txBody>
          <a:bodyPr wrap="square" lIns="0" tIns="0" rIns="0" bIns="0" anchor="ctr">
            <a:noAutofit/>
          </a:bodyPr>
          <a:lstStyle>
            <a:defPPr>
              <a:defRPr sz="1500" b="0">
                <a:solidFill>
                  <a:srgbClr val="141735"/>
                </a:solidFill>
                <a:latin typeface="Calibri"/>
                <a:ea typeface="Calibri"/>
                <a:cs typeface="Calibri"/>
              </a:defRPr>
            </a:defPPr>
            <a:lvl1pPr>
              <a:defRPr sz="1500" b="0">
                <a:solidFill>
                  <a:srgbClr val="141735"/>
                </a:solidFill>
                <a:latin typeface="Calibri"/>
                <a:ea typeface="Calibri"/>
                <a:cs typeface="Calibri"/>
              </a:defRPr>
            </a:lvl1pPr>
            <a:lvl2pPr>
              <a:defRPr sz="1500" b="0">
                <a:solidFill>
                  <a:srgbClr val="141735"/>
                </a:solidFill>
                <a:latin typeface="Calibri"/>
                <a:ea typeface="Calibri"/>
                <a:cs typeface="Calibri"/>
              </a:defRPr>
            </a:lvl2pPr>
            <a:lvl3pPr>
              <a:defRPr sz="1500" b="0">
                <a:solidFill>
                  <a:srgbClr val="141735"/>
                </a:solidFill>
                <a:latin typeface="Calibri"/>
                <a:ea typeface="Calibri"/>
                <a:cs typeface="Calibri"/>
              </a:defRPr>
            </a:lvl3pPr>
            <a:lvl4pPr>
              <a:defRPr sz="1500" b="0">
                <a:solidFill>
                  <a:srgbClr val="141735"/>
                </a:solidFill>
                <a:latin typeface="Calibri"/>
                <a:ea typeface="Calibri"/>
                <a:cs typeface="Calibri"/>
              </a:defRPr>
            </a:lvl4pPr>
            <a:lvl5pPr>
              <a:defRPr sz="1500" b="0">
                <a:solidFill>
                  <a:srgbClr val="141735"/>
                </a:solidFill>
                <a:latin typeface="Calibri"/>
                <a:ea typeface="Calibri"/>
                <a:cs typeface="Calibri"/>
              </a:defRPr>
            </a:lvl5pPr>
            <a:lvl6pPr>
              <a:defRPr sz="1500" b="0">
                <a:solidFill>
                  <a:srgbClr val="141735"/>
                </a:solidFill>
                <a:latin typeface="Calibri"/>
                <a:ea typeface="Calibri"/>
                <a:cs typeface="Calibri"/>
              </a:defRPr>
            </a:lvl6pPr>
            <a:lvl7pPr>
              <a:defRPr sz="1500" b="0">
                <a:solidFill>
                  <a:srgbClr val="141735"/>
                </a:solidFill>
                <a:latin typeface="Calibri"/>
                <a:ea typeface="Calibri"/>
                <a:cs typeface="Calibri"/>
              </a:defRPr>
            </a:lvl7pPr>
            <a:lvl8pPr>
              <a:defRPr sz="1500" b="0">
                <a:solidFill>
                  <a:srgbClr val="141735"/>
                </a:solidFill>
                <a:latin typeface="Calibri"/>
                <a:ea typeface="Calibri"/>
                <a:cs typeface="Calibri"/>
              </a:defRPr>
            </a:lvl8pPr>
            <a:lvl9pPr>
              <a:defRPr sz="1500" b="0">
                <a:solidFill>
                  <a:srgbClr val="141735"/>
                </a:solidFill>
                <a:latin typeface="Calibri"/>
                <a:ea typeface="Calibri"/>
                <a:cs typeface="Calibri"/>
              </a:defRPr>
            </a:lvl9pPr>
          </a:lstStyle>
          <a:p>
            <a:pPr>
              <a:defRPr sz="1500" b="0">
                <a:solidFill>
                  <a:srgbClr val="141735"/>
                </a:solidFill>
                <a:latin typeface="Calibri"/>
                <a:ea typeface="Calibri"/>
                <a:cs typeface="Calibri"/>
              </a:defRPr>
            </a:pPr>
            <a:r>
              <a:rPr sz="1500" b="0">
                <a:solidFill>
                  <a:srgbClr val="141735"/>
                </a:solidFill>
                <a:latin typeface="Calibri"/>
                <a:ea typeface="Calibri"/>
                <a:cs typeface="Calibri"/>
              </a:rPr>
              <a:t>Counts completed pieces</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and measures each</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production cycle.</a:t>
            </a:r>
          </a:p>
        </p:txBody>
      </p:sp>
      <p:sp>
        <p:nvSpPr>
          <p:cNvPr id="12" name="card-C2">
            <a:extLst>
              <a:ext uri="{FF2B5EF4-FFF2-40B4-BE49-F238E27FC236}">
                <a16:creationId xmlns:a16="http://schemas.microsoft.com/office/drawing/2014/main" id="{5F4199AD-C2E1-44BF-8E8E-17D4219C4976}"/>
              </a:ext>
            </a:extLst>
          </p:cNvPr>
          <p:cNvSpPr>
            <a:spLocks noGrp="1"/>
          </p:cNvSpPr>
          <p:nvPr/>
        </p:nvSpPr>
        <p:spPr>
          <a:xfrm>
            <a:off x="3345180" y="1695450"/>
            <a:ext cx="2628900" cy="3638550"/>
          </a:xfrm>
          <a:prstGeom prst="roundRect">
            <a:avLst>
              <a:gd name="adj" fmla="val 4348"/>
            </a:avLst>
          </a:prstGeom>
          <a:solidFill>
            <a:srgbClr val="F0F9F5"/>
          </a:solidFill>
          <a:ln w="9525">
            <a:solidFill>
              <a:srgbClr val="D4ECE1"/>
            </a:solidFill>
            <a:prstDash val="solid"/>
          </a:ln>
        </p:spPr>
        <p:txBody>
          <a:bodyPr/>
          <a:lstStyle/>
          <a:p>
            <a:endParaRPr lang="en-US"/>
          </a:p>
        </p:txBody>
      </p:sp>
      <p:sp>
        <p:nvSpPr>
          <p:cNvPr id="13" name="stage-C2">
            <a:extLst>
              <a:ext uri="{FF2B5EF4-FFF2-40B4-BE49-F238E27FC236}">
                <a16:creationId xmlns:a16="http://schemas.microsoft.com/office/drawing/2014/main" id="{9ED9987E-9873-4A27-89F4-F9CD82F8514F}"/>
              </a:ext>
            </a:extLst>
          </p:cNvPr>
          <p:cNvSpPr>
            <a:spLocks noGrp="1"/>
          </p:cNvSpPr>
          <p:nvPr/>
        </p:nvSpPr>
        <p:spPr>
          <a:xfrm>
            <a:off x="3535680" y="1876425"/>
            <a:ext cx="2247900" cy="190500"/>
          </a:xfrm>
          <a:prstGeom prst="rect">
            <a:avLst/>
          </a:prstGeom>
          <a:noFill/>
          <a:ln w="0">
            <a:noFill/>
            <a:prstDash val="solid"/>
          </a:ln>
        </p:spPr>
        <p:txBody>
          <a:bodyPr wrap="square" lIns="0" tIns="0" rIns="0" bIns="0" anchor="ctr">
            <a:noAutofit/>
          </a:bodyPr>
          <a:lstStyle>
            <a:defPPr>
              <a:defRPr sz="1050" b="1">
                <a:solidFill>
                  <a:srgbClr val="259C65"/>
                </a:solidFill>
                <a:latin typeface="Calibri"/>
                <a:ea typeface="Calibri"/>
                <a:cs typeface="Calibri"/>
              </a:defRPr>
            </a:defPPr>
            <a:lvl1pPr>
              <a:defRPr sz="1050" b="1">
                <a:solidFill>
                  <a:srgbClr val="259C65"/>
                </a:solidFill>
                <a:latin typeface="Calibri"/>
                <a:ea typeface="Calibri"/>
                <a:cs typeface="Calibri"/>
              </a:defRPr>
            </a:lvl1pPr>
            <a:lvl2pPr>
              <a:defRPr sz="1050" b="1">
                <a:solidFill>
                  <a:srgbClr val="259C65"/>
                </a:solidFill>
                <a:latin typeface="Calibri"/>
                <a:ea typeface="Calibri"/>
                <a:cs typeface="Calibri"/>
              </a:defRPr>
            </a:lvl2pPr>
            <a:lvl3pPr>
              <a:defRPr sz="1050" b="1">
                <a:solidFill>
                  <a:srgbClr val="259C65"/>
                </a:solidFill>
                <a:latin typeface="Calibri"/>
                <a:ea typeface="Calibri"/>
                <a:cs typeface="Calibri"/>
              </a:defRPr>
            </a:lvl3pPr>
            <a:lvl4pPr>
              <a:defRPr sz="1050" b="1">
                <a:solidFill>
                  <a:srgbClr val="259C65"/>
                </a:solidFill>
                <a:latin typeface="Calibri"/>
                <a:ea typeface="Calibri"/>
                <a:cs typeface="Calibri"/>
              </a:defRPr>
            </a:lvl4pPr>
            <a:lvl5pPr>
              <a:defRPr sz="1050" b="1">
                <a:solidFill>
                  <a:srgbClr val="259C65"/>
                </a:solidFill>
                <a:latin typeface="Calibri"/>
                <a:ea typeface="Calibri"/>
                <a:cs typeface="Calibri"/>
              </a:defRPr>
            </a:lvl5pPr>
            <a:lvl6pPr>
              <a:defRPr sz="1050" b="1">
                <a:solidFill>
                  <a:srgbClr val="259C65"/>
                </a:solidFill>
                <a:latin typeface="Calibri"/>
                <a:ea typeface="Calibri"/>
                <a:cs typeface="Calibri"/>
              </a:defRPr>
            </a:lvl6pPr>
            <a:lvl7pPr>
              <a:defRPr sz="1050" b="1">
                <a:solidFill>
                  <a:srgbClr val="259C65"/>
                </a:solidFill>
                <a:latin typeface="Calibri"/>
                <a:ea typeface="Calibri"/>
                <a:cs typeface="Calibri"/>
              </a:defRPr>
            </a:lvl7pPr>
            <a:lvl8pPr>
              <a:defRPr sz="1050" b="1">
                <a:solidFill>
                  <a:srgbClr val="259C65"/>
                </a:solidFill>
                <a:latin typeface="Calibri"/>
                <a:ea typeface="Calibri"/>
                <a:cs typeface="Calibri"/>
              </a:defRPr>
            </a:lvl8pPr>
            <a:lvl9pPr>
              <a:defRPr sz="1050" b="1">
                <a:solidFill>
                  <a:srgbClr val="259C65"/>
                </a:solidFill>
                <a:latin typeface="Calibri"/>
                <a:ea typeface="Calibri"/>
                <a:cs typeface="Calibri"/>
              </a:defRPr>
            </a:lvl9pPr>
          </a:lstStyle>
          <a:p>
            <a:pPr>
              <a:defRPr sz="1050" b="1">
                <a:solidFill>
                  <a:srgbClr val="259C65"/>
                </a:solidFill>
                <a:latin typeface="Calibri"/>
                <a:ea typeface="Calibri"/>
                <a:cs typeface="Calibri"/>
              </a:defRPr>
            </a:pPr>
            <a:r>
              <a:rPr sz="1050" b="1">
                <a:solidFill>
                  <a:srgbClr val="259C65"/>
                </a:solidFill>
                <a:latin typeface="Calibri"/>
                <a:ea typeface="Calibri"/>
                <a:cs typeface="Calibri"/>
              </a:rPr>
              <a:t>QUALITY CHECKING</a:t>
            </a:r>
          </a:p>
        </p:txBody>
      </p:sp>
      <p:sp>
        <p:nvSpPr>
          <p:cNvPr id="14" name="code-C2">
            <a:extLst>
              <a:ext uri="{FF2B5EF4-FFF2-40B4-BE49-F238E27FC236}">
                <a16:creationId xmlns:a16="http://schemas.microsoft.com/office/drawing/2014/main" id="{BD8C4A23-CC55-4670-81C8-6F7EEEA3EAAF}"/>
              </a:ext>
            </a:extLst>
          </p:cNvPr>
          <p:cNvSpPr>
            <a:spLocks noGrp="1"/>
          </p:cNvSpPr>
          <p:nvPr/>
        </p:nvSpPr>
        <p:spPr>
          <a:xfrm>
            <a:off x="3535680" y="2190750"/>
            <a:ext cx="409575" cy="523875"/>
          </a:xfrm>
          <a:prstGeom prst="rect">
            <a:avLst/>
          </a:prstGeom>
          <a:noFill/>
          <a:ln w="0">
            <a:noFill/>
            <a:prstDash val="solid"/>
          </a:ln>
        </p:spPr>
        <p:txBody>
          <a:bodyPr wrap="square" lIns="0" tIns="0" rIns="0" bIns="0" anchor="ctr">
            <a:noAutofit/>
          </a:bodyPr>
          <a:lstStyle>
            <a:defPPr>
              <a:defRPr sz="2175" b="1">
                <a:solidFill>
                  <a:srgbClr val="259C65"/>
                </a:solidFill>
                <a:latin typeface="Calibri"/>
                <a:ea typeface="Calibri"/>
                <a:cs typeface="Calibri"/>
              </a:defRPr>
            </a:defPPr>
            <a:lvl1pPr>
              <a:defRPr sz="2175" b="1">
                <a:solidFill>
                  <a:srgbClr val="259C65"/>
                </a:solidFill>
                <a:latin typeface="Calibri"/>
                <a:ea typeface="Calibri"/>
                <a:cs typeface="Calibri"/>
              </a:defRPr>
            </a:lvl1pPr>
            <a:lvl2pPr>
              <a:defRPr sz="2175" b="1">
                <a:solidFill>
                  <a:srgbClr val="259C65"/>
                </a:solidFill>
                <a:latin typeface="Calibri"/>
                <a:ea typeface="Calibri"/>
                <a:cs typeface="Calibri"/>
              </a:defRPr>
            </a:lvl2pPr>
            <a:lvl3pPr>
              <a:defRPr sz="2175" b="1">
                <a:solidFill>
                  <a:srgbClr val="259C65"/>
                </a:solidFill>
                <a:latin typeface="Calibri"/>
                <a:ea typeface="Calibri"/>
                <a:cs typeface="Calibri"/>
              </a:defRPr>
            </a:lvl3pPr>
            <a:lvl4pPr>
              <a:defRPr sz="2175" b="1">
                <a:solidFill>
                  <a:srgbClr val="259C65"/>
                </a:solidFill>
                <a:latin typeface="Calibri"/>
                <a:ea typeface="Calibri"/>
                <a:cs typeface="Calibri"/>
              </a:defRPr>
            </a:lvl4pPr>
            <a:lvl5pPr>
              <a:defRPr sz="2175" b="1">
                <a:solidFill>
                  <a:srgbClr val="259C65"/>
                </a:solidFill>
                <a:latin typeface="Calibri"/>
                <a:ea typeface="Calibri"/>
                <a:cs typeface="Calibri"/>
              </a:defRPr>
            </a:lvl5pPr>
            <a:lvl6pPr>
              <a:defRPr sz="2175" b="1">
                <a:solidFill>
                  <a:srgbClr val="259C65"/>
                </a:solidFill>
                <a:latin typeface="Calibri"/>
                <a:ea typeface="Calibri"/>
                <a:cs typeface="Calibri"/>
              </a:defRPr>
            </a:lvl6pPr>
            <a:lvl7pPr>
              <a:defRPr sz="2175" b="1">
                <a:solidFill>
                  <a:srgbClr val="259C65"/>
                </a:solidFill>
                <a:latin typeface="Calibri"/>
                <a:ea typeface="Calibri"/>
                <a:cs typeface="Calibri"/>
              </a:defRPr>
            </a:lvl7pPr>
            <a:lvl8pPr>
              <a:defRPr sz="2175" b="1">
                <a:solidFill>
                  <a:srgbClr val="259C65"/>
                </a:solidFill>
                <a:latin typeface="Calibri"/>
                <a:ea typeface="Calibri"/>
                <a:cs typeface="Calibri"/>
              </a:defRPr>
            </a:lvl8pPr>
            <a:lvl9pPr>
              <a:defRPr sz="2175" b="1">
                <a:solidFill>
                  <a:srgbClr val="259C65"/>
                </a:solidFill>
                <a:latin typeface="Calibri"/>
                <a:ea typeface="Calibri"/>
                <a:cs typeface="Calibri"/>
              </a:defRPr>
            </a:lvl9pPr>
          </a:lstStyle>
          <a:p>
            <a:pPr>
              <a:defRPr sz="2175" b="1">
                <a:solidFill>
                  <a:srgbClr val="259C65"/>
                </a:solidFill>
                <a:latin typeface="Calibri"/>
                <a:ea typeface="Calibri"/>
                <a:cs typeface="Calibri"/>
              </a:defRPr>
            </a:pPr>
            <a:r>
              <a:rPr sz="2175" b="1">
                <a:solidFill>
                  <a:srgbClr val="259C65"/>
                </a:solidFill>
                <a:latin typeface="Calibri"/>
                <a:ea typeface="Calibri"/>
                <a:cs typeface="Calibri"/>
              </a:rPr>
              <a:t>C2</a:t>
            </a:r>
          </a:p>
        </p:txBody>
      </p:sp>
      <p:sp>
        <p:nvSpPr>
          <p:cNvPr id="15" name="component-C2">
            <a:extLst>
              <a:ext uri="{FF2B5EF4-FFF2-40B4-BE49-F238E27FC236}">
                <a16:creationId xmlns:a16="http://schemas.microsoft.com/office/drawing/2014/main" id="{84EE7533-2CF6-4C82-AB38-700E444853FB}"/>
              </a:ext>
            </a:extLst>
          </p:cNvPr>
          <p:cNvSpPr>
            <a:spLocks noGrp="1"/>
          </p:cNvSpPr>
          <p:nvPr/>
        </p:nvSpPr>
        <p:spPr>
          <a:xfrm>
            <a:off x="4030980" y="2181225"/>
            <a:ext cx="1771650" cy="581025"/>
          </a:xfrm>
          <a:prstGeom prst="rect">
            <a:avLst/>
          </a:prstGeom>
          <a:noFill/>
          <a:ln w="0">
            <a:noFill/>
            <a:prstDash val="solid"/>
          </a:ln>
        </p:spPr>
        <p:txBody>
          <a:bodyPr wrap="square" lIns="0" tIns="0" rIns="0" bIns="0" anchor="ctr">
            <a:noAutofit/>
          </a:bodyPr>
          <a:lstStyle>
            <a:defPPr>
              <a:defRPr sz="1725" b="1">
                <a:solidFill>
                  <a:srgbClr val="141735"/>
                </a:solidFill>
                <a:latin typeface="Calibri"/>
                <a:ea typeface="Calibri"/>
                <a:cs typeface="Calibri"/>
              </a:defRPr>
            </a:defPPr>
            <a:lvl1pPr>
              <a:defRPr sz="1725" b="1">
                <a:solidFill>
                  <a:srgbClr val="141735"/>
                </a:solidFill>
                <a:latin typeface="Calibri"/>
                <a:ea typeface="Calibri"/>
                <a:cs typeface="Calibri"/>
              </a:defRPr>
            </a:lvl1pPr>
            <a:lvl2pPr>
              <a:defRPr sz="1725" b="1">
                <a:solidFill>
                  <a:srgbClr val="141735"/>
                </a:solidFill>
                <a:latin typeface="Calibri"/>
                <a:ea typeface="Calibri"/>
                <a:cs typeface="Calibri"/>
              </a:defRPr>
            </a:lvl2pPr>
            <a:lvl3pPr>
              <a:defRPr sz="1725" b="1">
                <a:solidFill>
                  <a:srgbClr val="141735"/>
                </a:solidFill>
                <a:latin typeface="Calibri"/>
                <a:ea typeface="Calibri"/>
                <a:cs typeface="Calibri"/>
              </a:defRPr>
            </a:lvl3pPr>
            <a:lvl4pPr>
              <a:defRPr sz="1725" b="1">
                <a:solidFill>
                  <a:srgbClr val="141735"/>
                </a:solidFill>
                <a:latin typeface="Calibri"/>
                <a:ea typeface="Calibri"/>
                <a:cs typeface="Calibri"/>
              </a:defRPr>
            </a:lvl4pPr>
            <a:lvl5pPr>
              <a:defRPr sz="1725" b="1">
                <a:solidFill>
                  <a:srgbClr val="141735"/>
                </a:solidFill>
                <a:latin typeface="Calibri"/>
                <a:ea typeface="Calibri"/>
                <a:cs typeface="Calibri"/>
              </a:defRPr>
            </a:lvl5pPr>
            <a:lvl6pPr>
              <a:defRPr sz="1725" b="1">
                <a:solidFill>
                  <a:srgbClr val="141735"/>
                </a:solidFill>
                <a:latin typeface="Calibri"/>
                <a:ea typeface="Calibri"/>
                <a:cs typeface="Calibri"/>
              </a:defRPr>
            </a:lvl6pPr>
            <a:lvl7pPr>
              <a:defRPr sz="1725" b="1">
                <a:solidFill>
                  <a:srgbClr val="141735"/>
                </a:solidFill>
                <a:latin typeface="Calibri"/>
                <a:ea typeface="Calibri"/>
                <a:cs typeface="Calibri"/>
              </a:defRPr>
            </a:lvl7pPr>
            <a:lvl8pPr>
              <a:defRPr sz="1725" b="1">
                <a:solidFill>
                  <a:srgbClr val="141735"/>
                </a:solidFill>
                <a:latin typeface="Calibri"/>
                <a:ea typeface="Calibri"/>
                <a:cs typeface="Calibri"/>
              </a:defRPr>
            </a:lvl8pPr>
            <a:lvl9pPr>
              <a:defRPr sz="1725" b="1">
                <a:solidFill>
                  <a:srgbClr val="141735"/>
                </a:solidFill>
                <a:latin typeface="Calibri"/>
                <a:ea typeface="Calibri"/>
                <a:cs typeface="Calibri"/>
              </a:defRPr>
            </a:lvl9pPr>
          </a:lstStyle>
          <a:p>
            <a:pPr>
              <a:defRPr sz="1725" b="1">
                <a:solidFill>
                  <a:srgbClr val="141735"/>
                </a:solidFill>
                <a:latin typeface="Calibri"/>
                <a:ea typeface="Calibri"/>
                <a:cs typeface="Calibri"/>
              </a:defRPr>
            </a:pPr>
            <a:r>
              <a:rPr sz="1725" b="1">
                <a:solidFill>
                  <a:srgbClr val="141735"/>
                </a:solidFill>
                <a:latin typeface="Calibri"/>
                <a:ea typeface="Calibri"/>
                <a:cs typeface="Calibri"/>
              </a:rPr>
              <a:t>Rework</a:t>
            </a:r>
          </a:p>
          <a:p>
            <a:pPr>
              <a:defRPr sz="1725" b="1">
                <a:solidFill>
                  <a:srgbClr val="141735"/>
                </a:solidFill>
                <a:latin typeface="Calibri"/>
                <a:ea typeface="Calibri"/>
                <a:cs typeface="Calibri"/>
              </a:defRPr>
            </a:pPr>
            <a:r>
              <a:rPr sz="1725" b="1">
                <a:solidFill>
                  <a:srgbClr val="141735"/>
                </a:solidFill>
                <a:latin typeface="Calibri"/>
                <a:ea typeface="Calibri"/>
                <a:cs typeface="Calibri"/>
              </a:rPr>
              <a:t>Counter</a:t>
            </a:r>
          </a:p>
        </p:txBody>
      </p:sp>
      <p:sp>
        <p:nvSpPr>
          <p:cNvPr id="16" name="problem-label-C2">
            <a:extLst>
              <a:ext uri="{FF2B5EF4-FFF2-40B4-BE49-F238E27FC236}">
                <a16:creationId xmlns:a16="http://schemas.microsoft.com/office/drawing/2014/main" id="{5BBFF999-BB25-4874-9152-CF1232FECBF5}"/>
              </a:ext>
            </a:extLst>
          </p:cNvPr>
          <p:cNvSpPr>
            <a:spLocks noGrp="1"/>
          </p:cNvSpPr>
          <p:nvPr/>
        </p:nvSpPr>
        <p:spPr>
          <a:xfrm>
            <a:off x="3535680" y="2943225"/>
            <a:ext cx="2247900" cy="190500"/>
          </a:xfrm>
          <a:prstGeom prst="rect">
            <a:avLst/>
          </a:prstGeom>
          <a:noFill/>
          <a:ln w="0">
            <a:noFill/>
            <a:prstDash val="solid"/>
          </a:ln>
        </p:spPr>
        <p:txBody>
          <a:bodyPr wrap="square" lIns="0" tIns="0" rIns="0" bIns="0" anchor="ctr">
            <a:noAutofit/>
          </a:bodyPr>
          <a:lstStyle>
            <a:defPPr>
              <a:defRPr sz="1013" b="1">
                <a:solidFill>
                  <a:srgbClr val="72778F"/>
                </a:solidFill>
                <a:latin typeface="Calibri"/>
                <a:ea typeface="Calibri"/>
                <a:cs typeface="Calibri"/>
              </a:defRPr>
            </a:defPPr>
            <a:lvl1pPr>
              <a:defRPr sz="1013" b="1">
                <a:solidFill>
                  <a:srgbClr val="72778F"/>
                </a:solidFill>
                <a:latin typeface="Calibri"/>
                <a:ea typeface="Calibri"/>
                <a:cs typeface="Calibri"/>
              </a:defRPr>
            </a:lvl1pPr>
            <a:lvl2pPr>
              <a:defRPr sz="1013" b="1">
                <a:solidFill>
                  <a:srgbClr val="72778F"/>
                </a:solidFill>
                <a:latin typeface="Calibri"/>
                <a:ea typeface="Calibri"/>
                <a:cs typeface="Calibri"/>
              </a:defRPr>
            </a:lvl2pPr>
            <a:lvl3pPr>
              <a:defRPr sz="1013" b="1">
                <a:solidFill>
                  <a:srgbClr val="72778F"/>
                </a:solidFill>
                <a:latin typeface="Calibri"/>
                <a:ea typeface="Calibri"/>
                <a:cs typeface="Calibri"/>
              </a:defRPr>
            </a:lvl3pPr>
            <a:lvl4pPr>
              <a:defRPr sz="1013" b="1">
                <a:solidFill>
                  <a:srgbClr val="72778F"/>
                </a:solidFill>
                <a:latin typeface="Calibri"/>
                <a:ea typeface="Calibri"/>
                <a:cs typeface="Calibri"/>
              </a:defRPr>
            </a:lvl4pPr>
            <a:lvl5pPr>
              <a:defRPr sz="1013" b="1">
                <a:solidFill>
                  <a:srgbClr val="72778F"/>
                </a:solidFill>
                <a:latin typeface="Calibri"/>
                <a:ea typeface="Calibri"/>
                <a:cs typeface="Calibri"/>
              </a:defRPr>
            </a:lvl5pPr>
            <a:lvl6pPr>
              <a:defRPr sz="1013" b="1">
                <a:solidFill>
                  <a:srgbClr val="72778F"/>
                </a:solidFill>
                <a:latin typeface="Calibri"/>
                <a:ea typeface="Calibri"/>
                <a:cs typeface="Calibri"/>
              </a:defRPr>
            </a:lvl6pPr>
            <a:lvl7pPr>
              <a:defRPr sz="1013" b="1">
                <a:solidFill>
                  <a:srgbClr val="72778F"/>
                </a:solidFill>
                <a:latin typeface="Calibri"/>
                <a:ea typeface="Calibri"/>
                <a:cs typeface="Calibri"/>
              </a:defRPr>
            </a:lvl7pPr>
            <a:lvl8pPr>
              <a:defRPr sz="1013" b="1">
                <a:solidFill>
                  <a:srgbClr val="72778F"/>
                </a:solidFill>
                <a:latin typeface="Calibri"/>
                <a:ea typeface="Calibri"/>
                <a:cs typeface="Calibri"/>
              </a:defRPr>
            </a:lvl8pPr>
            <a:lvl9pPr>
              <a:defRPr sz="1013" b="1">
                <a:solidFill>
                  <a:srgbClr val="72778F"/>
                </a:solidFill>
                <a:latin typeface="Calibri"/>
                <a:ea typeface="Calibri"/>
                <a:cs typeface="Calibri"/>
              </a:defRPr>
            </a:lvl9pPr>
          </a:lstStyle>
          <a:p>
            <a:pPr>
              <a:defRPr sz="1013" b="1">
                <a:solidFill>
                  <a:srgbClr val="72778F"/>
                </a:solidFill>
                <a:latin typeface="Calibri"/>
                <a:ea typeface="Calibri"/>
                <a:cs typeface="Calibri"/>
              </a:defRPr>
            </a:pPr>
            <a:r>
              <a:rPr sz="1013" b="1">
                <a:solidFill>
                  <a:srgbClr val="72778F"/>
                </a:solidFill>
                <a:latin typeface="Calibri"/>
                <a:ea typeface="Calibri"/>
                <a:cs typeface="Calibri"/>
              </a:rPr>
              <a:t>THE PROBLEM</a:t>
            </a:r>
          </a:p>
        </p:txBody>
      </p:sp>
      <p:sp>
        <p:nvSpPr>
          <p:cNvPr id="17" name="problem-C2">
            <a:extLst>
              <a:ext uri="{FF2B5EF4-FFF2-40B4-BE49-F238E27FC236}">
                <a16:creationId xmlns:a16="http://schemas.microsoft.com/office/drawing/2014/main" id="{974B0161-BE37-46DE-A6BE-DCFDD22F6321}"/>
              </a:ext>
            </a:extLst>
          </p:cNvPr>
          <p:cNvSpPr>
            <a:spLocks noGrp="1"/>
          </p:cNvSpPr>
          <p:nvPr/>
        </p:nvSpPr>
        <p:spPr>
          <a:xfrm>
            <a:off x="3535680" y="3209925"/>
            <a:ext cx="2286000" cy="800100"/>
          </a:xfrm>
          <a:prstGeom prst="rect">
            <a:avLst/>
          </a:prstGeom>
          <a:noFill/>
          <a:ln w="0">
            <a:noFill/>
            <a:prstDash val="solid"/>
          </a:ln>
        </p:spPr>
        <p:txBody>
          <a:bodyPr wrap="square" lIns="0" tIns="0" rIns="0" bIns="0" anchor="ctr">
            <a:noAutofit/>
          </a:bodyPr>
          <a:lstStyle>
            <a:defPPr>
              <a:defRPr sz="1500" b="0">
                <a:solidFill>
                  <a:srgbClr val="141735"/>
                </a:solidFill>
                <a:latin typeface="Calibri"/>
                <a:ea typeface="Calibri"/>
                <a:cs typeface="Calibri"/>
              </a:defRPr>
            </a:defPPr>
            <a:lvl1pPr>
              <a:defRPr sz="1500" b="0">
                <a:solidFill>
                  <a:srgbClr val="141735"/>
                </a:solidFill>
                <a:latin typeface="Calibri"/>
                <a:ea typeface="Calibri"/>
                <a:cs typeface="Calibri"/>
              </a:defRPr>
            </a:lvl1pPr>
            <a:lvl2pPr>
              <a:defRPr sz="1500" b="0">
                <a:solidFill>
                  <a:srgbClr val="141735"/>
                </a:solidFill>
                <a:latin typeface="Calibri"/>
                <a:ea typeface="Calibri"/>
                <a:cs typeface="Calibri"/>
              </a:defRPr>
            </a:lvl2pPr>
            <a:lvl3pPr>
              <a:defRPr sz="1500" b="0">
                <a:solidFill>
                  <a:srgbClr val="141735"/>
                </a:solidFill>
                <a:latin typeface="Calibri"/>
                <a:ea typeface="Calibri"/>
                <a:cs typeface="Calibri"/>
              </a:defRPr>
            </a:lvl3pPr>
            <a:lvl4pPr>
              <a:defRPr sz="1500" b="0">
                <a:solidFill>
                  <a:srgbClr val="141735"/>
                </a:solidFill>
                <a:latin typeface="Calibri"/>
                <a:ea typeface="Calibri"/>
                <a:cs typeface="Calibri"/>
              </a:defRPr>
            </a:lvl4pPr>
            <a:lvl5pPr>
              <a:defRPr sz="1500" b="0">
                <a:solidFill>
                  <a:srgbClr val="141735"/>
                </a:solidFill>
                <a:latin typeface="Calibri"/>
                <a:ea typeface="Calibri"/>
                <a:cs typeface="Calibri"/>
              </a:defRPr>
            </a:lvl5pPr>
            <a:lvl6pPr>
              <a:defRPr sz="1500" b="0">
                <a:solidFill>
                  <a:srgbClr val="141735"/>
                </a:solidFill>
                <a:latin typeface="Calibri"/>
                <a:ea typeface="Calibri"/>
                <a:cs typeface="Calibri"/>
              </a:defRPr>
            </a:lvl6pPr>
            <a:lvl7pPr>
              <a:defRPr sz="1500" b="0">
                <a:solidFill>
                  <a:srgbClr val="141735"/>
                </a:solidFill>
                <a:latin typeface="Calibri"/>
                <a:ea typeface="Calibri"/>
                <a:cs typeface="Calibri"/>
              </a:defRPr>
            </a:lvl7pPr>
            <a:lvl8pPr>
              <a:defRPr sz="1500" b="0">
                <a:solidFill>
                  <a:srgbClr val="141735"/>
                </a:solidFill>
                <a:latin typeface="Calibri"/>
                <a:ea typeface="Calibri"/>
                <a:cs typeface="Calibri"/>
              </a:defRPr>
            </a:lvl8pPr>
            <a:lvl9pPr>
              <a:defRPr sz="1500" b="0">
                <a:solidFill>
                  <a:srgbClr val="141735"/>
                </a:solidFill>
                <a:latin typeface="Calibri"/>
                <a:ea typeface="Calibri"/>
                <a:cs typeface="Calibri"/>
              </a:defRPr>
            </a:lvl9pPr>
          </a:lstStyle>
          <a:p>
            <a:pPr>
              <a:defRPr sz="1500" b="0">
                <a:solidFill>
                  <a:srgbClr val="141735"/>
                </a:solidFill>
                <a:latin typeface="Calibri"/>
                <a:ea typeface="Calibri"/>
                <a:cs typeface="Calibri"/>
              </a:defRPr>
            </a:pPr>
            <a:r>
              <a:rPr sz="1500" b="0">
                <a:solidFill>
                  <a:srgbClr val="141735"/>
                </a:solidFill>
                <a:latin typeface="Calibri"/>
                <a:ea typeface="Calibri"/>
                <a:cs typeface="Calibri"/>
              </a:rPr>
              <a:t>Good and rework pieces</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need separate</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manual tallies.</a:t>
            </a:r>
          </a:p>
        </p:txBody>
      </p:sp>
      <p:sp>
        <p:nvSpPr>
          <p:cNvPr id="18" name="divider-C2">
            <a:extLst>
              <a:ext uri="{FF2B5EF4-FFF2-40B4-BE49-F238E27FC236}">
                <a16:creationId xmlns:a16="http://schemas.microsoft.com/office/drawing/2014/main" id="{9C783546-A96B-4DAD-BA9E-BE77EF03EF7C}"/>
              </a:ext>
            </a:extLst>
          </p:cNvPr>
          <p:cNvSpPr>
            <a:spLocks noGrp="1"/>
          </p:cNvSpPr>
          <p:nvPr/>
        </p:nvSpPr>
        <p:spPr>
          <a:xfrm>
            <a:off x="3535680" y="4114800"/>
            <a:ext cx="2247900" cy="9525"/>
          </a:xfrm>
          <a:prstGeom prst="rect">
            <a:avLst/>
          </a:prstGeom>
          <a:solidFill>
            <a:srgbClr val="D4ECE1"/>
          </a:solidFill>
          <a:ln w="0">
            <a:noFill/>
            <a:prstDash val="solid"/>
          </a:ln>
        </p:spPr>
        <p:txBody>
          <a:bodyPr/>
          <a:lstStyle/>
          <a:p>
            <a:endParaRPr lang="en-US"/>
          </a:p>
        </p:txBody>
      </p:sp>
      <p:sp>
        <p:nvSpPr>
          <p:cNvPr id="19" name="fix-label-C2">
            <a:extLst>
              <a:ext uri="{FF2B5EF4-FFF2-40B4-BE49-F238E27FC236}">
                <a16:creationId xmlns:a16="http://schemas.microsoft.com/office/drawing/2014/main" id="{D4F0816B-0600-4321-9043-EA33A78C0660}"/>
              </a:ext>
            </a:extLst>
          </p:cNvPr>
          <p:cNvSpPr>
            <a:spLocks noGrp="1"/>
          </p:cNvSpPr>
          <p:nvPr/>
        </p:nvSpPr>
        <p:spPr>
          <a:xfrm>
            <a:off x="3535680" y="4276725"/>
            <a:ext cx="2247900" cy="190500"/>
          </a:xfrm>
          <a:prstGeom prst="rect">
            <a:avLst/>
          </a:prstGeom>
          <a:noFill/>
          <a:ln w="0">
            <a:noFill/>
            <a:prstDash val="solid"/>
          </a:ln>
        </p:spPr>
        <p:txBody>
          <a:bodyPr wrap="square" lIns="0" tIns="0" rIns="0" bIns="0" anchor="ctr">
            <a:noAutofit/>
          </a:bodyPr>
          <a:lstStyle>
            <a:defPPr>
              <a:defRPr sz="1013" b="1">
                <a:solidFill>
                  <a:srgbClr val="259C65"/>
                </a:solidFill>
                <a:latin typeface="Calibri"/>
                <a:ea typeface="Calibri"/>
                <a:cs typeface="Calibri"/>
              </a:defRPr>
            </a:defPPr>
            <a:lvl1pPr>
              <a:defRPr sz="1013" b="1">
                <a:solidFill>
                  <a:srgbClr val="259C65"/>
                </a:solidFill>
                <a:latin typeface="Calibri"/>
                <a:ea typeface="Calibri"/>
                <a:cs typeface="Calibri"/>
              </a:defRPr>
            </a:lvl1pPr>
            <a:lvl2pPr>
              <a:defRPr sz="1013" b="1">
                <a:solidFill>
                  <a:srgbClr val="259C65"/>
                </a:solidFill>
                <a:latin typeface="Calibri"/>
                <a:ea typeface="Calibri"/>
                <a:cs typeface="Calibri"/>
              </a:defRPr>
            </a:lvl2pPr>
            <a:lvl3pPr>
              <a:defRPr sz="1013" b="1">
                <a:solidFill>
                  <a:srgbClr val="259C65"/>
                </a:solidFill>
                <a:latin typeface="Calibri"/>
                <a:ea typeface="Calibri"/>
                <a:cs typeface="Calibri"/>
              </a:defRPr>
            </a:lvl3pPr>
            <a:lvl4pPr>
              <a:defRPr sz="1013" b="1">
                <a:solidFill>
                  <a:srgbClr val="259C65"/>
                </a:solidFill>
                <a:latin typeface="Calibri"/>
                <a:ea typeface="Calibri"/>
                <a:cs typeface="Calibri"/>
              </a:defRPr>
            </a:lvl4pPr>
            <a:lvl5pPr>
              <a:defRPr sz="1013" b="1">
                <a:solidFill>
                  <a:srgbClr val="259C65"/>
                </a:solidFill>
                <a:latin typeface="Calibri"/>
                <a:ea typeface="Calibri"/>
                <a:cs typeface="Calibri"/>
              </a:defRPr>
            </a:lvl5pPr>
            <a:lvl6pPr>
              <a:defRPr sz="1013" b="1">
                <a:solidFill>
                  <a:srgbClr val="259C65"/>
                </a:solidFill>
                <a:latin typeface="Calibri"/>
                <a:ea typeface="Calibri"/>
                <a:cs typeface="Calibri"/>
              </a:defRPr>
            </a:lvl6pPr>
            <a:lvl7pPr>
              <a:defRPr sz="1013" b="1">
                <a:solidFill>
                  <a:srgbClr val="259C65"/>
                </a:solidFill>
                <a:latin typeface="Calibri"/>
                <a:ea typeface="Calibri"/>
                <a:cs typeface="Calibri"/>
              </a:defRPr>
            </a:lvl7pPr>
            <a:lvl8pPr>
              <a:defRPr sz="1013" b="1">
                <a:solidFill>
                  <a:srgbClr val="259C65"/>
                </a:solidFill>
                <a:latin typeface="Calibri"/>
                <a:ea typeface="Calibri"/>
                <a:cs typeface="Calibri"/>
              </a:defRPr>
            </a:lvl8pPr>
            <a:lvl9pPr>
              <a:defRPr sz="1013" b="1">
                <a:solidFill>
                  <a:srgbClr val="259C65"/>
                </a:solidFill>
                <a:latin typeface="Calibri"/>
                <a:ea typeface="Calibri"/>
                <a:cs typeface="Calibri"/>
              </a:defRPr>
            </a:lvl9pPr>
          </a:lstStyle>
          <a:p>
            <a:pPr>
              <a:defRPr sz="1013" b="1">
                <a:solidFill>
                  <a:srgbClr val="259C65"/>
                </a:solidFill>
                <a:latin typeface="Calibri"/>
                <a:ea typeface="Calibri"/>
                <a:cs typeface="Calibri"/>
              </a:defRPr>
            </a:pPr>
            <a:r>
              <a:rPr sz="1013" b="1">
                <a:solidFill>
                  <a:srgbClr val="259C65"/>
                </a:solidFill>
                <a:latin typeface="Calibri"/>
                <a:ea typeface="Calibri"/>
                <a:cs typeface="Calibri"/>
              </a:rPr>
              <a:t>THE FIX</a:t>
            </a:r>
          </a:p>
        </p:txBody>
      </p:sp>
      <p:sp>
        <p:nvSpPr>
          <p:cNvPr id="20" name="fix-C2">
            <a:extLst>
              <a:ext uri="{FF2B5EF4-FFF2-40B4-BE49-F238E27FC236}">
                <a16:creationId xmlns:a16="http://schemas.microsoft.com/office/drawing/2014/main" id="{1BBCDA4E-F7DE-4A20-A20F-44037D7C6F01}"/>
              </a:ext>
            </a:extLst>
          </p:cNvPr>
          <p:cNvSpPr>
            <a:spLocks noGrp="1"/>
          </p:cNvSpPr>
          <p:nvPr/>
        </p:nvSpPr>
        <p:spPr>
          <a:xfrm>
            <a:off x="3535680" y="4562475"/>
            <a:ext cx="2286000" cy="657225"/>
          </a:xfrm>
          <a:prstGeom prst="rect">
            <a:avLst/>
          </a:prstGeom>
          <a:noFill/>
          <a:ln w="0">
            <a:noFill/>
            <a:prstDash val="solid"/>
          </a:ln>
        </p:spPr>
        <p:txBody>
          <a:bodyPr wrap="square" lIns="0" tIns="0" rIns="0" bIns="0" anchor="ctr">
            <a:noAutofit/>
          </a:bodyPr>
          <a:lstStyle>
            <a:defPPr>
              <a:defRPr sz="1500" b="0">
                <a:solidFill>
                  <a:srgbClr val="141735"/>
                </a:solidFill>
                <a:latin typeface="Calibri"/>
                <a:ea typeface="Calibri"/>
                <a:cs typeface="Calibri"/>
              </a:defRPr>
            </a:defPPr>
            <a:lvl1pPr>
              <a:defRPr sz="1500" b="0">
                <a:solidFill>
                  <a:srgbClr val="141735"/>
                </a:solidFill>
                <a:latin typeface="Calibri"/>
                <a:ea typeface="Calibri"/>
                <a:cs typeface="Calibri"/>
              </a:defRPr>
            </a:lvl1pPr>
            <a:lvl2pPr>
              <a:defRPr sz="1500" b="0">
                <a:solidFill>
                  <a:srgbClr val="141735"/>
                </a:solidFill>
                <a:latin typeface="Calibri"/>
                <a:ea typeface="Calibri"/>
                <a:cs typeface="Calibri"/>
              </a:defRPr>
            </a:lvl2pPr>
            <a:lvl3pPr>
              <a:defRPr sz="1500" b="0">
                <a:solidFill>
                  <a:srgbClr val="141735"/>
                </a:solidFill>
                <a:latin typeface="Calibri"/>
                <a:ea typeface="Calibri"/>
                <a:cs typeface="Calibri"/>
              </a:defRPr>
            </a:lvl3pPr>
            <a:lvl4pPr>
              <a:defRPr sz="1500" b="0">
                <a:solidFill>
                  <a:srgbClr val="141735"/>
                </a:solidFill>
                <a:latin typeface="Calibri"/>
                <a:ea typeface="Calibri"/>
                <a:cs typeface="Calibri"/>
              </a:defRPr>
            </a:lvl4pPr>
            <a:lvl5pPr>
              <a:defRPr sz="1500" b="0">
                <a:solidFill>
                  <a:srgbClr val="141735"/>
                </a:solidFill>
                <a:latin typeface="Calibri"/>
                <a:ea typeface="Calibri"/>
                <a:cs typeface="Calibri"/>
              </a:defRPr>
            </a:lvl5pPr>
            <a:lvl6pPr>
              <a:defRPr sz="1500" b="0">
                <a:solidFill>
                  <a:srgbClr val="141735"/>
                </a:solidFill>
                <a:latin typeface="Calibri"/>
                <a:ea typeface="Calibri"/>
                <a:cs typeface="Calibri"/>
              </a:defRPr>
            </a:lvl6pPr>
            <a:lvl7pPr>
              <a:defRPr sz="1500" b="0">
                <a:solidFill>
                  <a:srgbClr val="141735"/>
                </a:solidFill>
                <a:latin typeface="Calibri"/>
                <a:ea typeface="Calibri"/>
                <a:cs typeface="Calibri"/>
              </a:defRPr>
            </a:lvl7pPr>
            <a:lvl8pPr>
              <a:defRPr sz="1500" b="0">
                <a:solidFill>
                  <a:srgbClr val="141735"/>
                </a:solidFill>
                <a:latin typeface="Calibri"/>
                <a:ea typeface="Calibri"/>
                <a:cs typeface="Calibri"/>
              </a:defRPr>
            </a:lvl8pPr>
            <a:lvl9pPr>
              <a:defRPr sz="1500" b="0">
                <a:solidFill>
                  <a:srgbClr val="141735"/>
                </a:solidFill>
                <a:latin typeface="Calibri"/>
                <a:ea typeface="Calibri"/>
                <a:cs typeface="Calibri"/>
              </a:defRPr>
            </a:lvl9pPr>
          </a:lstStyle>
          <a:p>
            <a:pPr>
              <a:defRPr sz="1500" b="0">
                <a:solidFill>
                  <a:srgbClr val="141735"/>
                </a:solidFill>
                <a:latin typeface="Calibri"/>
                <a:ea typeface="Calibri"/>
                <a:cs typeface="Calibri"/>
              </a:defRPr>
            </a:pPr>
            <a:r>
              <a:rPr sz="1500" b="0">
                <a:solidFill>
                  <a:srgbClr val="141735"/>
                </a:solidFill>
                <a:latin typeface="Calibri"/>
                <a:ea typeface="Calibri"/>
                <a:cs typeface="Calibri"/>
              </a:rPr>
              <a:t>Records separate good</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and rework counts</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for quality tracking.</a:t>
            </a:r>
          </a:p>
        </p:txBody>
      </p:sp>
      <p:sp>
        <p:nvSpPr>
          <p:cNvPr id="21" name="card-C3">
            <a:extLst>
              <a:ext uri="{FF2B5EF4-FFF2-40B4-BE49-F238E27FC236}">
                <a16:creationId xmlns:a16="http://schemas.microsoft.com/office/drawing/2014/main" id="{55F9B7BC-FD0E-488A-884D-70BA287DD989}"/>
              </a:ext>
            </a:extLst>
          </p:cNvPr>
          <p:cNvSpPr>
            <a:spLocks noGrp="1"/>
          </p:cNvSpPr>
          <p:nvPr/>
        </p:nvSpPr>
        <p:spPr>
          <a:xfrm>
            <a:off x="6187440" y="1695450"/>
            <a:ext cx="2628900" cy="3638550"/>
          </a:xfrm>
          <a:prstGeom prst="roundRect">
            <a:avLst>
              <a:gd name="adj" fmla="val 4348"/>
            </a:avLst>
          </a:prstGeom>
          <a:solidFill>
            <a:srgbClr val="F6F2FD"/>
          </a:solidFill>
          <a:ln w="9525">
            <a:solidFill>
              <a:srgbClr val="E6DCF8"/>
            </a:solidFill>
            <a:prstDash val="solid"/>
          </a:ln>
        </p:spPr>
        <p:txBody>
          <a:bodyPr/>
          <a:lstStyle/>
          <a:p>
            <a:endParaRPr lang="en-US"/>
          </a:p>
        </p:txBody>
      </p:sp>
      <p:sp>
        <p:nvSpPr>
          <p:cNvPr id="22" name="stage-C3">
            <a:extLst>
              <a:ext uri="{FF2B5EF4-FFF2-40B4-BE49-F238E27FC236}">
                <a16:creationId xmlns:a16="http://schemas.microsoft.com/office/drawing/2014/main" id="{CAA18BF5-FDD4-4E43-9847-0AF4EBBA5540}"/>
              </a:ext>
            </a:extLst>
          </p:cNvPr>
          <p:cNvSpPr>
            <a:spLocks noGrp="1"/>
          </p:cNvSpPr>
          <p:nvPr/>
        </p:nvSpPr>
        <p:spPr>
          <a:xfrm>
            <a:off x="6377940" y="1876425"/>
            <a:ext cx="2247900" cy="190500"/>
          </a:xfrm>
          <a:prstGeom prst="rect">
            <a:avLst/>
          </a:prstGeom>
          <a:noFill/>
          <a:ln w="0">
            <a:noFill/>
            <a:prstDash val="solid"/>
          </a:ln>
        </p:spPr>
        <p:txBody>
          <a:bodyPr wrap="square" lIns="0" tIns="0" rIns="0" bIns="0" anchor="ctr">
            <a:noAutofit/>
          </a:bodyPr>
          <a:lstStyle>
            <a:defPPr>
              <a:defRPr sz="1050" b="1">
                <a:solidFill>
                  <a:srgbClr val="7C4BE8"/>
                </a:solidFill>
                <a:latin typeface="Calibri"/>
                <a:ea typeface="Calibri"/>
                <a:cs typeface="Calibri"/>
              </a:defRPr>
            </a:defPPr>
            <a:lvl1pPr>
              <a:defRPr sz="1050" b="1">
                <a:solidFill>
                  <a:srgbClr val="7C4BE8"/>
                </a:solidFill>
                <a:latin typeface="Calibri"/>
                <a:ea typeface="Calibri"/>
                <a:cs typeface="Calibri"/>
              </a:defRPr>
            </a:lvl1pPr>
            <a:lvl2pPr>
              <a:defRPr sz="1050" b="1">
                <a:solidFill>
                  <a:srgbClr val="7C4BE8"/>
                </a:solidFill>
                <a:latin typeface="Calibri"/>
                <a:ea typeface="Calibri"/>
                <a:cs typeface="Calibri"/>
              </a:defRPr>
            </a:lvl2pPr>
            <a:lvl3pPr>
              <a:defRPr sz="1050" b="1">
                <a:solidFill>
                  <a:srgbClr val="7C4BE8"/>
                </a:solidFill>
                <a:latin typeface="Calibri"/>
                <a:ea typeface="Calibri"/>
                <a:cs typeface="Calibri"/>
              </a:defRPr>
            </a:lvl3pPr>
            <a:lvl4pPr>
              <a:defRPr sz="1050" b="1">
                <a:solidFill>
                  <a:srgbClr val="7C4BE8"/>
                </a:solidFill>
                <a:latin typeface="Calibri"/>
                <a:ea typeface="Calibri"/>
                <a:cs typeface="Calibri"/>
              </a:defRPr>
            </a:lvl4pPr>
            <a:lvl5pPr>
              <a:defRPr sz="1050" b="1">
                <a:solidFill>
                  <a:srgbClr val="7C4BE8"/>
                </a:solidFill>
                <a:latin typeface="Calibri"/>
                <a:ea typeface="Calibri"/>
                <a:cs typeface="Calibri"/>
              </a:defRPr>
            </a:lvl5pPr>
            <a:lvl6pPr>
              <a:defRPr sz="1050" b="1">
                <a:solidFill>
                  <a:srgbClr val="7C4BE8"/>
                </a:solidFill>
                <a:latin typeface="Calibri"/>
                <a:ea typeface="Calibri"/>
                <a:cs typeface="Calibri"/>
              </a:defRPr>
            </a:lvl6pPr>
            <a:lvl7pPr>
              <a:defRPr sz="1050" b="1">
                <a:solidFill>
                  <a:srgbClr val="7C4BE8"/>
                </a:solidFill>
                <a:latin typeface="Calibri"/>
                <a:ea typeface="Calibri"/>
                <a:cs typeface="Calibri"/>
              </a:defRPr>
            </a:lvl7pPr>
            <a:lvl8pPr>
              <a:defRPr sz="1050" b="1">
                <a:solidFill>
                  <a:srgbClr val="7C4BE8"/>
                </a:solidFill>
                <a:latin typeface="Calibri"/>
                <a:ea typeface="Calibri"/>
                <a:cs typeface="Calibri"/>
              </a:defRPr>
            </a:lvl8pPr>
            <a:lvl9pPr>
              <a:defRPr sz="1050" b="1">
                <a:solidFill>
                  <a:srgbClr val="7C4BE8"/>
                </a:solidFill>
                <a:latin typeface="Calibri"/>
                <a:ea typeface="Calibri"/>
                <a:cs typeface="Calibri"/>
              </a:defRPr>
            </a:lvl9pPr>
          </a:lstStyle>
          <a:p>
            <a:pPr>
              <a:defRPr sz="1050" b="1">
                <a:solidFill>
                  <a:srgbClr val="7C4BE8"/>
                </a:solidFill>
                <a:latin typeface="Calibri"/>
                <a:ea typeface="Calibri"/>
                <a:cs typeface="Calibri"/>
              </a:defRPr>
            </a:pPr>
            <a:r>
              <a:rPr sz="1050" b="1">
                <a:solidFill>
                  <a:srgbClr val="7C4BE8"/>
                </a:solidFill>
                <a:latin typeface="Calibri"/>
                <a:ea typeface="Calibri"/>
                <a:cs typeface="Calibri"/>
              </a:rPr>
              <a:t>PACKING: STYLE</a:t>
            </a:r>
          </a:p>
        </p:txBody>
      </p:sp>
      <p:sp>
        <p:nvSpPr>
          <p:cNvPr id="23" name="code-C3">
            <a:extLst>
              <a:ext uri="{FF2B5EF4-FFF2-40B4-BE49-F238E27FC236}">
                <a16:creationId xmlns:a16="http://schemas.microsoft.com/office/drawing/2014/main" id="{7E3361D4-E5AE-4D07-B41D-CE13A8B66CCC}"/>
              </a:ext>
            </a:extLst>
          </p:cNvPr>
          <p:cNvSpPr>
            <a:spLocks noGrp="1"/>
          </p:cNvSpPr>
          <p:nvPr/>
        </p:nvSpPr>
        <p:spPr>
          <a:xfrm>
            <a:off x="6377940" y="2190750"/>
            <a:ext cx="409575" cy="523875"/>
          </a:xfrm>
          <a:prstGeom prst="rect">
            <a:avLst/>
          </a:prstGeom>
          <a:noFill/>
          <a:ln w="0">
            <a:noFill/>
            <a:prstDash val="solid"/>
          </a:ln>
        </p:spPr>
        <p:txBody>
          <a:bodyPr wrap="square" lIns="0" tIns="0" rIns="0" bIns="0" anchor="ctr">
            <a:noAutofit/>
          </a:bodyPr>
          <a:lstStyle>
            <a:defPPr>
              <a:defRPr sz="2175" b="1">
                <a:solidFill>
                  <a:srgbClr val="7C4BE8"/>
                </a:solidFill>
                <a:latin typeface="Calibri"/>
                <a:ea typeface="Calibri"/>
                <a:cs typeface="Calibri"/>
              </a:defRPr>
            </a:defPPr>
            <a:lvl1pPr>
              <a:defRPr sz="2175" b="1">
                <a:solidFill>
                  <a:srgbClr val="7C4BE8"/>
                </a:solidFill>
                <a:latin typeface="Calibri"/>
                <a:ea typeface="Calibri"/>
                <a:cs typeface="Calibri"/>
              </a:defRPr>
            </a:lvl1pPr>
            <a:lvl2pPr>
              <a:defRPr sz="2175" b="1">
                <a:solidFill>
                  <a:srgbClr val="7C4BE8"/>
                </a:solidFill>
                <a:latin typeface="Calibri"/>
                <a:ea typeface="Calibri"/>
                <a:cs typeface="Calibri"/>
              </a:defRPr>
            </a:lvl2pPr>
            <a:lvl3pPr>
              <a:defRPr sz="2175" b="1">
                <a:solidFill>
                  <a:srgbClr val="7C4BE8"/>
                </a:solidFill>
                <a:latin typeface="Calibri"/>
                <a:ea typeface="Calibri"/>
                <a:cs typeface="Calibri"/>
              </a:defRPr>
            </a:lvl3pPr>
            <a:lvl4pPr>
              <a:defRPr sz="2175" b="1">
                <a:solidFill>
                  <a:srgbClr val="7C4BE8"/>
                </a:solidFill>
                <a:latin typeface="Calibri"/>
                <a:ea typeface="Calibri"/>
                <a:cs typeface="Calibri"/>
              </a:defRPr>
            </a:lvl4pPr>
            <a:lvl5pPr>
              <a:defRPr sz="2175" b="1">
                <a:solidFill>
                  <a:srgbClr val="7C4BE8"/>
                </a:solidFill>
                <a:latin typeface="Calibri"/>
                <a:ea typeface="Calibri"/>
                <a:cs typeface="Calibri"/>
              </a:defRPr>
            </a:lvl5pPr>
            <a:lvl6pPr>
              <a:defRPr sz="2175" b="1">
                <a:solidFill>
                  <a:srgbClr val="7C4BE8"/>
                </a:solidFill>
                <a:latin typeface="Calibri"/>
                <a:ea typeface="Calibri"/>
                <a:cs typeface="Calibri"/>
              </a:defRPr>
            </a:lvl6pPr>
            <a:lvl7pPr>
              <a:defRPr sz="2175" b="1">
                <a:solidFill>
                  <a:srgbClr val="7C4BE8"/>
                </a:solidFill>
                <a:latin typeface="Calibri"/>
                <a:ea typeface="Calibri"/>
                <a:cs typeface="Calibri"/>
              </a:defRPr>
            </a:lvl7pPr>
            <a:lvl8pPr>
              <a:defRPr sz="2175" b="1">
                <a:solidFill>
                  <a:srgbClr val="7C4BE8"/>
                </a:solidFill>
                <a:latin typeface="Calibri"/>
                <a:ea typeface="Calibri"/>
                <a:cs typeface="Calibri"/>
              </a:defRPr>
            </a:lvl8pPr>
            <a:lvl9pPr>
              <a:defRPr sz="2175" b="1">
                <a:solidFill>
                  <a:srgbClr val="7C4BE8"/>
                </a:solidFill>
                <a:latin typeface="Calibri"/>
                <a:ea typeface="Calibri"/>
                <a:cs typeface="Calibri"/>
              </a:defRPr>
            </a:lvl9pPr>
          </a:lstStyle>
          <a:p>
            <a:pPr>
              <a:defRPr sz="2175" b="1">
                <a:solidFill>
                  <a:srgbClr val="7C4BE8"/>
                </a:solidFill>
                <a:latin typeface="Calibri"/>
                <a:ea typeface="Calibri"/>
                <a:cs typeface="Calibri"/>
              </a:defRPr>
            </a:pPr>
            <a:r>
              <a:rPr sz="2175" b="1">
                <a:solidFill>
                  <a:srgbClr val="7C4BE8"/>
                </a:solidFill>
                <a:latin typeface="Calibri"/>
                <a:ea typeface="Calibri"/>
                <a:cs typeface="Calibri"/>
              </a:rPr>
              <a:t>C3</a:t>
            </a:r>
          </a:p>
        </p:txBody>
      </p:sp>
      <p:sp>
        <p:nvSpPr>
          <p:cNvPr id="24" name="component-C3">
            <a:extLst>
              <a:ext uri="{FF2B5EF4-FFF2-40B4-BE49-F238E27FC236}">
                <a16:creationId xmlns:a16="http://schemas.microsoft.com/office/drawing/2014/main" id="{FECA0107-1FB1-42CA-BB2C-E16BBCF118BE}"/>
              </a:ext>
            </a:extLst>
          </p:cNvPr>
          <p:cNvSpPr>
            <a:spLocks noGrp="1"/>
          </p:cNvSpPr>
          <p:nvPr/>
        </p:nvSpPr>
        <p:spPr>
          <a:xfrm>
            <a:off x="6873240" y="2181225"/>
            <a:ext cx="1771650" cy="581025"/>
          </a:xfrm>
          <a:prstGeom prst="rect">
            <a:avLst/>
          </a:prstGeom>
          <a:noFill/>
          <a:ln w="0">
            <a:noFill/>
            <a:prstDash val="solid"/>
          </a:ln>
        </p:spPr>
        <p:txBody>
          <a:bodyPr wrap="square" lIns="0" tIns="0" rIns="0" bIns="0" anchor="ctr">
            <a:noAutofit/>
          </a:bodyPr>
          <a:lstStyle>
            <a:defPPr>
              <a:defRPr sz="1725" b="1">
                <a:solidFill>
                  <a:srgbClr val="141735"/>
                </a:solidFill>
                <a:latin typeface="Calibri"/>
                <a:ea typeface="Calibri"/>
                <a:cs typeface="Calibri"/>
              </a:defRPr>
            </a:defPPr>
            <a:lvl1pPr>
              <a:defRPr sz="1725" b="1">
                <a:solidFill>
                  <a:srgbClr val="141735"/>
                </a:solidFill>
                <a:latin typeface="Calibri"/>
                <a:ea typeface="Calibri"/>
                <a:cs typeface="Calibri"/>
              </a:defRPr>
            </a:lvl1pPr>
            <a:lvl2pPr>
              <a:defRPr sz="1725" b="1">
                <a:solidFill>
                  <a:srgbClr val="141735"/>
                </a:solidFill>
                <a:latin typeface="Calibri"/>
                <a:ea typeface="Calibri"/>
                <a:cs typeface="Calibri"/>
              </a:defRPr>
            </a:lvl2pPr>
            <a:lvl3pPr>
              <a:defRPr sz="1725" b="1">
                <a:solidFill>
                  <a:srgbClr val="141735"/>
                </a:solidFill>
                <a:latin typeface="Calibri"/>
                <a:ea typeface="Calibri"/>
                <a:cs typeface="Calibri"/>
              </a:defRPr>
            </a:lvl3pPr>
            <a:lvl4pPr>
              <a:defRPr sz="1725" b="1">
                <a:solidFill>
                  <a:srgbClr val="141735"/>
                </a:solidFill>
                <a:latin typeface="Calibri"/>
                <a:ea typeface="Calibri"/>
                <a:cs typeface="Calibri"/>
              </a:defRPr>
            </a:lvl4pPr>
            <a:lvl5pPr>
              <a:defRPr sz="1725" b="1">
                <a:solidFill>
                  <a:srgbClr val="141735"/>
                </a:solidFill>
                <a:latin typeface="Calibri"/>
                <a:ea typeface="Calibri"/>
                <a:cs typeface="Calibri"/>
              </a:defRPr>
            </a:lvl5pPr>
            <a:lvl6pPr>
              <a:defRPr sz="1725" b="1">
                <a:solidFill>
                  <a:srgbClr val="141735"/>
                </a:solidFill>
                <a:latin typeface="Calibri"/>
                <a:ea typeface="Calibri"/>
                <a:cs typeface="Calibri"/>
              </a:defRPr>
            </a:lvl6pPr>
            <a:lvl7pPr>
              <a:defRPr sz="1725" b="1">
                <a:solidFill>
                  <a:srgbClr val="141735"/>
                </a:solidFill>
                <a:latin typeface="Calibri"/>
                <a:ea typeface="Calibri"/>
                <a:cs typeface="Calibri"/>
              </a:defRPr>
            </a:lvl7pPr>
            <a:lvl8pPr>
              <a:defRPr sz="1725" b="1">
                <a:solidFill>
                  <a:srgbClr val="141735"/>
                </a:solidFill>
                <a:latin typeface="Calibri"/>
                <a:ea typeface="Calibri"/>
                <a:cs typeface="Calibri"/>
              </a:defRPr>
            </a:lvl8pPr>
            <a:lvl9pPr>
              <a:defRPr sz="1725" b="1">
                <a:solidFill>
                  <a:srgbClr val="141735"/>
                </a:solidFill>
                <a:latin typeface="Calibri"/>
                <a:ea typeface="Calibri"/>
                <a:cs typeface="Calibri"/>
              </a:defRPr>
            </a:lvl9pPr>
          </a:lstStyle>
          <a:p>
            <a:pPr>
              <a:defRPr sz="1725" b="1">
                <a:solidFill>
                  <a:srgbClr val="141735"/>
                </a:solidFill>
                <a:latin typeface="Calibri"/>
                <a:ea typeface="Calibri"/>
                <a:cs typeface="Calibri"/>
              </a:defRPr>
            </a:pPr>
            <a:r>
              <a:rPr sz="1725" b="1">
                <a:solidFill>
                  <a:srgbClr val="141735"/>
                </a:solidFill>
                <a:latin typeface="Calibri"/>
                <a:ea typeface="Calibri"/>
                <a:cs typeface="Calibri"/>
              </a:rPr>
              <a:t>Style &amp; Colour</a:t>
            </a:r>
          </a:p>
          <a:p>
            <a:pPr>
              <a:defRPr sz="1725" b="1">
                <a:solidFill>
                  <a:srgbClr val="141735"/>
                </a:solidFill>
                <a:latin typeface="Calibri"/>
                <a:ea typeface="Calibri"/>
                <a:cs typeface="Calibri"/>
              </a:defRPr>
            </a:pPr>
            <a:r>
              <a:rPr sz="1725" b="1">
                <a:solidFill>
                  <a:srgbClr val="141735"/>
                </a:solidFill>
                <a:latin typeface="Calibri"/>
                <a:ea typeface="Calibri"/>
                <a:cs typeface="Calibri"/>
              </a:rPr>
              <a:t>Detection</a:t>
            </a:r>
          </a:p>
        </p:txBody>
      </p:sp>
      <p:sp>
        <p:nvSpPr>
          <p:cNvPr id="25" name="problem-label-C3">
            <a:extLst>
              <a:ext uri="{FF2B5EF4-FFF2-40B4-BE49-F238E27FC236}">
                <a16:creationId xmlns:a16="http://schemas.microsoft.com/office/drawing/2014/main" id="{C75FCD01-B1F3-4C39-87E4-442122186B36}"/>
              </a:ext>
            </a:extLst>
          </p:cNvPr>
          <p:cNvSpPr>
            <a:spLocks noGrp="1"/>
          </p:cNvSpPr>
          <p:nvPr/>
        </p:nvSpPr>
        <p:spPr>
          <a:xfrm>
            <a:off x="6377940" y="2943225"/>
            <a:ext cx="2247900" cy="190500"/>
          </a:xfrm>
          <a:prstGeom prst="rect">
            <a:avLst/>
          </a:prstGeom>
          <a:noFill/>
          <a:ln w="0">
            <a:noFill/>
            <a:prstDash val="solid"/>
          </a:ln>
        </p:spPr>
        <p:txBody>
          <a:bodyPr wrap="square" lIns="0" tIns="0" rIns="0" bIns="0" anchor="ctr">
            <a:noAutofit/>
          </a:bodyPr>
          <a:lstStyle>
            <a:defPPr>
              <a:defRPr sz="1013" b="1">
                <a:solidFill>
                  <a:srgbClr val="72778F"/>
                </a:solidFill>
                <a:latin typeface="Calibri"/>
                <a:ea typeface="Calibri"/>
                <a:cs typeface="Calibri"/>
              </a:defRPr>
            </a:defPPr>
            <a:lvl1pPr>
              <a:defRPr sz="1013" b="1">
                <a:solidFill>
                  <a:srgbClr val="72778F"/>
                </a:solidFill>
                <a:latin typeface="Calibri"/>
                <a:ea typeface="Calibri"/>
                <a:cs typeface="Calibri"/>
              </a:defRPr>
            </a:lvl1pPr>
            <a:lvl2pPr>
              <a:defRPr sz="1013" b="1">
                <a:solidFill>
                  <a:srgbClr val="72778F"/>
                </a:solidFill>
                <a:latin typeface="Calibri"/>
                <a:ea typeface="Calibri"/>
                <a:cs typeface="Calibri"/>
              </a:defRPr>
            </a:lvl2pPr>
            <a:lvl3pPr>
              <a:defRPr sz="1013" b="1">
                <a:solidFill>
                  <a:srgbClr val="72778F"/>
                </a:solidFill>
                <a:latin typeface="Calibri"/>
                <a:ea typeface="Calibri"/>
                <a:cs typeface="Calibri"/>
              </a:defRPr>
            </a:lvl3pPr>
            <a:lvl4pPr>
              <a:defRPr sz="1013" b="1">
                <a:solidFill>
                  <a:srgbClr val="72778F"/>
                </a:solidFill>
                <a:latin typeface="Calibri"/>
                <a:ea typeface="Calibri"/>
                <a:cs typeface="Calibri"/>
              </a:defRPr>
            </a:lvl4pPr>
            <a:lvl5pPr>
              <a:defRPr sz="1013" b="1">
                <a:solidFill>
                  <a:srgbClr val="72778F"/>
                </a:solidFill>
                <a:latin typeface="Calibri"/>
                <a:ea typeface="Calibri"/>
                <a:cs typeface="Calibri"/>
              </a:defRPr>
            </a:lvl5pPr>
            <a:lvl6pPr>
              <a:defRPr sz="1013" b="1">
                <a:solidFill>
                  <a:srgbClr val="72778F"/>
                </a:solidFill>
                <a:latin typeface="Calibri"/>
                <a:ea typeface="Calibri"/>
                <a:cs typeface="Calibri"/>
              </a:defRPr>
            </a:lvl6pPr>
            <a:lvl7pPr>
              <a:defRPr sz="1013" b="1">
                <a:solidFill>
                  <a:srgbClr val="72778F"/>
                </a:solidFill>
                <a:latin typeface="Calibri"/>
                <a:ea typeface="Calibri"/>
                <a:cs typeface="Calibri"/>
              </a:defRPr>
            </a:lvl7pPr>
            <a:lvl8pPr>
              <a:defRPr sz="1013" b="1">
                <a:solidFill>
                  <a:srgbClr val="72778F"/>
                </a:solidFill>
                <a:latin typeface="Calibri"/>
                <a:ea typeface="Calibri"/>
                <a:cs typeface="Calibri"/>
              </a:defRPr>
            </a:lvl8pPr>
            <a:lvl9pPr>
              <a:defRPr sz="1013" b="1">
                <a:solidFill>
                  <a:srgbClr val="72778F"/>
                </a:solidFill>
                <a:latin typeface="Calibri"/>
                <a:ea typeface="Calibri"/>
                <a:cs typeface="Calibri"/>
              </a:defRPr>
            </a:lvl9pPr>
          </a:lstStyle>
          <a:p>
            <a:pPr>
              <a:defRPr sz="1013" b="1">
                <a:solidFill>
                  <a:srgbClr val="72778F"/>
                </a:solidFill>
                <a:latin typeface="Calibri"/>
                <a:ea typeface="Calibri"/>
                <a:cs typeface="Calibri"/>
              </a:defRPr>
            </a:pPr>
            <a:r>
              <a:rPr sz="1013" b="1">
                <a:solidFill>
                  <a:srgbClr val="72778F"/>
                </a:solidFill>
                <a:latin typeface="Calibri"/>
                <a:ea typeface="Calibri"/>
                <a:cs typeface="Calibri"/>
              </a:rPr>
              <a:t>THE PROBLEM</a:t>
            </a:r>
          </a:p>
        </p:txBody>
      </p:sp>
      <p:sp>
        <p:nvSpPr>
          <p:cNvPr id="26" name="problem-C3">
            <a:extLst>
              <a:ext uri="{FF2B5EF4-FFF2-40B4-BE49-F238E27FC236}">
                <a16:creationId xmlns:a16="http://schemas.microsoft.com/office/drawing/2014/main" id="{72505790-92F8-4D5E-8C15-114A80337055}"/>
              </a:ext>
            </a:extLst>
          </p:cNvPr>
          <p:cNvSpPr>
            <a:spLocks noGrp="1"/>
          </p:cNvSpPr>
          <p:nvPr/>
        </p:nvSpPr>
        <p:spPr>
          <a:xfrm>
            <a:off x="6377940" y="3209925"/>
            <a:ext cx="2286000" cy="800100"/>
          </a:xfrm>
          <a:prstGeom prst="rect">
            <a:avLst/>
          </a:prstGeom>
          <a:noFill/>
          <a:ln w="0">
            <a:noFill/>
            <a:prstDash val="solid"/>
          </a:ln>
        </p:spPr>
        <p:txBody>
          <a:bodyPr wrap="square" lIns="0" tIns="0" rIns="0" bIns="0" anchor="ctr">
            <a:noAutofit/>
          </a:bodyPr>
          <a:lstStyle>
            <a:defPPr>
              <a:defRPr sz="1500" b="0">
                <a:solidFill>
                  <a:srgbClr val="141735"/>
                </a:solidFill>
                <a:latin typeface="Calibri"/>
                <a:ea typeface="Calibri"/>
                <a:cs typeface="Calibri"/>
              </a:defRPr>
            </a:defPPr>
            <a:lvl1pPr>
              <a:defRPr sz="1500" b="0">
                <a:solidFill>
                  <a:srgbClr val="141735"/>
                </a:solidFill>
                <a:latin typeface="Calibri"/>
                <a:ea typeface="Calibri"/>
                <a:cs typeface="Calibri"/>
              </a:defRPr>
            </a:lvl1pPr>
            <a:lvl2pPr>
              <a:defRPr sz="1500" b="0">
                <a:solidFill>
                  <a:srgbClr val="141735"/>
                </a:solidFill>
                <a:latin typeface="Calibri"/>
                <a:ea typeface="Calibri"/>
                <a:cs typeface="Calibri"/>
              </a:defRPr>
            </a:lvl2pPr>
            <a:lvl3pPr>
              <a:defRPr sz="1500" b="0">
                <a:solidFill>
                  <a:srgbClr val="141735"/>
                </a:solidFill>
                <a:latin typeface="Calibri"/>
                <a:ea typeface="Calibri"/>
                <a:cs typeface="Calibri"/>
              </a:defRPr>
            </a:lvl3pPr>
            <a:lvl4pPr>
              <a:defRPr sz="1500" b="0">
                <a:solidFill>
                  <a:srgbClr val="141735"/>
                </a:solidFill>
                <a:latin typeface="Calibri"/>
                <a:ea typeface="Calibri"/>
                <a:cs typeface="Calibri"/>
              </a:defRPr>
            </a:lvl4pPr>
            <a:lvl5pPr>
              <a:defRPr sz="1500" b="0">
                <a:solidFill>
                  <a:srgbClr val="141735"/>
                </a:solidFill>
                <a:latin typeface="Calibri"/>
                <a:ea typeface="Calibri"/>
                <a:cs typeface="Calibri"/>
              </a:defRPr>
            </a:lvl5pPr>
            <a:lvl6pPr>
              <a:defRPr sz="1500" b="0">
                <a:solidFill>
                  <a:srgbClr val="141735"/>
                </a:solidFill>
                <a:latin typeface="Calibri"/>
                <a:ea typeface="Calibri"/>
                <a:cs typeface="Calibri"/>
              </a:defRPr>
            </a:lvl6pPr>
            <a:lvl7pPr>
              <a:defRPr sz="1500" b="0">
                <a:solidFill>
                  <a:srgbClr val="141735"/>
                </a:solidFill>
                <a:latin typeface="Calibri"/>
                <a:ea typeface="Calibri"/>
                <a:cs typeface="Calibri"/>
              </a:defRPr>
            </a:lvl7pPr>
            <a:lvl8pPr>
              <a:defRPr sz="1500" b="0">
                <a:solidFill>
                  <a:srgbClr val="141735"/>
                </a:solidFill>
                <a:latin typeface="Calibri"/>
                <a:ea typeface="Calibri"/>
                <a:cs typeface="Calibri"/>
              </a:defRPr>
            </a:lvl8pPr>
            <a:lvl9pPr>
              <a:defRPr sz="1500" b="0">
                <a:solidFill>
                  <a:srgbClr val="141735"/>
                </a:solidFill>
                <a:latin typeface="Calibri"/>
                <a:ea typeface="Calibri"/>
                <a:cs typeface="Calibri"/>
              </a:defRPr>
            </a:lvl9pPr>
          </a:lstStyle>
          <a:p>
            <a:pPr>
              <a:defRPr sz="1500" b="0">
                <a:solidFill>
                  <a:srgbClr val="141735"/>
                </a:solidFill>
                <a:latin typeface="Calibri"/>
                <a:ea typeface="Calibri"/>
                <a:cs typeface="Calibri"/>
              </a:defRPr>
            </a:pPr>
            <a:r>
              <a:rPr sz="1500" b="0">
                <a:solidFill>
                  <a:srgbClr val="141735"/>
                </a:solidFill>
                <a:latin typeface="Calibri"/>
                <a:ea typeface="Calibri"/>
                <a:cs typeface="Calibri"/>
              </a:rPr>
              <a:t>Workers check garment</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style and colour</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by eye.</a:t>
            </a:r>
          </a:p>
        </p:txBody>
      </p:sp>
      <p:sp>
        <p:nvSpPr>
          <p:cNvPr id="27" name="divider-C3">
            <a:extLst>
              <a:ext uri="{FF2B5EF4-FFF2-40B4-BE49-F238E27FC236}">
                <a16:creationId xmlns:a16="http://schemas.microsoft.com/office/drawing/2014/main" id="{9A34E563-06A5-479E-833A-8F62C7DE743E}"/>
              </a:ext>
            </a:extLst>
          </p:cNvPr>
          <p:cNvSpPr>
            <a:spLocks noGrp="1"/>
          </p:cNvSpPr>
          <p:nvPr/>
        </p:nvSpPr>
        <p:spPr>
          <a:xfrm>
            <a:off x="6377940" y="4114800"/>
            <a:ext cx="2247900" cy="9525"/>
          </a:xfrm>
          <a:prstGeom prst="rect">
            <a:avLst/>
          </a:prstGeom>
          <a:solidFill>
            <a:srgbClr val="E6DCF8"/>
          </a:solidFill>
          <a:ln w="0">
            <a:noFill/>
            <a:prstDash val="solid"/>
          </a:ln>
        </p:spPr>
        <p:txBody>
          <a:bodyPr/>
          <a:lstStyle/>
          <a:p>
            <a:endParaRPr lang="en-US"/>
          </a:p>
        </p:txBody>
      </p:sp>
      <p:sp>
        <p:nvSpPr>
          <p:cNvPr id="28" name="fix-label-C3">
            <a:extLst>
              <a:ext uri="{FF2B5EF4-FFF2-40B4-BE49-F238E27FC236}">
                <a16:creationId xmlns:a16="http://schemas.microsoft.com/office/drawing/2014/main" id="{D06BC18B-82C5-43DA-9A7A-A474519F60C7}"/>
              </a:ext>
            </a:extLst>
          </p:cNvPr>
          <p:cNvSpPr>
            <a:spLocks noGrp="1"/>
          </p:cNvSpPr>
          <p:nvPr/>
        </p:nvSpPr>
        <p:spPr>
          <a:xfrm>
            <a:off x="6377940" y="4276725"/>
            <a:ext cx="2247900" cy="190500"/>
          </a:xfrm>
          <a:prstGeom prst="rect">
            <a:avLst/>
          </a:prstGeom>
          <a:noFill/>
          <a:ln w="0">
            <a:noFill/>
            <a:prstDash val="solid"/>
          </a:ln>
        </p:spPr>
        <p:txBody>
          <a:bodyPr wrap="square" lIns="0" tIns="0" rIns="0" bIns="0" anchor="ctr">
            <a:noAutofit/>
          </a:bodyPr>
          <a:lstStyle>
            <a:defPPr>
              <a:defRPr sz="1013" b="1">
                <a:solidFill>
                  <a:srgbClr val="7C4BE8"/>
                </a:solidFill>
                <a:latin typeface="Calibri"/>
                <a:ea typeface="Calibri"/>
                <a:cs typeface="Calibri"/>
              </a:defRPr>
            </a:defPPr>
            <a:lvl1pPr>
              <a:defRPr sz="1013" b="1">
                <a:solidFill>
                  <a:srgbClr val="7C4BE8"/>
                </a:solidFill>
                <a:latin typeface="Calibri"/>
                <a:ea typeface="Calibri"/>
                <a:cs typeface="Calibri"/>
              </a:defRPr>
            </a:lvl1pPr>
            <a:lvl2pPr>
              <a:defRPr sz="1013" b="1">
                <a:solidFill>
                  <a:srgbClr val="7C4BE8"/>
                </a:solidFill>
                <a:latin typeface="Calibri"/>
                <a:ea typeface="Calibri"/>
                <a:cs typeface="Calibri"/>
              </a:defRPr>
            </a:lvl2pPr>
            <a:lvl3pPr>
              <a:defRPr sz="1013" b="1">
                <a:solidFill>
                  <a:srgbClr val="7C4BE8"/>
                </a:solidFill>
                <a:latin typeface="Calibri"/>
                <a:ea typeface="Calibri"/>
                <a:cs typeface="Calibri"/>
              </a:defRPr>
            </a:lvl3pPr>
            <a:lvl4pPr>
              <a:defRPr sz="1013" b="1">
                <a:solidFill>
                  <a:srgbClr val="7C4BE8"/>
                </a:solidFill>
                <a:latin typeface="Calibri"/>
                <a:ea typeface="Calibri"/>
                <a:cs typeface="Calibri"/>
              </a:defRPr>
            </a:lvl4pPr>
            <a:lvl5pPr>
              <a:defRPr sz="1013" b="1">
                <a:solidFill>
                  <a:srgbClr val="7C4BE8"/>
                </a:solidFill>
                <a:latin typeface="Calibri"/>
                <a:ea typeface="Calibri"/>
                <a:cs typeface="Calibri"/>
              </a:defRPr>
            </a:lvl5pPr>
            <a:lvl6pPr>
              <a:defRPr sz="1013" b="1">
                <a:solidFill>
                  <a:srgbClr val="7C4BE8"/>
                </a:solidFill>
                <a:latin typeface="Calibri"/>
                <a:ea typeface="Calibri"/>
                <a:cs typeface="Calibri"/>
              </a:defRPr>
            </a:lvl6pPr>
            <a:lvl7pPr>
              <a:defRPr sz="1013" b="1">
                <a:solidFill>
                  <a:srgbClr val="7C4BE8"/>
                </a:solidFill>
                <a:latin typeface="Calibri"/>
                <a:ea typeface="Calibri"/>
                <a:cs typeface="Calibri"/>
              </a:defRPr>
            </a:lvl7pPr>
            <a:lvl8pPr>
              <a:defRPr sz="1013" b="1">
                <a:solidFill>
                  <a:srgbClr val="7C4BE8"/>
                </a:solidFill>
                <a:latin typeface="Calibri"/>
                <a:ea typeface="Calibri"/>
                <a:cs typeface="Calibri"/>
              </a:defRPr>
            </a:lvl8pPr>
            <a:lvl9pPr>
              <a:defRPr sz="1013" b="1">
                <a:solidFill>
                  <a:srgbClr val="7C4BE8"/>
                </a:solidFill>
                <a:latin typeface="Calibri"/>
                <a:ea typeface="Calibri"/>
                <a:cs typeface="Calibri"/>
              </a:defRPr>
            </a:lvl9pPr>
          </a:lstStyle>
          <a:p>
            <a:pPr>
              <a:defRPr sz="1013" b="1">
                <a:solidFill>
                  <a:srgbClr val="7C4BE8"/>
                </a:solidFill>
                <a:latin typeface="Calibri"/>
                <a:ea typeface="Calibri"/>
                <a:cs typeface="Calibri"/>
              </a:defRPr>
            </a:pPr>
            <a:r>
              <a:rPr sz="1013" b="1">
                <a:solidFill>
                  <a:srgbClr val="7C4BE8"/>
                </a:solidFill>
                <a:latin typeface="Calibri"/>
                <a:ea typeface="Calibri"/>
                <a:cs typeface="Calibri"/>
              </a:rPr>
              <a:t>THE FIX</a:t>
            </a:r>
          </a:p>
        </p:txBody>
      </p:sp>
      <p:sp>
        <p:nvSpPr>
          <p:cNvPr id="29" name="fix-C3">
            <a:extLst>
              <a:ext uri="{FF2B5EF4-FFF2-40B4-BE49-F238E27FC236}">
                <a16:creationId xmlns:a16="http://schemas.microsoft.com/office/drawing/2014/main" id="{79126577-28D8-4051-BF3F-68D7538FA8E4}"/>
              </a:ext>
            </a:extLst>
          </p:cNvPr>
          <p:cNvSpPr>
            <a:spLocks noGrp="1"/>
          </p:cNvSpPr>
          <p:nvPr/>
        </p:nvSpPr>
        <p:spPr>
          <a:xfrm>
            <a:off x="6377940" y="4562475"/>
            <a:ext cx="2286000" cy="657225"/>
          </a:xfrm>
          <a:prstGeom prst="rect">
            <a:avLst/>
          </a:prstGeom>
          <a:noFill/>
          <a:ln w="0">
            <a:noFill/>
            <a:prstDash val="solid"/>
          </a:ln>
        </p:spPr>
        <p:txBody>
          <a:bodyPr wrap="square" lIns="0" tIns="0" rIns="0" bIns="0" anchor="ctr">
            <a:noAutofit/>
          </a:bodyPr>
          <a:lstStyle>
            <a:defPPr>
              <a:defRPr sz="1500" b="0">
                <a:solidFill>
                  <a:srgbClr val="141735"/>
                </a:solidFill>
                <a:latin typeface="Calibri"/>
                <a:ea typeface="Calibri"/>
                <a:cs typeface="Calibri"/>
              </a:defRPr>
            </a:defPPr>
            <a:lvl1pPr>
              <a:defRPr sz="1500" b="0">
                <a:solidFill>
                  <a:srgbClr val="141735"/>
                </a:solidFill>
                <a:latin typeface="Calibri"/>
                <a:ea typeface="Calibri"/>
                <a:cs typeface="Calibri"/>
              </a:defRPr>
            </a:lvl1pPr>
            <a:lvl2pPr>
              <a:defRPr sz="1500" b="0">
                <a:solidFill>
                  <a:srgbClr val="141735"/>
                </a:solidFill>
                <a:latin typeface="Calibri"/>
                <a:ea typeface="Calibri"/>
                <a:cs typeface="Calibri"/>
              </a:defRPr>
            </a:lvl2pPr>
            <a:lvl3pPr>
              <a:defRPr sz="1500" b="0">
                <a:solidFill>
                  <a:srgbClr val="141735"/>
                </a:solidFill>
                <a:latin typeface="Calibri"/>
                <a:ea typeface="Calibri"/>
                <a:cs typeface="Calibri"/>
              </a:defRPr>
            </a:lvl3pPr>
            <a:lvl4pPr>
              <a:defRPr sz="1500" b="0">
                <a:solidFill>
                  <a:srgbClr val="141735"/>
                </a:solidFill>
                <a:latin typeface="Calibri"/>
                <a:ea typeface="Calibri"/>
                <a:cs typeface="Calibri"/>
              </a:defRPr>
            </a:lvl4pPr>
            <a:lvl5pPr>
              <a:defRPr sz="1500" b="0">
                <a:solidFill>
                  <a:srgbClr val="141735"/>
                </a:solidFill>
                <a:latin typeface="Calibri"/>
                <a:ea typeface="Calibri"/>
                <a:cs typeface="Calibri"/>
              </a:defRPr>
            </a:lvl5pPr>
            <a:lvl6pPr>
              <a:defRPr sz="1500" b="0">
                <a:solidFill>
                  <a:srgbClr val="141735"/>
                </a:solidFill>
                <a:latin typeface="Calibri"/>
                <a:ea typeface="Calibri"/>
                <a:cs typeface="Calibri"/>
              </a:defRPr>
            </a:lvl6pPr>
            <a:lvl7pPr>
              <a:defRPr sz="1500" b="0">
                <a:solidFill>
                  <a:srgbClr val="141735"/>
                </a:solidFill>
                <a:latin typeface="Calibri"/>
                <a:ea typeface="Calibri"/>
                <a:cs typeface="Calibri"/>
              </a:defRPr>
            </a:lvl7pPr>
            <a:lvl8pPr>
              <a:defRPr sz="1500" b="0">
                <a:solidFill>
                  <a:srgbClr val="141735"/>
                </a:solidFill>
                <a:latin typeface="Calibri"/>
                <a:ea typeface="Calibri"/>
                <a:cs typeface="Calibri"/>
              </a:defRPr>
            </a:lvl8pPr>
            <a:lvl9pPr>
              <a:defRPr sz="1500" b="0">
                <a:solidFill>
                  <a:srgbClr val="141735"/>
                </a:solidFill>
                <a:latin typeface="Calibri"/>
                <a:ea typeface="Calibri"/>
                <a:cs typeface="Calibri"/>
              </a:defRPr>
            </a:lvl9pPr>
          </a:lstStyle>
          <a:p>
            <a:pPr>
              <a:defRPr sz="1500" b="0">
                <a:solidFill>
                  <a:srgbClr val="141735"/>
                </a:solidFill>
                <a:latin typeface="Calibri"/>
                <a:ea typeface="Calibri"/>
                <a:cs typeface="Calibri"/>
              </a:defRPr>
            </a:pPr>
            <a:r>
              <a:rPr sz="1500" b="0">
                <a:solidFill>
                  <a:srgbClr val="141735"/>
                </a:solidFill>
                <a:latin typeface="Calibri"/>
                <a:ea typeface="Calibri"/>
                <a:cs typeface="Calibri"/>
              </a:rPr>
              <a:t>Recognises garment</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style and colour and</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saves the result.</a:t>
            </a:r>
          </a:p>
        </p:txBody>
      </p:sp>
      <p:sp>
        <p:nvSpPr>
          <p:cNvPr id="30" name="card-C4">
            <a:extLst>
              <a:ext uri="{FF2B5EF4-FFF2-40B4-BE49-F238E27FC236}">
                <a16:creationId xmlns:a16="http://schemas.microsoft.com/office/drawing/2014/main" id="{62EB400C-3F18-420C-9FA8-8468321871AD}"/>
              </a:ext>
            </a:extLst>
          </p:cNvPr>
          <p:cNvSpPr>
            <a:spLocks noGrp="1"/>
          </p:cNvSpPr>
          <p:nvPr/>
        </p:nvSpPr>
        <p:spPr>
          <a:xfrm>
            <a:off x="9029700" y="1695450"/>
            <a:ext cx="2628900" cy="3638550"/>
          </a:xfrm>
          <a:prstGeom prst="roundRect">
            <a:avLst>
              <a:gd name="adj" fmla="val 4348"/>
            </a:avLst>
          </a:prstGeom>
          <a:solidFill>
            <a:srgbClr val="F0F7FD"/>
          </a:solidFill>
          <a:ln w="9525">
            <a:solidFill>
              <a:srgbClr val="D6E7F6"/>
            </a:solidFill>
            <a:prstDash val="solid"/>
          </a:ln>
        </p:spPr>
        <p:txBody>
          <a:bodyPr/>
          <a:lstStyle/>
          <a:p>
            <a:endParaRPr lang="en-US"/>
          </a:p>
        </p:txBody>
      </p:sp>
      <p:sp>
        <p:nvSpPr>
          <p:cNvPr id="31" name="stage-C4">
            <a:extLst>
              <a:ext uri="{FF2B5EF4-FFF2-40B4-BE49-F238E27FC236}">
                <a16:creationId xmlns:a16="http://schemas.microsoft.com/office/drawing/2014/main" id="{C0678619-677C-4767-A3C6-C106C1C53323}"/>
              </a:ext>
            </a:extLst>
          </p:cNvPr>
          <p:cNvSpPr>
            <a:spLocks noGrp="1"/>
          </p:cNvSpPr>
          <p:nvPr/>
        </p:nvSpPr>
        <p:spPr>
          <a:xfrm>
            <a:off x="9220200" y="1876425"/>
            <a:ext cx="2247900" cy="190500"/>
          </a:xfrm>
          <a:prstGeom prst="rect">
            <a:avLst/>
          </a:prstGeom>
          <a:noFill/>
          <a:ln w="0">
            <a:noFill/>
            <a:prstDash val="solid"/>
          </a:ln>
        </p:spPr>
        <p:txBody>
          <a:bodyPr wrap="square" lIns="0" tIns="0" rIns="0" bIns="0" anchor="ctr">
            <a:noAutofit/>
          </a:bodyPr>
          <a:lstStyle>
            <a:defPPr>
              <a:defRPr sz="1050" b="1">
                <a:solidFill>
                  <a:srgbClr val="1C83DC"/>
                </a:solidFill>
                <a:latin typeface="Calibri"/>
                <a:ea typeface="Calibri"/>
                <a:cs typeface="Calibri"/>
              </a:defRPr>
            </a:defPPr>
            <a:lvl1pPr>
              <a:defRPr sz="1050" b="1">
                <a:solidFill>
                  <a:srgbClr val="1C83DC"/>
                </a:solidFill>
                <a:latin typeface="Calibri"/>
                <a:ea typeface="Calibri"/>
                <a:cs typeface="Calibri"/>
              </a:defRPr>
            </a:lvl1pPr>
            <a:lvl2pPr>
              <a:defRPr sz="1050" b="1">
                <a:solidFill>
                  <a:srgbClr val="1C83DC"/>
                </a:solidFill>
                <a:latin typeface="Calibri"/>
                <a:ea typeface="Calibri"/>
                <a:cs typeface="Calibri"/>
              </a:defRPr>
            </a:lvl2pPr>
            <a:lvl3pPr>
              <a:defRPr sz="1050" b="1">
                <a:solidFill>
                  <a:srgbClr val="1C83DC"/>
                </a:solidFill>
                <a:latin typeface="Calibri"/>
                <a:ea typeface="Calibri"/>
                <a:cs typeface="Calibri"/>
              </a:defRPr>
            </a:lvl3pPr>
            <a:lvl4pPr>
              <a:defRPr sz="1050" b="1">
                <a:solidFill>
                  <a:srgbClr val="1C83DC"/>
                </a:solidFill>
                <a:latin typeface="Calibri"/>
                <a:ea typeface="Calibri"/>
                <a:cs typeface="Calibri"/>
              </a:defRPr>
            </a:lvl4pPr>
            <a:lvl5pPr>
              <a:defRPr sz="1050" b="1">
                <a:solidFill>
                  <a:srgbClr val="1C83DC"/>
                </a:solidFill>
                <a:latin typeface="Calibri"/>
                <a:ea typeface="Calibri"/>
                <a:cs typeface="Calibri"/>
              </a:defRPr>
            </a:lvl5pPr>
            <a:lvl6pPr>
              <a:defRPr sz="1050" b="1">
                <a:solidFill>
                  <a:srgbClr val="1C83DC"/>
                </a:solidFill>
                <a:latin typeface="Calibri"/>
                <a:ea typeface="Calibri"/>
                <a:cs typeface="Calibri"/>
              </a:defRPr>
            </a:lvl6pPr>
            <a:lvl7pPr>
              <a:defRPr sz="1050" b="1">
                <a:solidFill>
                  <a:srgbClr val="1C83DC"/>
                </a:solidFill>
                <a:latin typeface="Calibri"/>
                <a:ea typeface="Calibri"/>
                <a:cs typeface="Calibri"/>
              </a:defRPr>
            </a:lvl7pPr>
            <a:lvl8pPr>
              <a:defRPr sz="1050" b="1">
                <a:solidFill>
                  <a:srgbClr val="1C83DC"/>
                </a:solidFill>
                <a:latin typeface="Calibri"/>
                <a:ea typeface="Calibri"/>
                <a:cs typeface="Calibri"/>
              </a:defRPr>
            </a:lvl8pPr>
            <a:lvl9pPr>
              <a:defRPr sz="1050" b="1">
                <a:solidFill>
                  <a:srgbClr val="1C83DC"/>
                </a:solidFill>
                <a:latin typeface="Calibri"/>
                <a:ea typeface="Calibri"/>
                <a:cs typeface="Calibri"/>
              </a:defRPr>
            </a:lvl9pPr>
          </a:lstStyle>
          <a:p>
            <a:pPr>
              <a:defRPr sz="1050" b="1">
                <a:solidFill>
                  <a:srgbClr val="1C83DC"/>
                </a:solidFill>
                <a:latin typeface="Calibri"/>
                <a:ea typeface="Calibri"/>
                <a:cs typeface="Calibri"/>
              </a:defRPr>
            </a:pPr>
            <a:r>
              <a:rPr sz="1050" b="1">
                <a:solidFill>
                  <a:srgbClr val="1C83DC"/>
                </a:solidFill>
                <a:latin typeface="Calibri"/>
                <a:ea typeface="Calibri"/>
                <a:cs typeface="Calibri"/>
              </a:rPr>
              <a:t>PACKING: SIZE</a:t>
            </a:r>
          </a:p>
        </p:txBody>
      </p:sp>
      <p:sp>
        <p:nvSpPr>
          <p:cNvPr id="32" name="code-C4">
            <a:extLst>
              <a:ext uri="{FF2B5EF4-FFF2-40B4-BE49-F238E27FC236}">
                <a16:creationId xmlns:a16="http://schemas.microsoft.com/office/drawing/2014/main" id="{C170D2AE-4792-4D8A-B9AE-13395E9D43D0}"/>
              </a:ext>
            </a:extLst>
          </p:cNvPr>
          <p:cNvSpPr>
            <a:spLocks noGrp="1"/>
          </p:cNvSpPr>
          <p:nvPr/>
        </p:nvSpPr>
        <p:spPr>
          <a:xfrm>
            <a:off x="9220200" y="2190750"/>
            <a:ext cx="409575" cy="523875"/>
          </a:xfrm>
          <a:prstGeom prst="rect">
            <a:avLst/>
          </a:prstGeom>
          <a:noFill/>
          <a:ln w="0">
            <a:noFill/>
            <a:prstDash val="solid"/>
          </a:ln>
        </p:spPr>
        <p:txBody>
          <a:bodyPr wrap="square" lIns="0" tIns="0" rIns="0" bIns="0" anchor="ctr">
            <a:noAutofit/>
          </a:bodyPr>
          <a:lstStyle>
            <a:defPPr>
              <a:defRPr sz="2175" b="1">
                <a:solidFill>
                  <a:srgbClr val="1C83DC"/>
                </a:solidFill>
                <a:latin typeface="Calibri"/>
                <a:ea typeface="Calibri"/>
                <a:cs typeface="Calibri"/>
              </a:defRPr>
            </a:defPPr>
            <a:lvl1pPr>
              <a:defRPr sz="2175" b="1">
                <a:solidFill>
                  <a:srgbClr val="1C83DC"/>
                </a:solidFill>
                <a:latin typeface="Calibri"/>
                <a:ea typeface="Calibri"/>
                <a:cs typeface="Calibri"/>
              </a:defRPr>
            </a:lvl1pPr>
            <a:lvl2pPr>
              <a:defRPr sz="2175" b="1">
                <a:solidFill>
                  <a:srgbClr val="1C83DC"/>
                </a:solidFill>
                <a:latin typeface="Calibri"/>
                <a:ea typeface="Calibri"/>
                <a:cs typeface="Calibri"/>
              </a:defRPr>
            </a:lvl2pPr>
            <a:lvl3pPr>
              <a:defRPr sz="2175" b="1">
                <a:solidFill>
                  <a:srgbClr val="1C83DC"/>
                </a:solidFill>
                <a:latin typeface="Calibri"/>
                <a:ea typeface="Calibri"/>
                <a:cs typeface="Calibri"/>
              </a:defRPr>
            </a:lvl3pPr>
            <a:lvl4pPr>
              <a:defRPr sz="2175" b="1">
                <a:solidFill>
                  <a:srgbClr val="1C83DC"/>
                </a:solidFill>
                <a:latin typeface="Calibri"/>
                <a:ea typeface="Calibri"/>
                <a:cs typeface="Calibri"/>
              </a:defRPr>
            </a:lvl4pPr>
            <a:lvl5pPr>
              <a:defRPr sz="2175" b="1">
                <a:solidFill>
                  <a:srgbClr val="1C83DC"/>
                </a:solidFill>
                <a:latin typeface="Calibri"/>
                <a:ea typeface="Calibri"/>
                <a:cs typeface="Calibri"/>
              </a:defRPr>
            </a:lvl5pPr>
            <a:lvl6pPr>
              <a:defRPr sz="2175" b="1">
                <a:solidFill>
                  <a:srgbClr val="1C83DC"/>
                </a:solidFill>
                <a:latin typeface="Calibri"/>
                <a:ea typeface="Calibri"/>
                <a:cs typeface="Calibri"/>
              </a:defRPr>
            </a:lvl6pPr>
            <a:lvl7pPr>
              <a:defRPr sz="2175" b="1">
                <a:solidFill>
                  <a:srgbClr val="1C83DC"/>
                </a:solidFill>
                <a:latin typeface="Calibri"/>
                <a:ea typeface="Calibri"/>
                <a:cs typeface="Calibri"/>
              </a:defRPr>
            </a:lvl7pPr>
            <a:lvl8pPr>
              <a:defRPr sz="2175" b="1">
                <a:solidFill>
                  <a:srgbClr val="1C83DC"/>
                </a:solidFill>
                <a:latin typeface="Calibri"/>
                <a:ea typeface="Calibri"/>
                <a:cs typeface="Calibri"/>
              </a:defRPr>
            </a:lvl8pPr>
            <a:lvl9pPr>
              <a:defRPr sz="2175" b="1">
                <a:solidFill>
                  <a:srgbClr val="1C83DC"/>
                </a:solidFill>
                <a:latin typeface="Calibri"/>
                <a:ea typeface="Calibri"/>
                <a:cs typeface="Calibri"/>
              </a:defRPr>
            </a:lvl9pPr>
          </a:lstStyle>
          <a:p>
            <a:pPr>
              <a:defRPr sz="2175" b="1">
                <a:solidFill>
                  <a:srgbClr val="1C83DC"/>
                </a:solidFill>
                <a:latin typeface="Calibri"/>
                <a:ea typeface="Calibri"/>
                <a:cs typeface="Calibri"/>
              </a:defRPr>
            </a:pPr>
            <a:r>
              <a:rPr sz="2175" b="1">
                <a:solidFill>
                  <a:srgbClr val="1C83DC"/>
                </a:solidFill>
                <a:latin typeface="Calibri"/>
                <a:ea typeface="Calibri"/>
                <a:cs typeface="Calibri"/>
              </a:rPr>
              <a:t>C4</a:t>
            </a:r>
          </a:p>
        </p:txBody>
      </p:sp>
      <p:sp>
        <p:nvSpPr>
          <p:cNvPr id="33" name="component-C4">
            <a:extLst>
              <a:ext uri="{FF2B5EF4-FFF2-40B4-BE49-F238E27FC236}">
                <a16:creationId xmlns:a16="http://schemas.microsoft.com/office/drawing/2014/main" id="{0F4FB73D-A1B6-4A07-B0FA-955B8BBCB286}"/>
              </a:ext>
            </a:extLst>
          </p:cNvPr>
          <p:cNvSpPr>
            <a:spLocks noGrp="1"/>
          </p:cNvSpPr>
          <p:nvPr/>
        </p:nvSpPr>
        <p:spPr>
          <a:xfrm>
            <a:off x="9715500" y="2181225"/>
            <a:ext cx="1771650" cy="581025"/>
          </a:xfrm>
          <a:prstGeom prst="rect">
            <a:avLst/>
          </a:prstGeom>
          <a:noFill/>
          <a:ln w="0">
            <a:noFill/>
            <a:prstDash val="solid"/>
          </a:ln>
        </p:spPr>
        <p:txBody>
          <a:bodyPr wrap="square" lIns="0" tIns="0" rIns="0" bIns="0" anchor="ctr">
            <a:noAutofit/>
          </a:bodyPr>
          <a:lstStyle>
            <a:defPPr>
              <a:defRPr sz="1725" b="1">
                <a:solidFill>
                  <a:srgbClr val="141735"/>
                </a:solidFill>
                <a:latin typeface="Calibri"/>
                <a:ea typeface="Calibri"/>
                <a:cs typeface="Calibri"/>
              </a:defRPr>
            </a:defPPr>
            <a:lvl1pPr>
              <a:defRPr sz="1725" b="1">
                <a:solidFill>
                  <a:srgbClr val="141735"/>
                </a:solidFill>
                <a:latin typeface="Calibri"/>
                <a:ea typeface="Calibri"/>
                <a:cs typeface="Calibri"/>
              </a:defRPr>
            </a:lvl1pPr>
            <a:lvl2pPr>
              <a:defRPr sz="1725" b="1">
                <a:solidFill>
                  <a:srgbClr val="141735"/>
                </a:solidFill>
                <a:latin typeface="Calibri"/>
                <a:ea typeface="Calibri"/>
                <a:cs typeface="Calibri"/>
              </a:defRPr>
            </a:lvl2pPr>
            <a:lvl3pPr>
              <a:defRPr sz="1725" b="1">
                <a:solidFill>
                  <a:srgbClr val="141735"/>
                </a:solidFill>
                <a:latin typeface="Calibri"/>
                <a:ea typeface="Calibri"/>
                <a:cs typeface="Calibri"/>
              </a:defRPr>
            </a:lvl3pPr>
            <a:lvl4pPr>
              <a:defRPr sz="1725" b="1">
                <a:solidFill>
                  <a:srgbClr val="141735"/>
                </a:solidFill>
                <a:latin typeface="Calibri"/>
                <a:ea typeface="Calibri"/>
                <a:cs typeface="Calibri"/>
              </a:defRPr>
            </a:lvl4pPr>
            <a:lvl5pPr>
              <a:defRPr sz="1725" b="1">
                <a:solidFill>
                  <a:srgbClr val="141735"/>
                </a:solidFill>
                <a:latin typeface="Calibri"/>
                <a:ea typeface="Calibri"/>
                <a:cs typeface="Calibri"/>
              </a:defRPr>
            </a:lvl5pPr>
            <a:lvl6pPr>
              <a:defRPr sz="1725" b="1">
                <a:solidFill>
                  <a:srgbClr val="141735"/>
                </a:solidFill>
                <a:latin typeface="Calibri"/>
                <a:ea typeface="Calibri"/>
                <a:cs typeface="Calibri"/>
              </a:defRPr>
            </a:lvl6pPr>
            <a:lvl7pPr>
              <a:defRPr sz="1725" b="1">
                <a:solidFill>
                  <a:srgbClr val="141735"/>
                </a:solidFill>
                <a:latin typeface="Calibri"/>
                <a:ea typeface="Calibri"/>
                <a:cs typeface="Calibri"/>
              </a:defRPr>
            </a:lvl7pPr>
            <a:lvl8pPr>
              <a:defRPr sz="1725" b="1">
                <a:solidFill>
                  <a:srgbClr val="141735"/>
                </a:solidFill>
                <a:latin typeface="Calibri"/>
                <a:ea typeface="Calibri"/>
                <a:cs typeface="Calibri"/>
              </a:defRPr>
            </a:lvl8pPr>
            <a:lvl9pPr>
              <a:defRPr sz="1725" b="1">
                <a:solidFill>
                  <a:srgbClr val="141735"/>
                </a:solidFill>
                <a:latin typeface="Calibri"/>
                <a:ea typeface="Calibri"/>
                <a:cs typeface="Calibri"/>
              </a:defRPr>
            </a:lvl9pPr>
          </a:lstStyle>
          <a:p>
            <a:pPr>
              <a:defRPr sz="1725" b="1">
                <a:solidFill>
                  <a:srgbClr val="141735"/>
                </a:solidFill>
                <a:latin typeface="Calibri"/>
                <a:ea typeface="Calibri"/>
                <a:cs typeface="Calibri"/>
              </a:defRPr>
            </a:pPr>
            <a:r>
              <a:rPr sz="1725" b="1">
                <a:solidFill>
                  <a:srgbClr val="141735"/>
                </a:solidFill>
                <a:latin typeface="Calibri"/>
                <a:ea typeface="Calibri"/>
                <a:cs typeface="Calibri"/>
              </a:rPr>
              <a:t>Size</a:t>
            </a:r>
          </a:p>
          <a:p>
            <a:pPr>
              <a:defRPr sz="1725" b="1">
                <a:solidFill>
                  <a:srgbClr val="141735"/>
                </a:solidFill>
                <a:latin typeface="Calibri"/>
                <a:ea typeface="Calibri"/>
                <a:cs typeface="Calibri"/>
              </a:defRPr>
            </a:pPr>
            <a:r>
              <a:rPr sz="1725" b="1">
                <a:solidFill>
                  <a:srgbClr val="141735"/>
                </a:solidFill>
                <a:latin typeface="Calibri"/>
                <a:ea typeface="Calibri"/>
                <a:cs typeface="Calibri"/>
              </a:rPr>
              <a:t>Detection</a:t>
            </a:r>
          </a:p>
        </p:txBody>
      </p:sp>
      <p:sp>
        <p:nvSpPr>
          <p:cNvPr id="34" name="problem-label-C4">
            <a:extLst>
              <a:ext uri="{FF2B5EF4-FFF2-40B4-BE49-F238E27FC236}">
                <a16:creationId xmlns:a16="http://schemas.microsoft.com/office/drawing/2014/main" id="{73ECDFC9-5119-4C6A-8B11-992230842494}"/>
              </a:ext>
            </a:extLst>
          </p:cNvPr>
          <p:cNvSpPr>
            <a:spLocks noGrp="1"/>
          </p:cNvSpPr>
          <p:nvPr/>
        </p:nvSpPr>
        <p:spPr>
          <a:xfrm>
            <a:off x="9220200" y="2943225"/>
            <a:ext cx="2247900" cy="190500"/>
          </a:xfrm>
          <a:prstGeom prst="rect">
            <a:avLst/>
          </a:prstGeom>
          <a:noFill/>
          <a:ln w="0">
            <a:noFill/>
            <a:prstDash val="solid"/>
          </a:ln>
        </p:spPr>
        <p:txBody>
          <a:bodyPr wrap="square" lIns="0" tIns="0" rIns="0" bIns="0" anchor="ctr">
            <a:noAutofit/>
          </a:bodyPr>
          <a:lstStyle>
            <a:defPPr>
              <a:defRPr sz="1013" b="1">
                <a:solidFill>
                  <a:srgbClr val="72778F"/>
                </a:solidFill>
                <a:latin typeface="Calibri"/>
                <a:ea typeface="Calibri"/>
                <a:cs typeface="Calibri"/>
              </a:defRPr>
            </a:defPPr>
            <a:lvl1pPr>
              <a:defRPr sz="1013" b="1">
                <a:solidFill>
                  <a:srgbClr val="72778F"/>
                </a:solidFill>
                <a:latin typeface="Calibri"/>
                <a:ea typeface="Calibri"/>
                <a:cs typeface="Calibri"/>
              </a:defRPr>
            </a:lvl1pPr>
            <a:lvl2pPr>
              <a:defRPr sz="1013" b="1">
                <a:solidFill>
                  <a:srgbClr val="72778F"/>
                </a:solidFill>
                <a:latin typeface="Calibri"/>
                <a:ea typeface="Calibri"/>
                <a:cs typeface="Calibri"/>
              </a:defRPr>
            </a:lvl2pPr>
            <a:lvl3pPr>
              <a:defRPr sz="1013" b="1">
                <a:solidFill>
                  <a:srgbClr val="72778F"/>
                </a:solidFill>
                <a:latin typeface="Calibri"/>
                <a:ea typeface="Calibri"/>
                <a:cs typeface="Calibri"/>
              </a:defRPr>
            </a:lvl3pPr>
            <a:lvl4pPr>
              <a:defRPr sz="1013" b="1">
                <a:solidFill>
                  <a:srgbClr val="72778F"/>
                </a:solidFill>
                <a:latin typeface="Calibri"/>
                <a:ea typeface="Calibri"/>
                <a:cs typeface="Calibri"/>
              </a:defRPr>
            </a:lvl4pPr>
            <a:lvl5pPr>
              <a:defRPr sz="1013" b="1">
                <a:solidFill>
                  <a:srgbClr val="72778F"/>
                </a:solidFill>
                <a:latin typeface="Calibri"/>
                <a:ea typeface="Calibri"/>
                <a:cs typeface="Calibri"/>
              </a:defRPr>
            </a:lvl5pPr>
            <a:lvl6pPr>
              <a:defRPr sz="1013" b="1">
                <a:solidFill>
                  <a:srgbClr val="72778F"/>
                </a:solidFill>
                <a:latin typeface="Calibri"/>
                <a:ea typeface="Calibri"/>
                <a:cs typeface="Calibri"/>
              </a:defRPr>
            </a:lvl6pPr>
            <a:lvl7pPr>
              <a:defRPr sz="1013" b="1">
                <a:solidFill>
                  <a:srgbClr val="72778F"/>
                </a:solidFill>
                <a:latin typeface="Calibri"/>
                <a:ea typeface="Calibri"/>
                <a:cs typeface="Calibri"/>
              </a:defRPr>
            </a:lvl7pPr>
            <a:lvl8pPr>
              <a:defRPr sz="1013" b="1">
                <a:solidFill>
                  <a:srgbClr val="72778F"/>
                </a:solidFill>
                <a:latin typeface="Calibri"/>
                <a:ea typeface="Calibri"/>
                <a:cs typeface="Calibri"/>
              </a:defRPr>
            </a:lvl8pPr>
            <a:lvl9pPr>
              <a:defRPr sz="1013" b="1">
                <a:solidFill>
                  <a:srgbClr val="72778F"/>
                </a:solidFill>
                <a:latin typeface="Calibri"/>
                <a:ea typeface="Calibri"/>
                <a:cs typeface="Calibri"/>
              </a:defRPr>
            </a:lvl9pPr>
          </a:lstStyle>
          <a:p>
            <a:pPr>
              <a:defRPr sz="1013" b="1">
                <a:solidFill>
                  <a:srgbClr val="72778F"/>
                </a:solidFill>
                <a:latin typeface="Calibri"/>
                <a:ea typeface="Calibri"/>
                <a:cs typeface="Calibri"/>
              </a:defRPr>
            </a:pPr>
            <a:r>
              <a:rPr sz="1013" b="1">
                <a:solidFill>
                  <a:srgbClr val="72778F"/>
                </a:solidFill>
                <a:latin typeface="Calibri"/>
                <a:ea typeface="Calibri"/>
                <a:cs typeface="Calibri"/>
              </a:rPr>
              <a:t>THE PROBLEM</a:t>
            </a:r>
          </a:p>
        </p:txBody>
      </p:sp>
      <p:sp>
        <p:nvSpPr>
          <p:cNvPr id="35" name="problem-C4">
            <a:extLst>
              <a:ext uri="{FF2B5EF4-FFF2-40B4-BE49-F238E27FC236}">
                <a16:creationId xmlns:a16="http://schemas.microsoft.com/office/drawing/2014/main" id="{945E5253-FA67-470A-B2AC-2E9028959C9C}"/>
              </a:ext>
            </a:extLst>
          </p:cNvPr>
          <p:cNvSpPr>
            <a:spLocks noGrp="1"/>
          </p:cNvSpPr>
          <p:nvPr/>
        </p:nvSpPr>
        <p:spPr>
          <a:xfrm>
            <a:off x="9220200" y="3209925"/>
            <a:ext cx="2286000" cy="800100"/>
          </a:xfrm>
          <a:prstGeom prst="rect">
            <a:avLst/>
          </a:prstGeom>
          <a:noFill/>
          <a:ln w="0">
            <a:noFill/>
            <a:prstDash val="solid"/>
          </a:ln>
        </p:spPr>
        <p:txBody>
          <a:bodyPr wrap="square" lIns="0" tIns="0" rIns="0" bIns="0" anchor="ctr">
            <a:noAutofit/>
          </a:bodyPr>
          <a:lstStyle>
            <a:defPPr>
              <a:defRPr sz="1500" b="0">
                <a:solidFill>
                  <a:srgbClr val="141735"/>
                </a:solidFill>
                <a:latin typeface="Calibri"/>
                <a:ea typeface="Calibri"/>
                <a:cs typeface="Calibri"/>
              </a:defRPr>
            </a:defPPr>
            <a:lvl1pPr>
              <a:defRPr sz="1500" b="0">
                <a:solidFill>
                  <a:srgbClr val="141735"/>
                </a:solidFill>
                <a:latin typeface="Calibri"/>
                <a:ea typeface="Calibri"/>
                <a:cs typeface="Calibri"/>
              </a:defRPr>
            </a:lvl1pPr>
            <a:lvl2pPr>
              <a:defRPr sz="1500" b="0">
                <a:solidFill>
                  <a:srgbClr val="141735"/>
                </a:solidFill>
                <a:latin typeface="Calibri"/>
                <a:ea typeface="Calibri"/>
                <a:cs typeface="Calibri"/>
              </a:defRPr>
            </a:lvl2pPr>
            <a:lvl3pPr>
              <a:defRPr sz="1500" b="0">
                <a:solidFill>
                  <a:srgbClr val="141735"/>
                </a:solidFill>
                <a:latin typeface="Calibri"/>
                <a:ea typeface="Calibri"/>
                <a:cs typeface="Calibri"/>
              </a:defRPr>
            </a:lvl3pPr>
            <a:lvl4pPr>
              <a:defRPr sz="1500" b="0">
                <a:solidFill>
                  <a:srgbClr val="141735"/>
                </a:solidFill>
                <a:latin typeface="Calibri"/>
                <a:ea typeface="Calibri"/>
                <a:cs typeface="Calibri"/>
              </a:defRPr>
            </a:lvl4pPr>
            <a:lvl5pPr>
              <a:defRPr sz="1500" b="0">
                <a:solidFill>
                  <a:srgbClr val="141735"/>
                </a:solidFill>
                <a:latin typeface="Calibri"/>
                <a:ea typeface="Calibri"/>
                <a:cs typeface="Calibri"/>
              </a:defRPr>
            </a:lvl5pPr>
            <a:lvl6pPr>
              <a:defRPr sz="1500" b="0">
                <a:solidFill>
                  <a:srgbClr val="141735"/>
                </a:solidFill>
                <a:latin typeface="Calibri"/>
                <a:ea typeface="Calibri"/>
                <a:cs typeface="Calibri"/>
              </a:defRPr>
            </a:lvl6pPr>
            <a:lvl7pPr>
              <a:defRPr sz="1500" b="0">
                <a:solidFill>
                  <a:srgbClr val="141735"/>
                </a:solidFill>
                <a:latin typeface="Calibri"/>
                <a:ea typeface="Calibri"/>
                <a:cs typeface="Calibri"/>
              </a:defRPr>
            </a:lvl7pPr>
            <a:lvl8pPr>
              <a:defRPr sz="1500" b="0">
                <a:solidFill>
                  <a:srgbClr val="141735"/>
                </a:solidFill>
                <a:latin typeface="Calibri"/>
                <a:ea typeface="Calibri"/>
                <a:cs typeface="Calibri"/>
              </a:defRPr>
            </a:lvl8pPr>
            <a:lvl9pPr>
              <a:defRPr sz="1500" b="0">
                <a:solidFill>
                  <a:srgbClr val="141735"/>
                </a:solidFill>
                <a:latin typeface="Calibri"/>
                <a:ea typeface="Calibri"/>
                <a:cs typeface="Calibri"/>
              </a:defRPr>
            </a:lvl9pPr>
          </a:lstStyle>
          <a:p>
            <a:pPr>
              <a:defRPr sz="1500" b="0">
                <a:solidFill>
                  <a:srgbClr val="141735"/>
                </a:solidFill>
                <a:latin typeface="Calibri"/>
                <a:ea typeface="Calibri"/>
                <a:cs typeface="Calibri"/>
              </a:defRPr>
            </a:pPr>
            <a:r>
              <a:rPr sz="1500" b="0">
                <a:solidFill>
                  <a:srgbClr val="141735"/>
                </a:solidFill>
                <a:latin typeface="Calibri"/>
                <a:ea typeface="Calibri"/>
                <a:cs typeface="Calibri"/>
              </a:rPr>
              <a:t>Each garment needs</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a manual dimension</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and size check.</a:t>
            </a:r>
          </a:p>
        </p:txBody>
      </p:sp>
      <p:sp>
        <p:nvSpPr>
          <p:cNvPr id="36" name="divider-C4">
            <a:extLst>
              <a:ext uri="{FF2B5EF4-FFF2-40B4-BE49-F238E27FC236}">
                <a16:creationId xmlns:a16="http://schemas.microsoft.com/office/drawing/2014/main" id="{7F3E29FC-0F31-4CA3-81FA-F768ADB817B8}"/>
              </a:ext>
            </a:extLst>
          </p:cNvPr>
          <p:cNvSpPr>
            <a:spLocks noGrp="1"/>
          </p:cNvSpPr>
          <p:nvPr/>
        </p:nvSpPr>
        <p:spPr>
          <a:xfrm>
            <a:off x="9220200" y="4114800"/>
            <a:ext cx="2247900" cy="9525"/>
          </a:xfrm>
          <a:prstGeom prst="rect">
            <a:avLst/>
          </a:prstGeom>
          <a:solidFill>
            <a:srgbClr val="D6E7F6"/>
          </a:solidFill>
          <a:ln w="0">
            <a:noFill/>
            <a:prstDash val="solid"/>
          </a:ln>
        </p:spPr>
        <p:txBody>
          <a:bodyPr/>
          <a:lstStyle/>
          <a:p>
            <a:endParaRPr lang="en-US"/>
          </a:p>
        </p:txBody>
      </p:sp>
      <p:sp>
        <p:nvSpPr>
          <p:cNvPr id="37" name="fix-label-C4">
            <a:extLst>
              <a:ext uri="{FF2B5EF4-FFF2-40B4-BE49-F238E27FC236}">
                <a16:creationId xmlns:a16="http://schemas.microsoft.com/office/drawing/2014/main" id="{9A828103-25E1-4CE9-BE56-538CA535BF1B}"/>
              </a:ext>
            </a:extLst>
          </p:cNvPr>
          <p:cNvSpPr>
            <a:spLocks noGrp="1"/>
          </p:cNvSpPr>
          <p:nvPr/>
        </p:nvSpPr>
        <p:spPr>
          <a:xfrm>
            <a:off x="9220200" y="4276725"/>
            <a:ext cx="2247900" cy="190500"/>
          </a:xfrm>
          <a:prstGeom prst="rect">
            <a:avLst/>
          </a:prstGeom>
          <a:noFill/>
          <a:ln w="0">
            <a:noFill/>
            <a:prstDash val="solid"/>
          </a:ln>
        </p:spPr>
        <p:txBody>
          <a:bodyPr wrap="square" lIns="0" tIns="0" rIns="0" bIns="0" anchor="ctr">
            <a:noAutofit/>
          </a:bodyPr>
          <a:lstStyle>
            <a:defPPr>
              <a:defRPr sz="1013" b="1">
                <a:solidFill>
                  <a:srgbClr val="1C83DC"/>
                </a:solidFill>
                <a:latin typeface="Calibri"/>
                <a:ea typeface="Calibri"/>
                <a:cs typeface="Calibri"/>
              </a:defRPr>
            </a:defPPr>
            <a:lvl1pPr>
              <a:defRPr sz="1013" b="1">
                <a:solidFill>
                  <a:srgbClr val="1C83DC"/>
                </a:solidFill>
                <a:latin typeface="Calibri"/>
                <a:ea typeface="Calibri"/>
                <a:cs typeface="Calibri"/>
              </a:defRPr>
            </a:lvl1pPr>
            <a:lvl2pPr>
              <a:defRPr sz="1013" b="1">
                <a:solidFill>
                  <a:srgbClr val="1C83DC"/>
                </a:solidFill>
                <a:latin typeface="Calibri"/>
                <a:ea typeface="Calibri"/>
                <a:cs typeface="Calibri"/>
              </a:defRPr>
            </a:lvl2pPr>
            <a:lvl3pPr>
              <a:defRPr sz="1013" b="1">
                <a:solidFill>
                  <a:srgbClr val="1C83DC"/>
                </a:solidFill>
                <a:latin typeface="Calibri"/>
                <a:ea typeface="Calibri"/>
                <a:cs typeface="Calibri"/>
              </a:defRPr>
            </a:lvl3pPr>
            <a:lvl4pPr>
              <a:defRPr sz="1013" b="1">
                <a:solidFill>
                  <a:srgbClr val="1C83DC"/>
                </a:solidFill>
                <a:latin typeface="Calibri"/>
                <a:ea typeface="Calibri"/>
                <a:cs typeface="Calibri"/>
              </a:defRPr>
            </a:lvl4pPr>
            <a:lvl5pPr>
              <a:defRPr sz="1013" b="1">
                <a:solidFill>
                  <a:srgbClr val="1C83DC"/>
                </a:solidFill>
                <a:latin typeface="Calibri"/>
                <a:ea typeface="Calibri"/>
                <a:cs typeface="Calibri"/>
              </a:defRPr>
            </a:lvl5pPr>
            <a:lvl6pPr>
              <a:defRPr sz="1013" b="1">
                <a:solidFill>
                  <a:srgbClr val="1C83DC"/>
                </a:solidFill>
                <a:latin typeface="Calibri"/>
                <a:ea typeface="Calibri"/>
                <a:cs typeface="Calibri"/>
              </a:defRPr>
            </a:lvl6pPr>
            <a:lvl7pPr>
              <a:defRPr sz="1013" b="1">
                <a:solidFill>
                  <a:srgbClr val="1C83DC"/>
                </a:solidFill>
                <a:latin typeface="Calibri"/>
                <a:ea typeface="Calibri"/>
                <a:cs typeface="Calibri"/>
              </a:defRPr>
            </a:lvl7pPr>
            <a:lvl8pPr>
              <a:defRPr sz="1013" b="1">
                <a:solidFill>
                  <a:srgbClr val="1C83DC"/>
                </a:solidFill>
                <a:latin typeface="Calibri"/>
                <a:ea typeface="Calibri"/>
                <a:cs typeface="Calibri"/>
              </a:defRPr>
            </a:lvl8pPr>
            <a:lvl9pPr>
              <a:defRPr sz="1013" b="1">
                <a:solidFill>
                  <a:srgbClr val="1C83DC"/>
                </a:solidFill>
                <a:latin typeface="Calibri"/>
                <a:ea typeface="Calibri"/>
                <a:cs typeface="Calibri"/>
              </a:defRPr>
            </a:lvl9pPr>
          </a:lstStyle>
          <a:p>
            <a:pPr>
              <a:defRPr sz="1013" b="1">
                <a:solidFill>
                  <a:srgbClr val="1C83DC"/>
                </a:solidFill>
                <a:latin typeface="Calibri"/>
                <a:ea typeface="Calibri"/>
                <a:cs typeface="Calibri"/>
              </a:defRPr>
            </a:pPr>
            <a:r>
              <a:rPr sz="1013" b="1">
                <a:solidFill>
                  <a:srgbClr val="1C83DC"/>
                </a:solidFill>
                <a:latin typeface="Calibri"/>
                <a:ea typeface="Calibri"/>
                <a:cs typeface="Calibri"/>
              </a:rPr>
              <a:t>THE FIX</a:t>
            </a:r>
          </a:p>
        </p:txBody>
      </p:sp>
      <p:sp>
        <p:nvSpPr>
          <p:cNvPr id="38" name="fix-C4">
            <a:extLst>
              <a:ext uri="{FF2B5EF4-FFF2-40B4-BE49-F238E27FC236}">
                <a16:creationId xmlns:a16="http://schemas.microsoft.com/office/drawing/2014/main" id="{9AB72B86-316F-48D4-9DD7-F87ED9BB0BB1}"/>
              </a:ext>
            </a:extLst>
          </p:cNvPr>
          <p:cNvSpPr>
            <a:spLocks noGrp="1"/>
          </p:cNvSpPr>
          <p:nvPr/>
        </p:nvSpPr>
        <p:spPr>
          <a:xfrm>
            <a:off x="9220200" y="4562475"/>
            <a:ext cx="2286000" cy="657225"/>
          </a:xfrm>
          <a:prstGeom prst="rect">
            <a:avLst/>
          </a:prstGeom>
          <a:noFill/>
          <a:ln w="0">
            <a:noFill/>
            <a:prstDash val="solid"/>
          </a:ln>
        </p:spPr>
        <p:txBody>
          <a:bodyPr wrap="square" lIns="0" tIns="0" rIns="0" bIns="0" anchor="ctr">
            <a:noAutofit/>
          </a:bodyPr>
          <a:lstStyle>
            <a:defPPr>
              <a:defRPr sz="1500" b="0">
                <a:solidFill>
                  <a:srgbClr val="141735"/>
                </a:solidFill>
                <a:latin typeface="Calibri"/>
                <a:ea typeface="Calibri"/>
                <a:cs typeface="Calibri"/>
              </a:defRPr>
            </a:defPPr>
            <a:lvl1pPr>
              <a:defRPr sz="1500" b="0">
                <a:solidFill>
                  <a:srgbClr val="141735"/>
                </a:solidFill>
                <a:latin typeface="Calibri"/>
                <a:ea typeface="Calibri"/>
                <a:cs typeface="Calibri"/>
              </a:defRPr>
            </a:lvl1pPr>
            <a:lvl2pPr>
              <a:defRPr sz="1500" b="0">
                <a:solidFill>
                  <a:srgbClr val="141735"/>
                </a:solidFill>
                <a:latin typeface="Calibri"/>
                <a:ea typeface="Calibri"/>
                <a:cs typeface="Calibri"/>
              </a:defRPr>
            </a:lvl2pPr>
            <a:lvl3pPr>
              <a:defRPr sz="1500" b="0">
                <a:solidFill>
                  <a:srgbClr val="141735"/>
                </a:solidFill>
                <a:latin typeface="Calibri"/>
                <a:ea typeface="Calibri"/>
                <a:cs typeface="Calibri"/>
              </a:defRPr>
            </a:lvl3pPr>
            <a:lvl4pPr>
              <a:defRPr sz="1500" b="0">
                <a:solidFill>
                  <a:srgbClr val="141735"/>
                </a:solidFill>
                <a:latin typeface="Calibri"/>
                <a:ea typeface="Calibri"/>
                <a:cs typeface="Calibri"/>
              </a:defRPr>
            </a:lvl4pPr>
            <a:lvl5pPr>
              <a:defRPr sz="1500" b="0">
                <a:solidFill>
                  <a:srgbClr val="141735"/>
                </a:solidFill>
                <a:latin typeface="Calibri"/>
                <a:ea typeface="Calibri"/>
                <a:cs typeface="Calibri"/>
              </a:defRPr>
            </a:lvl5pPr>
            <a:lvl6pPr>
              <a:defRPr sz="1500" b="0">
                <a:solidFill>
                  <a:srgbClr val="141735"/>
                </a:solidFill>
                <a:latin typeface="Calibri"/>
                <a:ea typeface="Calibri"/>
                <a:cs typeface="Calibri"/>
              </a:defRPr>
            </a:lvl6pPr>
            <a:lvl7pPr>
              <a:defRPr sz="1500" b="0">
                <a:solidFill>
                  <a:srgbClr val="141735"/>
                </a:solidFill>
                <a:latin typeface="Calibri"/>
                <a:ea typeface="Calibri"/>
                <a:cs typeface="Calibri"/>
              </a:defRPr>
            </a:lvl7pPr>
            <a:lvl8pPr>
              <a:defRPr sz="1500" b="0">
                <a:solidFill>
                  <a:srgbClr val="141735"/>
                </a:solidFill>
                <a:latin typeface="Calibri"/>
                <a:ea typeface="Calibri"/>
                <a:cs typeface="Calibri"/>
              </a:defRPr>
            </a:lvl8pPr>
            <a:lvl9pPr>
              <a:defRPr sz="1500" b="0">
                <a:solidFill>
                  <a:srgbClr val="141735"/>
                </a:solidFill>
                <a:latin typeface="Calibri"/>
                <a:ea typeface="Calibri"/>
                <a:cs typeface="Calibri"/>
              </a:defRPr>
            </a:lvl9pPr>
          </a:lstStyle>
          <a:p>
            <a:pPr>
              <a:defRPr sz="1500" b="0">
                <a:solidFill>
                  <a:srgbClr val="141735"/>
                </a:solidFill>
                <a:latin typeface="Calibri"/>
                <a:ea typeface="Calibri"/>
                <a:cs typeface="Calibri"/>
              </a:defRPr>
            </a:pPr>
            <a:r>
              <a:rPr sz="1500" b="0">
                <a:solidFill>
                  <a:srgbClr val="141735"/>
                </a:solidFill>
                <a:latin typeface="Calibri"/>
                <a:ea typeface="Calibri"/>
                <a:cs typeface="Calibri"/>
              </a:rPr>
              <a:t>Measures garment</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dimensions and records</a:t>
            </a:r>
          </a:p>
          <a:p>
            <a:pPr>
              <a:defRPr sz="1500" b="0">
                <a:solidFill>
                  <a:srgbClr val="141735"/>
                </a:solidFill>
                <a:latin typeface="Calibri"/>
                <a:ea typeface="Calibri"/>
                <a:cs typeface="Calibri"/>
              </a:defRPr>
            </a:pPr>
            <a:r>
              <a:rPr sz="1500" b="0">
                <a:solidFill>
                  <a:srgbClr val="141735"/>
                </a:solidFill>
                <a:latin typeface="Calibri"/>
                <a:ea typeface="Calibri"/>
                <a:cs typeface="Calibri"/>
              </a:rPr>
              <a:t>counts by size.</a:t>
            </a:r>
          </a:p>
        </p:txBody>
      </p:sp>
      <p:sp>
        <p:nvSpPr>
          <p:cNvPr id="39" name="shared-application">
            <a:extLst>
              <a:ext uri="{FF2B5EF4-FFF2-40B4-BE49-F238E27FC236}">
                <a16:creationId xmlns:a16="http://schemas.microsoft.com/office/drawing/2014/main" id="{A3485125-C258-491E-BB32-5A31C4803AE4}"/>
              </a:ext>
            </a:extLst>
          </p:cNvPr>
          <p:cNvSpPr>
            <a:spLocks noGrp="1"/>
          </p:cNvSpPr>
          <p:nvPr/>
        </p:nvSpPr>
        <p:spPr>
          <a:xfrm>
            <a:off x="502920" y="5572125"/>
            <a:ext cx="11155680" cy="676275"/>
          </a:xfrm>
          <a:prstGeom prst="roundRect">
            <a:avLst>
              <a:gd name="adj" fmla="val 16901"/>
            </a:avLst>
          </a:prstGeom>
          <a:solidFill>
            <a:srgbClr val="F2F3F9"/>
          </a:solidFill>
          <a:ln w="0">
            <a:noFill/>
            <a:prstDash val="solid"/>
          </a:ln>
        </p:spPr>
        <p:txBody>
          <a:bodyPr/>
          <a:lstStyle/>
          <a:p>
            <a:endParaRPr lang="en-US"/>
          </a:p>
        </p:txBody>
      </p:sp>
      <p:sp>
        <p:nvSpPr>
          <p:cNvPr id="40" name="application-title">
            <a:extLst>
              <a:ext uri="{FF2B5EF4-FFF2-40B4-BE49-F238E27FC236}">
                <a16:creationId xmlns:a16="http://schemas.microsoft.com/office/drawing/2014/main" id="{757A8484-D700-43A9-AD58-76AE29E560D4}"/>
              </a:ext>
            </a:extLst>
          </p:cNvPr>
          <p:cNvSpPr>
            <a:spLocks noGrp="1"/>
          </p:cNvSpPr>
          <p:nvPr/>
        </p:nvSpPr>
        <p:spPr>
          <a:xfrm>
            <a:off x="704850" y="5686425"/>
            <a:ext cx="4829175" cy="419100"/>
          </a:xfrm>
          <a:prstGeom prst="rect">
            <a:avLst/>
          </a:prstGeom>
          <a:noFill/>
          <a:ln w="0">
            <a:noFill/>
            <a:prstDash val="solid"/>
          </a:ln>
        </p:spPr>
        <p:txBody>
          <a:bodyPr wrap="square" lIns="0" tIns="0" rIns="0" bIns="0" anchor="ctr">
            <a:noAutofit/>
          </a:bodyPr>
          <a:lstStyle>
            <a:defPPr>
              <a:defRPr sz="1950" b="1">
                <a:solidFill>
                  <a:srgbClr val="141735"/>
                </a:solidFill>
                <a:latin typeface="Calibri"/>
                <a:ea typeface="Calibri"/>
                <a:cs typeface="Calibri"/>
              </a:defRPr>
            </a:defPPr>
            <a:lvl1pPr>
              <a:defRPr sz="1950" b="1">
                <a:solidFill>
                  <a:srgbClr val="141735"/>
                </a:solidFill>
                <a:latin typeface="Calibri"/>
                <a:ea typeface="Calibri"/>
                <a:cs typeface="Calibri"/>
              </a:defRPr>
            </a:lvl1pPr>
            <a:lvl2pPr>
              <a:defRPr sz="1950" b="1">
                <a:solidFill>
                  <a:srgbClr val="141735"/>
                </a:solidFill>
                <a:latin typeface="Calibri"/>
                <a:ea typeface="Calibri"/>
                <a:cs typeface="Calibri"/>
              </a:defRPr>
            </a:lvl2pPr>
            <a:lvl3pPr>
              <a:defRPr sz="1950" b="1">
                <a:solidFill>
                  <a:srgbClr val="141735"/>
                </a:solidFill>
                <a:latin typeface="Calibri"/>
                <a:ea typeface="Calibri"/>
                <a:cs typeface="Calibri"/>
              </a:defRPr>
            </a:lvl3pPr>
            <a:lvl4pPr>
              <a:defRPr sz="1950" b="1">
                <a:solidFill>
                  <a:srgbClr val="141735"/>
                </a:solidFill>
                <a:latin typeface="Calibri"/>
                <a:ea typeface="Calibri"/>
                <a:cs typeface="Calibri"/>
              </a:defRPr>
            </a:lvl4pPr>
            <a:lvl5pPr>
              <a:defRPr sz="1950" b="1">
                <a:solidFill>
                  <a:srgbClr val="141735"/>
                </a:solidFill>
                <a:latin typeface="Calibri"/>
                <a:ea typeface="Calibri"/>
                <a:cs typeface="Calibri"/>
              </a:defRPr>
            </a:lvl5pPr>
            <a:lvl6pPr>
              <a:defRPr sz="1950" b="1">
                <a:solidFill>
                  <a:srgbClr val="141735"/>
                </a:solidFill>
                <a:latin typeface="Calibri"/>
                <a:ea typeface="Calibri"/>
                <a:cs typeface="Calibri"/>
              </a:defRPr>
            </a:lvl6pPr>
            <a:lvl7pPr>
              <a:defRPr sz="1950" b="1">
                <a:solidFill>
                  <a:srgbClr val="141735"/>
                </a:solidFill>
                <a:latin typeface="Calibri"/>
                <a:ea typeface="Calibri"/>
                <a:cs typeface="Calibri"/>
              </a:defRPr>
            </a:lvl7pPr>
            <a:lvl8pPr>
              <a:defRPr sz="1950" b="1">
                <a:solidFill>
                  <a:srgbClr val="141735"/>
                </a:solidFill>
                <a:latin typeface="Calibri"/>
                <a:ea typeface="Calibri"/>
                <a:cs typeface="Calibri"/>
              </a:defRPr>
            </a:lvl8pPr>
            <a:lvl9pPr>
              <a:defRPr sz="1950" b="1">
                <a:solidFill>
                  <a:srgbClr val="141735"/>
                </a:solidFill>
                <a:latin typeface="Calibri"/>
                <a:ea typeface="Calibri"/>
                <a:cs typeface="Calibri"/>
              </a:defRPr>
            </a:lvl9pPr>
          </a:lstStyle>
          <a:p>
            <a:pPr>
              <a:defRPr sz="1950" b="1">
                <a:solidFill>
                  <a:srgbClr val="141735"/>
                </a:solidFill>
                <a:latin typeface="Calibri"/>
                <a:ea typeface="Calibri"/>
                <a:cs typeface="Calibri"/>
              </a:defRPr>
            </a:pPr>
            <a:r>
              <a:rPr sz="1950" b="1">
                <a:solidFill>
                  <a:srgbClr val="141735"/>
                </a:solidFill>
                <a:latin typeface="Calibri"/>
                <a:ea typeface="Calibri"/>
                <a:cs typeface="Calibri"/>
              </a:rPr>
              <a:t>One offline desktop application</a:t>
            </a:r>
          </a:p>
        </p:txBody>
      </p:sp>
      <p:sp>
        <p:nvSpPr>
          <p:cNvPr id="41" name="application-purpose">
            <a:extLst>
              <a:ext uri="{FF2B5EF4-FFF2-40B4-BE49-F238E27FC236}">
                <a16:creationId xmlns:a16="http://schemas.microsoft.com/office/drawing/2014/main" id="{8C945CB3-CA5A-434E-9D75-60991824616C}"/>
              </a:ext>
            </a:extLst>
          </p:cNvPr>
          <p:cNvSpPr>
            <a:spLocks noGrp="1"/>
          </p:cNvSpPr>
          <p:nvPr/>
        </p:nvSpPr>
        <p:spPr>
          <a:xfrm>
            <a:off x="6096000" y="5667375"/>
            <a:ext cx="5334000" cy="447675"/>
          </a:xfrm>
          <a:prstGeom prst="rect">
            <a:avLst/>
          </a:prstGeom>
          <a:noFill/>
          <a:ln w="0">
            <a:noFill/>
            <a:prstDash val="solid"/>
          </a:ln>
        </p:spPr>
        <p:txBody>
          <a:bodyPr wrap="square" lIns="0" tIns="0" rIns="0" bIns="0" anchor="ctr">
            <a:noAutofit/>
          </a:bodyPr>
          <a:lstStyle>
            <a:defPPr>
              <a:defRPr sz="1575" b="0">
                <a:solidFill>
                  <a:srgbClr val="72778F"/>
                </a:solidFill>
                <a:latin typeface="Calibri"/>
                <a:ea typeface="Calibri"/>
                <a:cs typeface="Calibri"/>
              </a:defRPr>
            </a:defPPr>
            <a:lvl1pPr>
              <a:defRPr sz="1575" b="0">
                <a:solidFill>
                  <a:srgbClr val="72778F"/>
                </a:solidFill>
                <a:latin typeface="Calibri"/>
                <a:ea typeface="Calibri"/>
                <a:cs typeface="Calibri"/>
              </a:defRPr>
            </a:lvl1pPr>
            <a:lvl2pPr>
              <a:defRPr sz="1575" b="0">
                <a:solidFill>
                  <a:srgbClr val="72778F"/>
                </a:solidFill>
                <a:latin typeface="Calibri"/>
                <a:ea typeface="Calibri"/>
                <a:cs typeface="Calibri"/>
              </a:defRPr>
            </a:lvl2pPr>
            <a:lvl3pPr>
              <a:defRPr sz="1575" b="0">
                <a:solidFill>
                  <a:srgbClr val="72778F"/>
                </a:solidFill>
                <a:latin typeface="Calibri"/>
                <a:ea typeface="Calibri"/>
                <a:cs typeface="Calibri"/>
              </a:defRPr>
            </a:lvl3pPr>
            <a:lvl4pPr>
              <a:defRPr sz="1575" b="0">
                <a:solidFill>
                  <a:srgbClr val="72778F"/>
                </a:solidFill>
                <a:latin typeface="Calibri"/>
                <a:ea typeface="Calibri"/>
                <a:cs typeface="Calibri"/>
              </a:defRPr>
            </a:lvl4pPr>
            <a:lvl5pPr>
              <a:defRPr sz="1575" b="0">
                <a:solidFill>
                  <a:srgbClr val="72778F"/>
                </a:solidFill>
                <a:latin typeface="Calibri"/>
                <a:ea typeface="Calibri"/>
                <a:cs typeface="Calibri"/>
              </a:defRPr>
            </a:lvl5pPr>
            <a:lvl6pPr>
              <a:defRPr sz="1575" b="0">
                <a:solidFill>
                  <a:srgbClr val="72778F"/>
                </a:solidFill>
                <a:latin typeface="Calibri"/>
                <a:ea typeface="Calibri"/>
                <a:cs typeface="Calibri"/>
              </a:defRPr>
            </a:lvl6pPr>
            <a:lvl7pPr>
              <a:defRPr sz="1575" b="0">
                <a:solidFill>
                  <a:srgbClr val="72778F"/>
                </a:solidFill>
                <a:latin typeface="Calibri"/>
                <a:ea typeface="Calibri"/>
                <a:cs typeface="Calibri"/>
              </a:defRPr>
            </a:lvl7pPr>
            <a:lvl8pPr>
              <a:defRPr sz="1575" b="0">
                <a:solidFill>
                  <a:srgbClr val="72778F"/>
                </a:solidFill>
                <a:latin typeface="Calibri"/>
                <a:ea typeface="Calibri"/>
                <a:cs typeface="Calibri"/>
              </a:defRPr>
            </a:lvl8pPr>
            <a:lvl9pPr>
              <a:defRPr sz="1575" b="0">
                <a:solidFill>
                  <a:srgbClr val="72778F"/>
                </a:solidFill>
                <a:latin typeface="Calibri"/>
                <a:ea typeface="Calibri"/>
                <a:cs typeface="Calibri"/>
              </a:defRPr>
            </a:lvl9pPr>
          </a:lstStyle>
          <a:p>
            <a:pPr>
              <a:defRPr sz="1575" b="0">
                <a:solidFill>
                  <a:srgbClr val="72778F"/>
                </a:solidFill>
                <a:latin typeface="Calibri"/>
                <a:ea typeface="Calibri"/>
                <a:cs typeface="Calibri"/>
              </a:defRPr>
            </a:pPr>
            <a:r>
              <a:rPr sz="1575" b="0">
                <a:solidFill>
                  <a:srgbClr val="72778F"/>
                </a:solidFill>
                <a:latin typeface="Calibri"/>
                <a:ea typeface="Calibri"/>
                <a:cs typeface="Calibri"/>
              </a:rPr>
              <a:t>Camera-based analysis with local records</a:t>
            </a:r>
          </a:p>
          <a:p>
            <a:pPr>
              <a:defRPr sz="1575" b="0">
                <a:solidFill>
                  <a:srgbClr val="72778F"/>
                </a:solidFill>
                <a:latin typeface="Calibri"/>
                <a:ea typeface="Calibri"/>
                <a:cs typeface="Calibri"/>
              </a:defRPr>
            </a:pPr>
            <a:r>
              <a:rPr sz="1575" b="0">
                <a:solidFill>
                  <a:srgbClr val="72778F"/>
                </a:solidFill>
                <a:latin typeface="Calibri"/>
                <a:ea typeface="Calibri"/>
                <a:cs typeface="Calibri"/>
              </a:rPr>
              <a:t>for all four checkpoints.</a:t>
            </a:r>
          </a:p>
        </p:txBody>
      </p:sp>
      <p:sp>
        <p:nvSpPr>
          <p:cNvPr id="42" name="footer">
            <a:extLst>
              <a:ext uri="{FF2B5EF4-FFF2-40B4-BE49-F238E27FC236}">
                <a16:creationId xmlns:a16="http://schemas.microsoft.com/office/drawing/2014/main" id="{F8290219-FEE6-4883-864B-476F58E49C04}"/>
              </a:ext>
            </a:extLst>
          </p:cNvPr>
          <p:cNvSpPr>
            <a:spLocks noGrp="1"/>
          </p:cNvSpPr>
          <p:nvPr/>
        </p:nvSpPr>
        <p:spPr>
          <a:xfrm>
            <a:off x="502920" y="6437376"/>
            <a:ext cx="6583680" cy="237744"/>
          </a:xfrm>
          <a:prstGeom prst="rect">
            <a:avLst/>
          </a:prstGeom>
          <a:noFill/>
          <a:ln w="0">
            <a:noFill/>
            <a:prstDash val="solid"/>
          </a:ln>
        </p:spPr>
        <p:txBody>
          <a:bodyPr wrap="square" lIns="0" tIns="0" rIns="0" bIns="0" anchor="ctr">
            <a:noAutofit/>
          </a:bodyPr>
          <a:lstStyle>
            <a:defPPr>
              <a:defRPr sz="900" b="0">
                <a:solidFill>
                  <a:srgbClr val="72778F"/>
                </a:solidFill>
                <a:latin typeface="Calibri"/>
                <a:ea typeface="Calibri"/>
                <a:cs typeface="Calibri"/>
              </a:defRPr>
            </a:defPPr>
            <a:lvl1pPr>
              <a:defRPr sz="900" b="0">
                <a:solidFill>
                  <a:srgbClr val="72778F"/>
                </a:solidFill>
                <a:latin typeface="Calibri"/>
                <a:ea typeface="Calibri"/>
                <a:cs typeface="Calibri"/>
              </a:defRPr>
            </a:lvl1pPr>
            <a:lvl2pPr>
              <a:defRPr sz="900" b="0">
                <a:solidFill>
                  <a:srgbClr val="72778F"/>
                </a:solidFill>
                <a:latin typeface="Calibri"/>
                <a:ea typeface="Calibri"/>
                <a:cs typeface="Calibri"/>
              </a:defRPr>
            </a:lvl2pPr>
            <a:lvl3pPr>
              <a:defRPr sz="900" b="0">
                <a:solidFill>
                  <a:srgbClr val="72778F"/>
                </a:solidFill>
                <a:latin typeface="Calibri"/>
                <a:ea typeface="Calibri"/>
                <a:cs typeface="Calibri"/>
              </a:defRPr>
            </a:lvl3pPr>
            <a:lvl4pPr>
              <a:defRPr sz="900" b="0">
                <a:solidFill>
                  <a:srgbClr val="72778F"/>
                </a:solidFill>
                <a:latin typeface="Calibri"/>
                <a:ea typeface="Calibri"/>
                <a:cs typeface="Calibri"/>
              </a:defRPr>
            </a:lvl4pPr>
            <a:lvl5pPr>
              <a:defRPr sz="900" b="0">
                <a:solidFill>
                  <a:srgbClr val="72778F"/>
                </a:solidFill>
                <a:latin typeface="Calibri"/>
                <a:ea typeface="Calibri"/>
                <a:cs typeface="Calibri"/>
              </a:defRPr>
            </a:lvl5pPr>
            <a:lvl6pPr>
              <a:defRPr sz="900" b="0">
                <a:solidFill>
                  <a:srgbClr val="72778F"/>
                </a:solidFill>
                <a:latin typeface="Calibri"/>
                <a:ea typeface="Calibri"/>
                <a:cs typeface="Calibri"/>
              </a:defRPr>
            </a:lvl6pPr>
            <a:lvl7pPr>
              <a:defRPr sz="900" b="0">
                <a:solidFill>
                  <a:srgbClr val="72778F"/>
                </a:solidFill>
                <a:latin typeface="Calibri"/>
                <a:ea typeface="Calibri"/>
                <a:cs typeface="Calibri"/>
              </a:defRPr>
            </a:lvl7pPr>
            <a:lvl8pPr>
              <a:defRPr sz="900" b="0">
                <a:solidFill>
                  <a:srgbClr val="72778F"/>
                </a:solidFill>
                <a:latin typeface="Calibri"/>
                <a:ea typeface="Calibri"/>
                <a:cs typeface="Calibri"/>
              </a:defRPr>
            </a:lvl8pPr>
            <a:lvl9pPr>
              <a:defRPr sz="900" b="0">
                <a:solidFill>
                  <a:srgbClr val="72778F"/>
                </a:solidFill>
                <a:latin typeface="Calibri"/>
                <a:ea typeface="Calibri"/>
                <a:cs typeface="Calibri"/>
              </a:defRPr>
            </a:lvl9pPr>
          </a:lstStyle>
          <a:p>
            <a:pPr>
              <a:defRPr sz="900" b="0">
                <a:solidFill>
                  <a:srgbClr val="72778F"/>
                </a:solidFill>
                <a:latin typeface="Calibri"/>
                <a:ea typeface="Calibri"/>
                <a:cs typeface="Calibri"/>
              </a:defRPr>
            </a:pPr>
            <a:r>
              <a:rPr sz="900" b="0">
                <a:solidFill>
                  <a:srgbClr val="72778F"/>
                </a:solidFill>
                <a:latin typeface="Calibri"/>
                <a:ea typeface="Calibri"/>
                <a:cs typeface="Calibri"/>
              </a:rPr>
              <a:t>IT4010 Research Project  ·  Final Presentation &amp; Viva  ·  R26-IT-054</a:t>
            </a:r>
          </a:p>
        </p:txBody>
      </p:sp>
      <p:sp>
        <p:nvSpPr>
          <p:cNvPr id="43" name="folio">
            <a:extLst>
              <a:ext uri="{FF2B5EF4-FFF2-40B4-BE49-F238E27FC236}">
                <a16:creationId xmlns:a16="http://schemas.microsoft.com/office/drawing/2014/main" id="{0DD180BB-2D8F-47EE-8C39-2AFCB4A21645}"/>
              </a:ext>
            </a:extLst>
          </p:cNvPr>
          <p:cNvSpPr>
            <a:spLocks noGrp="1"/>
          </p:cNvSpPr>
          <p:nvPr/>
        </p:nvSpPr>
        <p:spPr>
          <a:xfrm>
            <a:off x="11356848" y="6437376"/>
            <a:ext cx="329184" cy="237744"/>
          </a:xfrm>
          <a:prstGeom prst="rect">
            <a:avLst/>
          </a:prstGeom>
          <a:noFill/>
          <a:ln w="0">
            <a:noFill/>
            <a:prstDash val="solid"/>
          </a:ln>
        </p:spPr>
        <p:txBody>
          <a:bodyPr wrap="square" lIns="0" tIns="0" rIns="0" bIns="0" anchor="ctr">
            <a:noAutofit/>
          </a:bodyPr>
          <a:lstStyle>
            <a:defPPr algn="r">
              <a:defRPr sz="900" b="1">
                <a:solidFill>
                  <a:srgbClr val="72778F"/>
                </a:solidFill>
                <a:latin typeface="Calibri"/>
                <a:ea typeface="Calibri"/>
                <a:cs typeface="Calibri"/>
              </a:defRPr>
            </a:defPPr>
            <a:lvl1pPr algn="r">
              <a:defRPr sz="900" b="1">
                <a:solidFill>
                  <a:srgbClr val="72778F"/>
                </a:solidFill>
                <a:latin typeface="Calibri"/>
                <a:ea typeface="Calibri"/>
                <a:cs typeface="Calibri"/>
              </a:defRPr>
            </a:lvl1pPr>
            <a:lvl2pPr algn="r">
              <a:defRPr sz="900" b="1">
                <a:solidFill>
                  <a:srgbClr val="72778F"/>
                </a:solidFill>
                <a:latin typeface="Calibri"/>
                <a:ea typeface="Calibri"/>
                <a:cs typeface="Calibri"/>
              </a:defRPr>
            </a:lvl2pPr>
            <a:lvl3pPr algn="r">
              <a:defRPr sz="900" b="1">
                <a:solidFill>
                  <a:srgbClr val="72778F"/>
                </a:solidFill>
                <a:latin typeface="Calibri"/>
                <a:ea typeface="Calibri"/>
                <a:cs typeface="Calibri"/>
              </a:defRPr>
            </a:lvl3pPr>
            <a:lvl4pPr algn="r">
              <a:defRPr sz="900" b="1">
                <a:solidFill>
                  <a:srgbClr val="72778F"/>
                </a:solidFill>
                <a:latin typeface="Calibri"/>
                <a:ea typeface="Calibri"/>
                <a:cs typeface="Calibri"/>
              </a:defRPr>
            </a:lvl4pPr>
            <a:lvl5pPr algn="r">
              <a:defRPr sz="900" b="1">
                <a:solidFill>
                  <a:srgbClr val="72778F"/>
                </a:solidFill>
                <a:latin typeface="Calibri"/>
                <a:ea typeface="Calibri"/>
                <a:cs typeface="Calibri"/>
              </a:defRPr>
            </a:lvl5pPr>
            <a:lvl6pPr algn="r">
              <a:defRPr sz="900" b="1">
                <a:solidFill>
                  <a:srgbClr val="72778F"/>
                </a:solidFill>
                <a:latin typeface="Calibri"/>
                <a:ea typeface="Calibri"/>
                <a:cs typeface="Calibri"/>
              </a:defRPr>
            </a:lvl6pPr>
            <a:lvl7pPr algn="r">
              <a:defRPr sz="900" b="1">
                <a:solidFill>
                  <a:srgbClr val="72778F"/>
                </a:solidFill>
                <a:latin typeface="Calibri"/>
                <a:ea typeface="Calibri"/>
                <a:cs typeface="Calibri"/>
              </a:defRPr>
            </a:lvl7pPr>
            <a:lvl8pPr algn="r">
              <a:defRPr sz="900" b="1">
                <a:solidFill>
                  <a:srgbClr val="72778F"/>
                </a:solidFill>
                <a:latin typeface="Calibri"/>
                <a:ea typeface="Calibri"/>
                <a:cs typeface="Calibri"/>
              </a:defRPr>
            </a:lvl8pPr>
            <a:lvl9pPr algn="r">
              <a:defRPr sz="900" b="1">
                <a:solidFill>
                  <a:srgbClr val="72778F"/>
                </a:solidFill>
                <a:latin typeface="Calibri"/>
                <a:ea typeface="Calibri"/>
                <a:cs typeface="Calibri"/>
              </a:defRPr>
            </a:lvl9pPr>
          </a:lstStyle>
          <a:p>
            <a:pPr algn="r">
              <a:defRPr sz="900" b="1">
                <a:solidFill>
                  <a:srgbClr val="72778F"/>
                </a:solidFill>
                <a:latin typeface="Calibri"/>
                <a:ea typeface="Calibri"/>
                <a:cs typeface="Calibri"/>
              </a:defRPr>
            </a:pPr>
            <a:r>
              <a:rPr sz="900" b="1">
                <a:solidFill>
                  <a:srgbClr val="72778F"/>
                </a:solidFill>
                <a:latin typeface="Calibri"/>
                <a:ea typeface="Calibri"/>
                <a:cs typeface="Calibri"/>
              </a:rPr>
              <a:t>2</a:t>
            </a:r>
          </a:p>
        </p:txBody>
      </p:sp>
    </p:spTree>
    <p:extLst>
      <p:ext uri="{BB962C8B-B14F-4D97-AF65-F5344CB8AC3E}">
        <p14:creationId xmlns:p14="http://schemas.microsoft.com/office/powerpoint/2010/main" val="1729250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1155680" cy="603504"/>
          </a:xfrm>
          <a:prstGeom prst="rect">
            <a:avLst/>
          </a:prstGeom>
          <a:noFill/>
          <a:ln/>
        </p:spPr>
        <p:txBody>
          <a:bodyPr wrap="square" lIns="0" tIns="0" rIns="0" bIns="0" rtlCol="0" anchor="ctr"/>
          <a:lstStyle/>
          <a:p>
            <a:pPr marL="0" indent="0">
              <a:buNone/>
            </a:pPr>
            <a:r>
              <a:rPr lang="en-US" sz="3100" b="1" dirty="0">
                <a:solidFill>
                  <a:srgbClr val="141735"/>
                </a:solidFill>
                <a:latin typeface="Cambria" pitchFamily="34" charset="0"/>
                <a:ea typeface="Cambria" pitchFamily="34" charset="-122"/>
                <a:cs typeface="Cambria" pitchFamily="34" charset="-120"/>
              </a:rPr>
              <a:t>Client Requirements</a:t>
            </a:r>
            <a:endParaRPr lang="en-US" sz="3100" dirty="0"/>
          </a:p>
        </p:txBody>
      </p:sp>
      <p:sp>
        <p:nvSpPr>
          <p:cNvPr id="3" name="Text 1"/>
          <p:cNvSpPr txBox="1"/>
          <p:nvPr/>
        </p:nvSpPr>
        <p:spPr>
          <a:xfrm>
            <a:off x="502920" y="987552"/>
            <a:ext cx="10789920" cy="274320"/>
          </a:xfrm>
          <a:prstGeom prst="rect">
            <a:avLst/>
          </a:prstGeom>
          <a:noFill/>
          <a:ln/>
        </p:spPr>
        <p:txBody>
          <a:bodyPr wrap="square" lIns="0" tIns="0" rIns="0" bIns="0" rtlCol="0" anchor="ctr"/>
          <a:lstStyle/>
          <a:p>
            <a:pPr marL="0" indent="0">
              <a:buNone/>
            </a:pPr>
            <a:endParaRPr lang="en-US" sz="1250" dirty="0"/>
          </a:p>
        </p:txBody>
      </p:sp>
      <p:sp>
        <p:nvSpPr>
          <p:cNvPr id="8" name="Text 5"/>
          <p:cNvSpPr txBox="1"/>
          <p:nvPr/>
        </p:nvSpPr>
        <p:spPr>
          <a:xfrm>
            <a:off x="502920" y="6437376"/>
            <a:ext cx="6583680" cy="237744"/>
          </a:xfrm>
          <a:prstGeom prst="rect">
            <a:avLst/>
          </a:prstGeom>
          <a:noFill/>
          <a:ln/>
        </p:spPr>
        <p:txBody>
          <a:bodyPr wrap="square" lIns="0" tIns="0" rIns="0" bIns="0" rtlCol="0" anchor="ctr"/>
          <a:lstStyle/>
          <a:p>
            <a:pPr marL="0" indent="0">
              <a:buNone/>
            </a:pPr>
            <a:r>
              <a:rPr lang="en-US" sz="900" dirty="0">
                <a:solidFill>
                  <a:srgbClr val="72778F"/>
                </a:solidFill>
                <a:latin typeface="Calibri" pitchFamily="34" charset="0"/>
                <a:ea typeface="Calibri" pitchFamily="34" charset="-122"/>
                <a:cs typeface="Calibri" pitchFamily="34" charset="-120"/>
              </a:rPr>
              <a:t>IT4010 Research Project  ·  Final Presentation &amp; Viva  ·  R26-IT-054</a:t>
            </a:r>
            <a:endParaRPr lang="en-US" sz="900" dirty="0"/>
          </a:p>
        </p:txBody>
      </p:sp>
      <p:sp>
        <p:nvSpPr>
          <p:cNvPr id="9" name="Text 6"/>
          <p:cNvSpPr txBox="1"/>
          <p:nvPr/>
        </p:nvSpPr>
        <p:spPr>
          <a:xfrm>
            <a:off x="11356848" y="6437376"/>
            <a:ext cx="329184" cy="237744"/>
          </a:xfrm>
          <a:prstGeom prst="rect">
            <a:avLst/>
          </a:prstGeom>
          <a:noFill/>
          <a:ln/>
        </p:spPr>
        <p:txBody>
          <a:bodyPr wrap="square" lIns="0" tIns="0" rIns="0" bIns="0" rtlCol="0" anchor="ctr"/>
          <a:lstStyle/>
          <a:p>
            <a:pPr marL="0" indent="0" algn="r">
              <a:buNone/>
            </a:pPr>
            <a:r>
              <a:rPr lang="en-US" sz="900" b="1">
                <a:solidFill>
                  <a:srgbClr val="72778F"/>
                </a:solidFill>
                <a:ea typeface="Calibri"/>
                <a:cs typeface="Calibri"/>
              </a:rPr>
              <a:t>3</a:t>
            </a:r>
            <a:endParaRPr lang="en-US" sz="900" b="1" dirty="0">
              <a:solidFill>
                <a:srgbClr val="72778F"/>
              </a:solidFill>
              <a:ea typeface="Calibri"/>
              <a:cs typeface="Calibri"/>
            </a:endParaRPr>
          </a:p>
        </p:txBody>
      </p:sp>
      <p:pic>
        <p:nvPicPr>
          <p:cNvPr id="13" name="Picture 12">
            <a:extLst>
              <a:ext uri="{FF2B5EF4-FFF2-40B4-BE49-F238E27FC236}">
                <a16:creationId xmlns:a16="http://schemas.microsoft.com/office/drawing/2014/main" id="{C7F2B65F-2E15-3DDD-C298-86E20D936988}"/>
              </a:ext>
            </a:extLst>
          </p:cNvPr>
          <p:cNvPicPr>
            <a:picLocks noChangeAspect="1"/>
          </p:cNvPicPr>
          <p:nvPr/>
        </p:nvPicPr>
        <p:blipFill>
          <a:blip r:embed="rId3"/>
          <a:stretch>
            <a:fillRect/>
          </a:stretch>
        </p:blipFill>
        <p:spPr>
          <a:xfrm>
            <a:off x="502920" y="939434"/>
            <a:ext cx="9336405" cy="4482958"/>
          </a:xfrm>
          <a:prstGeom prst="rect">
            <a:avLst/>
          </a:prstGeom>
        </p:spPr>
      </p:pic>
      <p:sp>
        <p:nvSpPr>
          <p:cNvPr id="5" name="Shape 2"/>
          <p:cNvSpPr/>
          <p:nvPr/>
        </p:nvSpPr>
        <p:spPr>
          <a:xfrm>
            <a:off x="502920" y="5212080"/>
            <a:ext cx="11155680" cy="1005840"/>
          </a:xfrm>
          <a:prstGeom prst="roundRect">
            <a:avLst>
              <a:gd name="adj" fmla="val 8182"/>
            </a:avLst>
          </a:prstGeom>
          <a:solidFill>
            <a:srgbClr val="FDF3E4"/>
          </a:solidFill>
          <a:ln/>
        </p:spPr>
        <p:txBody>
          <a:bodyPr/>
          <a:lstStyle/>
          <a:p>
            <a:endParaRPr lang="en-GB"/>
          </a:p>
        </p:txBody>
      </p:sp>
      <p:sp>
        <p:nvSpPr>
          <p:cNvPr id="6" name="Text 3"/>
          <p:cNvSpPr txBox="1"/>
          <p:nvPr/>
        </p:nvSpPr>
        <p:spPr>
          <a:xfrm>
            <a:off x="804672" y="5376672"/>
            <a:ext cx="4572000" cy="201168"/>
          </a:xfrm>
          <a:prstGeom prst="rect">
            <a:avLst/>
          </a:prstGeom>
          <a:noFill/>
          <a:ln/>
        </p:spPr>
        <p:txBody>
          <a:bodyPr wrap="square" lIns="0" tIns="0" rIns="0" bIns="0" rtlCol="0" anchor="ctr"/>
          <a:lstStyle/>
          <a:p>
            <a:pPr marL="0" indent="0">
              <a:buNone/>
            </a:pPr>
            <a:r>
              <a:rPr lang="en-US" sz="950" b="1" kern="0" spc="140" dirty="0">
                <a:solidFill>
                  <a:srgbClr val="B8801A"/>
                </a:solidFill>
                <a:latin typeface="Calibri" pitchFamily="34" charset="0"/>
                <a:ea typeface="Calibri" pitchFamily="34" charset="-122"/>
                <a:cs typeface="Calibri" pitchFamily="34" charset="-120"/>
              </a:rPr>
              <a:t>WHAT REQUIRED</a:t>
            </a:r>
            <a:endParaRPr lang="en-US" sz="950" dirty="0"/>
          </a:p>
        </p:txBody>
      </p:sp>
      <p:sp>
        <p:nvSpPr>
          <p:cNvPr id="7" name="Text 4"/>
          <p:cNvSpPr txBox="1"/>
          <p:nvPr/>
        </p:nvSpPr>
        <p:spPr>
          <a:xfrm>
            <a:off x="804672" y="5632704"/>
            <a:ext cx="10515600" cy="402336"/>
          </a:xfrm>
          <a:prstGeom prst="rect">
            <a:avLst/>
          </a:prstGeom>
          <a:noFill/>
          <a:ln/>
        </p:spPr>
        <p:txBody>
          <a:bodyPr wrap="square" lIns="0" tIns="0" rIns="0" bIns="0" rtlCol="0" anchor="ctr"/>
          <a:lstStyle/>
          <a:p>
            <a:r>
              <a:rPr lang="en-GB" sz="1200" dirty="0"/>
              <a:t>Local execution </a:t>
            </a:r>
            <a:r>
              <a:rPr lang="en-US" sz="1200" dirty="0">
                <a:solidFill>
                  <a:srgbClr val="3E4257"/>
                </a:solidFill>
                <a:latin typeface="Calibri" pitchFamily="34" charset="0"/>
                <a:ea typeface="Calibri" pitchFamily="34" charset="-122"/>
                <a:cs typeface="Calibri" pitchFamily="34" charset="-120"/>
              </a:rPr>
              <a:t>·  </a:t>
            </a:r>
            <a:r>
              <a:rPr lang="en-GB" sz="1200" dirty="0"/>
              <a:t>Easy setup</a:t>
            </a:r>
            <a:r>
              <a:rPr lang="en-US" sz="1200" dirty="0">
                <a:solidFill>
                  <a:srgbClr val="3E4257"/>
                </a:solidFill>
                <a:latin typeface="Calibri" pitchFamily="34" charset="0"/>
                <a:ea typeface="Calibri" pitchFamily="34" charset="-122"/>
                <a:cs typeface="Calibri" pitchFamily="34" charset="-120"/>
              </a:rPr>
              <a:t>  ·  </a:t>
            </a:r>
            <a:r>
              <a:rPr lang="en-GB" sz="1200" dirty="0">
                <a:solidFill>
                  <a:srgbClr val="3E4257"/>
                </a:solidFill>
                <a:latin typeface="Calibri" pitchFamily="34" charset="0"/>
                <a:ea typeface="Calibri" pitchFamily="34" charset="-122"/>
                <a:cs typeface="Calibri" pitchFamily="34" charset="-120"/>
              </a:rPr>
              <a:t>U</a:t>
            </a:r>
            <a:r>
              <a:rPr lang="en-GB" sz="1200" dirty="0"/>
              <a:t>sed directly on apparel sewing lines</a:t>
            </a:r>
            <a:r>
              <a:rPr lang="en-US" sz="1200" dirty="0">
                <a:solidFill>
                  <a:srgbClr val="3E4257"/>
                </a:solidFill>
                <a:latin typeface="Calibri" pitchFamily="34" charset="0"/>
                <a:ea typeface="Calibri" pitchFamily="34" charset="-122"/>
                <a:cs typeface="Calibri" pitchFamily="34" charset="-120"/>
              </a:rPr>
              <a:t>s  ·  </a:t>
            </a:r>
            <a:r>
              <a:rPr lang="en-GB" sz="1200" dirty="0"/>
              <a:t>Practical solution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621792" cy="457200"/>
          </a:xfrm>
          <a:prstGeom prst="rect">
            <a:avLst/>
          </a:prstGeom>
          <a:noFill/>
          <a:ln/>
        </p:spPr>
        <p:txBody>
          <a:bodyPr wrap="square" lIns="0" tIns="0" rIns="0" bIns="0" rtlCol="0" anchor="ctr"/>
          <a:lstStyle/>
          <a:p>
            <a:pPr marL="0" indent="0">
              <a:buNone/>
            </a:pPr>
            <a:r>
              <a:rPr lang="en-US" sz="2800" b="1" dirty="0">
                <a:solidFill>
                  <a:srgbClr val="3B4BC8"/>
                </a:solidFill>
                <a:latin typeface="Cambria" pitchFamily="34" charset="0"/>
                <a:ea typeface="Cambria" pitchFamily="34" charset="-122"/>
                <a:cs typeface="Cambria" pitchFamily="34" charset="-120"/>
              </a:rPr>
              <a:t>C1</a:t>
            </a:r>
            <a:endParaRPr lang="en-US" sz="2800" dirty="0"/>
          </a:p>
        </p:txBody>
      </p:sp>
      <p:sp>
        <p:nvSpPr>
          <p:cNvPr id="3" name="Text 1"/>
          <p:cNvSpPr txBox="1"/>
          <p:nvPr/>
        </p:nvSpPr>
        <p:spPr>
          <a:xfrm>
            <a:off x="1152144" y="310896"/>
            <a:ext cx="8595360" cy="457200"/>
          </a:xfrm>
          <a:prstGeom prst="rect">
            <a:avLst/>
          </a:prstGeom>
          <a:noFill/>
          <a:ln/>
        </p:spPr>
        <p:txBody>
          <a:bodyPr wrap="square" lIns="0" tIns="0" rIns="0" bIns="0" rtlCol="0" anchor="ctr"/>
          <a:lstStyle/>
          <a:p>
            <a:pPr marL="0" indent="0">
              <a:buNone/>
            </a:pPr>
            <a:r>
              <a:rPr lang="en-US" sz="2600" b="1" dirty="0">
                <a:solidFill>
                  <a:srgbClr val="141735"/>
                </a:solidFill>
                <a:latin typeface="Cambria" pitchFamily="34" charset="0"/>
                <a:ea typeface="Cambria" pitchFamily="34" charset="-122"/>
                <a:cs typeface="Cambria" pitchFamily="34" charset="-120"/>
              </a:rPr>
              <a:t>Production Monitoring</a:t>
            </a:r>
            <a:endParaRPr lang="en-US" sz="2600" dirty="0"/>
          </a:p>
        </p:txBody>
      </p:sp>
      <p:sp>
        <p:nvSpPr>
          <p:cNvPr id="4" name="Text 2"/>
          <p:cNvSpPr txBox="1"/>
          <p:nvPr/>
        </p:nvSpPr>
        <p:spPr>
          <a:xfrm>
            <a:off x="1170432" y="786384"/>
            <a:ext cx="8595360" cy="201168"/>
          </a:xfrm>
          <a:prstGeom prst="rect">
            <a:avLst/>
          </a:prstGeom>
          <a:noFill/>
          <a:ln/>
        </p:spPr>
        <p:txBody>
          <a:bodyPr wrap="square" lIns="0" tIns="0" rIns="0" bIns="0" rtlCol="0" anchor="ctr"/>
          <a:lstStyle/>
          <a:p>
            <a:pPr marL="0" indent="0">
              <a:buNone/>
            </a:pPr>
            <a:r>
              <a:rPr lang="en-US" sz="850" b="1" kern="0" spc="130" dirty="0">
                <a:solidFill>
                  <a:srgbClr val="3B4BC8"/>
                </a:solidFill>
                <a:latin typeface="Calibri" pitchFamily="34" charset="0"/>
                <a:ea typeface="Calibri" pitchFamily="34" charset="-122"/>
                <a:cs typeface="Calibri" pitchFamily="34" charset="-120"/>
              </a:rPr>
              <a:t>SEWING AREA  ·  VISION-BASED PIECE COUNTING AND CYCLE-TIME MEASUREMENT</a:t>
            </a:r>
            <a:endParaRPr lang="en-US" sz="850" dirty="0"/>
          </a:p>
        </p:txBody>
      </p:sp>
      <p:sp>
        <p:nvSpPr>
          <p:cNvPr id="5" name="Text 3"/>
          <p:cNvSpPr txBox="1"/>
          <p:nvPr/>
        </p:nvSpPr>
        <p:spPr>
          <a:xfrm>
            <a:off x="1170432" y="1024128"/>
            <a:ext cx="8595360" cy="310896"/>
          </a:xfrm>
          <a:prstGeom prst="rect">
            <a:avLst/>
          </a:prstGeom>
          <a:noFill/>
          <a:ln/>
        </p:spPr>
        <p:txBody>
          <a:bodyPr wrap="square" lIns="0" tIns="0" rIns="0" bIns="0" rtlCol="0" anchor="ctr"/>
          <a:lstStyle/>
          <a:p>
            <a:pPr marL="0" indent="0">
              <a:buNone/>
            </a:pPr>
            <a:r>
              <a:rPr lang="en-US" sz="1200" dirty="0">
                <a:solidFill>
                  <a:srgbClr val="3E4257"/>
                </a:solidFill>
                <a:latin typeface="Calibri" pitchFamily="34" charset="0"/>
                <a:ea typeface="Calibri" pitchFamily="34" charset="-122"/>
                <a:cs typeface="Calibri" pitchFamily="34" charset="-120"/>
              </a:rPr>
              <a:t>Counts finished pieces at the sewing station and times every cycle.</a:t>
            </a:r>
            <a:endParaRPr lang="en-US" sz="1200" dirty="0"/>
          </a:p>
        </p:txBody>
      </p:sp>
      <p:sp>
        <p:nvSpPr>
          <p:cNvPr id="7" name="Text 5"/>
          <p:cNvSpPr txBox="1"/>
          <p:nvPr/>
        </p:nvSpPr>
        <p:spPr>
          <a:xfrm>
            <a:off x="10739438" y="301371"/>
            <a:ext cx="935164" cy="1115568"/>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p:spPr>
        <p:txBody>
          <a:bodyPr wrap="square" lIns="0" tIns="0" rIns="0" bIns="0" rtlCol="0" anchor="ctr"/>
          <a:lstStyle/>
          <a:p>
            <a:pPr marL="0" indent="0" algn="ctr">
              <a:buNone/>
            </a:pPr>
            <a:endParaRPr lang="en-US" sz="900" dirty="0"/>
          </a:p>
        </p:txBody>
      </p:sp>
      <p:sp>
        <p:nvSpPr>
          <p:cNvPr id="8" name="Text 6"/>
          <p:cNvSpPr txBox="1"/>
          <p:nvPr/>
        </p:nvSpPr>
        <p:spPr>
          <a:xfrm>
            <a:off x="502920" y="1536192"/>
            <a:ext cx="5486400" cy="201168"/>
          </a:xfrm>
          <a:prstGeom prst="rect">
            <a:avLst/>
          </a:prstGeom>
          <a:noFill/>
          <a:ln/>
        </p:spPr>
        <p:txBody>
          <a:bodyPr wrap="square" lIns="0" tIns="0" rIns="0" bIns="0" rtlCol="0" anchor="ctr"/>
          <a:lstStyle/>
          <a:p>
            <a:pPr marL="0" indent="0">
              <a:buNone/>
            </a:pPr>
            <a:r>
              <a:rPr lang="en-US" sz="950" b="1" kern="0" spc="140" dirty="0">
                <a:solidFill>
                  <a:srgbClr val="3B4BC8"/>
                </a:solidFill>
                <a:latin typeface="Calibri" pitchFamily="34" charset="0"/>
                <a:ea typeface="Calibri" pitchFamily="34" charset="-122"/>
                <a:cs typeface="Calibri" pitchFamily="34" charset="-120"/>
              </a:rPr>
              <a:t>DATA FLOW</a:t>
            </a:r>
            <a:endParaRPr lang="en-US" sz="950" dirty="0"/>
          </a:p>
        </p:txBody>
      </p:sp>
      <p:sp>
        <p:nvSpPr>
          <p:cNvPr id="9" name="Shape 7"/>
          <p:cNvSpPr/>
          <p:nvPr/>
        </p:nvSpPr>
        <p:spPr>
          <a:xfrm>
            <a:off x="502920" y="1755648"/>
            <a:ext cx="2114093"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10" name="Text 8"/>
          <p:cNvSpPr txBox="1"/>
          <p:nvPr/>
        </p:nvSpPr>
        <p:spPr>
          <a:xfrm>
            <a:off x="621792"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Live camera</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OpenCV device index</a:t>
            </a:r>
            <a:endParaRPr lang="en-US" sz="1050" dirty="0"/>
          </a:p>
        </p:txBody>
      </p:sp>
      <p:sp>
        <p:nvSpPr>
          <p:cNvPr id="11" name="Shape 9"/>
          <p:cNvSpPr/>
          <p:nvPr/>
        </p:nvSpPr>
        <p:spPr>
          <a:xfrm>
            <a:off x="2633472" y="2048256"/>
            <a:ext cx="114300" cy="91440"/>
          </a:xfrm>
          <a:prstGeom prst="rightArrow">
            <a:avLst/>
          </a:prstGeom>
          <a:solidFill>
            <a:srgbClr val="3B4BC8"/>
          </a:solidFill>
          <a:ln/>
        </p:spPr>
        <p:txBody>
          <a:bodyPr/>
          <a:lstStyle/>
          <a:p>
            <a:endParaRPr lang="en-GB"/>
          </a:p>
        </p:txBody>
      </p:sp>
      <p:sp>
        <p:nvSpPr>
          <p:cNvPr id="12" name="Shape 10"/>
          <p:cNvSpPr/>
          <p:nvPr/>
        </p:nvSpPr>
        <p:spPr>
          <a:xfrm>
            <a:off x="2763317" y="1755648"/>
            <a:ext cx="2114093"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13" name="Text 11"/>
          <p:cNvSpPr txBox="1"/>
          <p:nvPr/>
        </p:nvSpPr>
        <p:spPr>
          <a:xfrm>
            <a:off x="2882189"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YOLO gate</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workstation visible?</a:t>
            </a:r>
            <a:endParaRPr lang="en-US" sz="1050" dirty="0"/>
          </a:p>
        </p:txBody>
      </p:sp>
      <p:sp>
        <p:nvSpPr>
          <p:cNvPr id="14" name="Shape 12"/>
          <p:cNvSpPr/>
          <p:nvPr/>
        </p:nvSpPr>
        <p:spPr>
          <a:xfrm>
            <a:off x="4893869" y="2048256"/>
            <a:ext cx="114300" cy="91440"/>
          </a:xfrm>
          <a:prstGeom prst="rightArrow">
            <a:avLst/>
          </a:prstGeom>
          <a:solidFill>
            <a:srgbClr val="3B4BC8"/>
          </a:solidFill>
          <a:ln/>
        </p:spPr>
        <p:txBody>
          <a:bodyPr/>
          <a:lstStyle/>
          <a:p>
            <a:endParaRPr lang="en-GB"/>
          </a:p>
        </p:txBody>
      </p:sp>
      <p:sp>
        <p:nvSpPr>
          <p:cNvPr id="15" name="Shape 13"/>
          <p:cNvSpPr/>
          <p:nvPr/>
        </p:nvSpPr>
        <p:spPr>
          <a:xfrm>
            <a:off x="5023714" y="1755648"/>
            <a:ext cx="2114093"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16" name="Text 14"/>
          <p:cNvSpPr txBox="1"/>
          <p:nvPr/>
        </p:nvSpPr>
        <p:spPr>
          <a:xfrm>
            <a:off x="5142586"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MobileNetV3</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8 frames · 1.5 s</a:t>
            </a:r>
            <a:endParaRPr lang="en-US" sz="1050" dirty="0"/>
          </a:p>
        </p:txBody>
      </p:sp>
      <p:sp>
        <p:nvSpPr>
          <p:cNvPr id="17" name="Shape 15"/>
          <p:cNvSpPr/>
          <p:nvPr/>
        </p:nvSpPr>
        <p:spPr>
          <a:xfrm>
            <a:off x="7154266" y="2048256"/>
            <a:ext cx="114300" cy="91440"/>
          </a:xfrm>
          <a:prstGeom prst="rightArrow">
            <a:avLst/>
          </a:prstGeom>
          <a:solidFill>
            <a:srgbClr val="3B4BC8"/>
          </a:solidFill>
          <a:ln/>
        </p:spPr>
        <p:txBody>
          <a:bodyPr/>
          <a:lstStyle/>
          <a:p>
            <a:endParaRPr lang="en-GB"/>
          </a:p>
        </p:txBody>
      </p:sp>
      <p:sp>
        <p:nvSpPr>
          <p:cNvPr id="18" name="Shape 16"/>
          <p:cNvSpPr/>
          <p:nvPr/>
        </p:nvSpPr>
        <p:spPr>
          <a:xfrm>
            <a:off x="7284110" y="1755648"/>
            <a:ext cx="2114093"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19" name="Text 17"/>
          <p:cNvSpPr txBox="1"/>
          <p:nvPr/>
        </p:nvSpPr>
        <p:spPr>
          <a:xfrm>
            <a:off x="7402982"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Transition</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sewing → idle</a:t>
            </a:r>
            <a:endParaRPr lang="en-US" sz="1050" dirty="0"/>
          </a:p>
        </p:txBody>
      </p:sp>
      <p:sp>
        <p:nvSpPr>
          <p:cNvPr id="20" name="Shape 18"/>
          <p:cNvSpPr/>
          <p:nvPr/>
        </p:nvSpPr>
        <p:spPr>
          <a:xfrm>
            <a:off x="9414662" y="2048256"/>
            <a:ext cx="114300" cy="91440"/>
          </a:xfrm>
          <a:prstGeom prst="rightArrow">
            <a:avLst/>
          </a:prstGeom>
          <a:solidFill>
            <a:srgbClr val="3B4BC8"/>
          </a:solidFill>
          <a:ln/>
        </p:spPr>
        <p:txBody>
          <a:bodyPr/>
          <a:lstStyle/>
          <a:p>
            <a:endParaRPr lang="en-GB"/>
          </a:p>
        </p:txBody>
      </p:sp>
      <p:sp>
        <p:nvSpPr>
          <p:cNvPr id="21" name="Shape 19"/>
          <p:cNvSpPr/>
          <p:nvPr/>
        </p:nvSpPr>
        <p:spPr>
          <a:xfrm>
            <a:off x="9544507" y="1755648"/>
            <a:ext cx="2114093"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22" name="Text 20"/>
          <p:cNvSpPr txBox="1"/>
          <p:nvPr/>
        </p:nvSpPr>
        <p:spPr>
          <a:xfrm>
            <a:off x="9663379"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SQLite + Excel</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piece · cycle · event</a:t>
            </a:r>
            <a:endParaRPr lang="en-US" sz="1050" dirty="0"/>
          </a:p>
        </p:txBody>
      </p:sp>
      <p:sp>
        <p:nvSpPr>
          <p:cNvPr id="23" name="Text 21"/>
          <p:cNvSpPr txBox="1"/>
          <p:nvPr/>
        </p:nvSpPr>
        <p:spPr>
          <a:xfrm>
            <a:off x="502920" y="2651760"/>
            <a:ext cx="5623560" cy="201168"/>
          </a:xfrm>
          <a:prstGeom prst="rect">
            <a:avLst/>
          </a:prstGeom>
          <a:noFill/>
          <a:ln/>
        </p:spPr>
        <p:txBody>
          <a:bodyPr wrap="square" lIns="0" tIns="0" rIns="0" bIns="0" rtlCol="0" anchor="ctr"/>
          <a:lstStyle/>
          <a:p>
            <a:pPr marL="0" indent="0">
              <a:buNone/>
            </a:pPr>
            <a:r>
              <a:rPr lang="en-US" sz="950" b="1" kern="0" spc="140" dirty="0">
                <a:solidFill>
                  <a:srgbClr val="3B4BC8"/>
                </a:solidFill>
                <a:latin typeface="Calibri" pitchFamily="34" charset="0"/>
                <a:ea typeface="Calibri" pitchFamily="34" charset="-122"/>
                <a:cs typeface="Calibri" pitchFamily="34" charset="-120"/>
              </a:rPr>
              <a:t>THE COUNTING RULE</a:t>
            </a:r>
            <a:endParaRPr lang="en-US" sz="950" dirty="0"/>
          </a:p>
        </p:txBody>
      </p:sp>
      <p:sp>
        <p:nvSpPr>
          <p:cNvPr id="24" name="Shape 22"/>
          <p:cNvSpPr/>
          <p:nvPr/>
        </p:nvSpPr>
        <p:spPr>
          <a:xfrm>
            <a:off x="502920" y="2871216"/>
            <a:ext cx="5623560" cy="1920240"/>
          </a:xfrm>
          <a:prstGeom prst="roundRect">
            <a:avLst>
              <a:gd name="adj" fmla="val 4286"/>
            </a:avLst>
          </a:prstGeom>
          <a:solidFill>
            <a:srgbClr val="FFFFFF"/>
          </a:solidFill>
          <a:ln w="12700">
            <a:solidFill>
              <a:srgbClr val="DDE1F2"/>
            </a:solidFill>
            <a:prstDash val="solid"/>
          </a:ln>
        </p:spPr>
        <p:txBody>
          <a:bodyPr/>
          <a:lstStyle/>
          <a:p>
            <a:endParaRPr lang="en-GB"/>
          </a:p>
        </p:txBody>
      </p:sp>
      <p:sp>
        <p:nvSpPr>
          <p:cNvPr id="25" name="Text 23"/>
          <p:cNvSpPr txBox="1"/>
          <p:nvPr/>
        </p:nvSpPr>
        <p:spPr>
          <a:xfrm>
            <a:off x="704088" y="2962656"/>
            <a:ext cx="5221224" cy="219456"/>
          </a:xfrm>
          <a:prstGeom prst="rect">
            <a:avLst/>
          </a:prstGeom>
          <a:noFill/>
          <a:ln/>
        </p:spPr>
        <p:txBody>
          <a:bodyPr wrap="square" lIns="0" tIns="0" rIns="0" bIns="0" rtlCol="0" anchor="ctr"/>
          <a:lstStyle/>
          <a:p>
            <a:pPr marL="0" indent="0">
              <a:buNone/>
            </a:pPr>
            <a:r>
              <a:rPr lang="en-US" sz="950" b="1" dirty="0">
                <a:solidFill>
                  <a:srgbClr val="72778F"/>
                </a:solidFill>
                <a:latin typeface="Calibri" pitchFamily="34" charset="0"/>
                <a:ea typeface="Calibri" pitchFamily="34" charset="-122"/>
                <a:cs typeface="Calibri" pitchFamily="34" charset="-120"/>
              </a:rPr>
              <a:t>A piece counts only at a confirmed transition</a:t>
            </a:r>
            <a:endParaRPr lang="en-US" sz="950" dirty="0"/>
          </a:p>
        </p:txBody>
      </p:sp>
      <p:sp>
        <p:nvSpPr>
          <p:cNvPr id="26" name="Shape 24"/>
          <p:cNvSpPr/>
          <p:nvPr/>
        </p:nvSpPr>
        <p:spPr>
          <a:xfrm>
            <a:off x="704088" y="3273552"/>
            <a:ext cx="1572768" cy="676656"/>
          </a:xfrm>
          <a:prstGeom prst="roundRect">
            <a:avLst>
              <a:gd name="adj" fmla="val 12162"/>
            </a:avLst>
          </a:prstGeom>
          <a:solidFill>
            <a:srgbClr val="E9F7F1"/>
          </a:solidFill>
          <a:ln w="12700">
            <a:solidFill>
              <a:srgbClr val="DDE1F2"/>
            </a:solidFill>
            <a:prstDash val="solid"/>
          </a:ln>
        </p:spPr>
        <p:txBody>
          <a:bodyPr/>
          <a:lstStyle/>
          <a:p>
            <a:endParaRPr lang="en-GB"/>
          </a:p>
        </p:txBody>
      </p:sp>
      <p:sp>
        <p:nvSpPr>
          <p:cNvPr id="27" name="Text 25"/>
          <p:cNvSpPr txBox="1"/>
          <p:nvPr/>
        </p:nvSpPr>
        <p:spPr>
          <a:xfrm>
            <a:off x="795528" y="3328416"/>
            <a:ext cx="1389888" cy="256032"/>
          </a:xfrm>
          <a:prstGeom prst="rect">
            <a:avLst/>
          </a:prstGeom>
          <a:noFill/>
          <a:ln/>
        </p:spPr>
        <p:txBody>
          <a:bodyPr wrap="square" lIns="0" tIns="0" rIns="0" bIns="0" rtlCol="0" anchor="ctr"/>
          <a:lstStyle/>
          <a:p>
            <a:pPr marL="0" indent="0" algn="ctr">
              <a:buNone/>
            </a:pPr>
            <a:r>
              <a:rPr lang="en-US" sz="1050" b="1" dirty="0">
                <a:solidFill>
                  <a:srgbClr val="2FA36B"/>
                </a:solidFill>
                <a:latin typeface="Calibri" pitchFamily="34" charset="0"/>
                <a:ea typeface="Calibri" pitchFamily="34" charset="-122"/>
                <a:cs typeface="Calibri" pitchFamily="34" charset="-120"/>
              </a:rPr>
              <a:t>SEWING</a:t>
            </a:r>
            <a:endParaRPr lang="en-US" sz="1050" dirty="0"/>
          </a:p>
        </p:txBody>
      </p:sp>
      <p:sp>
        <p:nvSpPr>
          <p:cNvPr id="28" name="Text 26"/>
          <p:cNvSpPr txBox="1"/>
          <p:nvPr/>
        </p:nvSpPr>
        <p:spPr>
          <a:xfrm>
            <a:off x="758952" y="3584448"/>
            <a:ext cx="1463040" cy="219456"/>
          </a:xfrm>
          <a:prstGeom prst="rect">
            <a:avLst/>
          </a:prstGeom>
          <a:noFill/>
          <a:ln/>
        </p:spPr>
        <p:txBody>
          <a:bodyPr wrap="square" lIns="0" tIns="0" rIns="0" bIns="0" rtlCol="0" anchor="ctr"/>
          <a:lstStyle/>
          <a:p>
            <a:pPr marL="0" indent="0" algn="ctr">
              <a:buNone/>
            </a:pPr>
            <a:r>
              <a:rPr lang="en-US" sz="800" dirty="0">
                <a:solidFill>
                  <a:srgbClr val="72778F"/>
                </a:solidFill>
                <a:latin typeface="Calibri" pitchFamily="34" charset="0"/>
                <a:ea typeface="Calibri" pitchFamily="34" charset="-122"/>
                <a:cs typeface="Calibri" pitchFamily="34" charset="-120"/>
              </a:rPr>
              <a:t>confirmed ≥ 2.0 s</a:t>
            </a:r>
            <a:endParaRPr lang="en-US" sz="800" dirty="0"/>
          </a:p>
        </p:txBody>
      </p:sp>
      <p:sp>
        <p:nvSpPr>
          <p:cNvPr id="29" name="Shape 27"/>
          <p:cNvSpPr/>
          <p:nvPr/>
        </p:nvSpPr>
        <p:spPr>
          <a:xfrm>
            <a:off x="2313432" y="3566160"/>
            <a:ext cx="164592" cy="100584"/>
          </a:xfrm>
          <a:prstGeom prst="rightArrow">
            <a:avLst/>
          </a:prstGeom>
          <a:solidFill>
            <a:srgbClr val="3B4BC8"/>
          </a:solidFill>
          <a:ln/>
        </p:spPr>
        <p:txBody>
          <a:bodyPr/>
          <a:lstStyle/>
          <a:p>
            <a:endParaRPr lang="en-GB"/>
          </a:p>
        </p:txBody>
      </p:sp>
      <p:sp>
        <p:nvSpPr>
          <p:cNvPr id="30" name="Shape 28"/>
          <p:cNvSpPr/>
          <p:nvPr/>
        </p:nvSpPr>
        <p:spPr>
          <a:xfrm>
            <a:off x="2532888" y="3273552"/>
            <a:ext cx="1572768"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31" name="Text 29"/>
          <p:cNvSpPr txBox="1"/>
          <p:nvPr/>
        </p:nvSpPr>
        <p:spPr>
          <a:xfrm>
            <a:off x="2624328" y="3328416"/>
            <a:ext cx="1389888" cy="256032"/>
          </a:xfrm>
          <a:prstGeom prst="rect">
            <a:avLst/>
          </a:prstGeom>
          <a:noFill/>
          <a:ln/>
        </p:spPr>
        <p:txBody>
          <a:bodyPr wrap="square" lIns="0" tIns="0" rIns="0" bIns="0" rtlCol="0" anchor="ctr"/>
          <a:lstStyle/>
          <a:p>
            <a:pPr marL="0" indent="0" algn="ctr">
              <a:buNone/>
            </a:pPr>
            <a:r>
              <a:rPr lang="en-US" sz="1050" b="1" dirty="0">
                <a:solidFill>
                  <a:srgbClr val="3B4BC8"/>
                </a:solidFill>
                <a:latin typeface="Calibri" pitchFamily="34" charset="0"/>
                <a:ea typeface="Calibri" pitchFamily="34" charset="-122"/>
                <a:cs typeface="Calibri" pitchFamily="34" charset="-120"/>
              </a:rPr>
              <a:t>IDLE / SETUP</a:t>
            </a:r>
            <a:endParaRPr lang="en-US" sz="1050" dirty="0"/>
          </a:p>
        </p:txBody>
      </p:sp>
      <p:sp>
        <p:nvSpPr>
          <p:cNvPr id="32" name="Text 30"/>
          <p:cNvSpPr txBox="1"/>
          <p:nvPr/>
        </p:nvSpPr>
        <p:spPr>
          <a:xfrm>
            <a:off x="2587752" y="3584448"/>
            <a:ext cx="1463040" cy="219456"/>
          </a:xfrm>
          <a:prstGeom prst="rect">
            <a:avLst/>
          </a:prstGeom>
          <a:noFill/>
          <a:ln/>
        </p:spPr>
        <p:txBody>
          <a:bodyPr wrap="square" lIns="0" tIns="0" rIns="0" bIns="0" rtlCol="0" anchor="ctr"/>
          <a:lstStyle/>
          <a:p>
            <a:pPr marL="0" indent="0" algn="ctr">
              <a:buNone/>
            </a:pPr>
            <a:r>
              <a:rPr lang="en-US" sz="800" dirty="0">
                <a:solidFill>
                  <a:srgbClr val="72778F"/>
                </a:solidFill>
                <a:latin typeface="Calibri" pitchFamily="34" charset="0"/>
                <a:ea typeface="Calibri" pitchFamily="34" charset="-122"/>
                <a:cs typeface="Calibri" pitchFamily="34" charset="-120"/>
              </a:rPr>
              <a:t>confirmed ≥ 0.6 s</a:t>
            </a:r>
            <a:endParaRPr lang="en-US" sz="800" dirty="0"/>
          </a:p>
        </p:txBody>
      </p:sp>
      <p:sp>
        <p:nvSpPr>
          <p:cNvPr id="33" name="Shape 31"/>
          <p:cNvSpPr/>
          <p:nvPr/>
        </p:nvSpPr>
        <p:spPr>
          <a:xfrm>
            <a:off x="4142232" y="3566160"/>
            <a:ext cx="164592" cy="100584"/>
          </a:xfrm>
          <a:prstGeom prst="rightArrow">
            <a:avLst/>
          </a:prstGeom>
          <a:solidFill>
            <a:srgbClr val="3B4BC8"/>
          </a:solidFill>
          <a:ln/>
        </p:spPr>
        <p:txBody>
          <a:bodyPr/>
          <a:lstStyle/>
          <a:p>
            <a:endParaRPr lang="en-GB"/>
          </a:p>
        </p:txBody>
      </p:sp>
      <p:sp>
        <p:nvSpPr>
          <p:cNvPr id="34" name="Shape 32"/>
          <p:cNvSpPr/>
          <p:nvPr/>
        </p:nvSpPr>
        <p:spPr>
          <a:xfrm>
            <a:off x="4361688" y="3273552"/>
            <a:ext cx="1572768" cy="676656"/>
          </a:xfrm>
          <a:prstGeom prst="roundRect">
            <a:avLst>
              <a:gd name="adj" fmla="val 12162"/>
            </a:avLst>
          </a:prstGeom>
          <a:solidFill>
            <a:srgbClr val="E2E6F7"/>
          </a:solidFill>
          <a:ln w="12700">
            <a:solidFill>
              <a:srgbClr val="DDE1F2"/>
            </a:solidFill>
            <a:prstDash val="solid"/>
          </a:ln>
        </p:spPr>
        <p:txBody>
          <a:bodyPr/>
          <a:lstStyle/>
          <a:p>
            <a:endParaRPr lang="en-GB"/>
          </a:p>
        </p:txBody>
      </p:sp>
      <p:sp>
        <p:nvSpPr>
          <p:cNvPr id="35" name="Text 33"/>
          <p:cNvSpPr txBox="1"/>
          <p:nvPr/>
        </p:nvSpPr>
        <p:spPr>
          <a:xfrm>
            <a:off x="4453128" y="3328416"/>
            <a:ext cx="1389888" cy="256032"/>
          </a:xfrm>
          <a:prstGeom prst="rect">
            <a:avLst/>
          </a:prstGeom>
          <a:noFill/>
          <a:ln/>
        </p:spPr>
        <p:txBody>
          <a:bodyPr wrap="square" lIns="0" tIns="0" rIns="0" bIns="0" rtlCol="0" anchor="ctr"/>
          <a:lstStyle/>
          <a:p>
            <a:pPr marL="0" indent="0" algn="ctr">
              <a:buNone/>
            </a:pPr>
            <a:r>
              <a:rPr lang="en-US" sz="1050" b="1" dirty="0">
                <a:solidFill>
                  <a:srgbClr val="141735"/>
                </a:solidFill>
                <a:latin typeface="Calibri" pitchFamily="34" charset="0"/>
                <a:ea typeface="Calibri" pitchFamily="34" charset="-122"/>
                <a:cs typeface="Calibri" pitchFamily="34" charset="-120"/>
              </a:rPr>
              <a:t>+1 GARMENT</a:t>
            </a:r>
            <a:endParaRPr lang="en-US" sz="1050" dirty="0"/>
          </a:p>
        </p:txBody>
      </p:sp>
      <p:sp>
        <p:nvSpPr>
          <p:cNvPr id="36" name="Text 34"/>
          <p:cNvSpPr txBox="1"/>
          <p:nvPr/>
        </p:nvSpPr>
        <p:spPr>
          <a:xfrm>
            <a:off x="4416552" y="3584448"/>
            <a:ext cx="1463040" cy="219456"/>
          </a:xfrm>
          <a:prstGeom prst="rect">
            <a:avLst/>
          </a:prstGeom>
          <a:noFill/>
          <a:ln/>
        </p:spPr>
        <p:txBody>
          <a:bodyPr wrap="square" lIns="0" tIns="0" rIns="0" bIns="0" rtlCol="0" anchor="ctr"/>
          <a:lstStyle/>
          <a:p>
            <a:pPr marL="0" indent="0" algn="ctr">
              <a:buNone/>
            </a:pPr>
            <a:r>
              <a:rPr lang="en-US" sz="800" dirty="0">
                <a:solidFill>
                  <a:srgbClr val="72778F"/>
                </a:solidFill>
                <a:latin typeface="Calibri" pitchFamily="34" charset="0"/>
                <a:ea typeface="Calibri" pitchFamily="34" charset="-122"/>
                <a:cs typeface="Calibri" pitchFamily="34" charset="-120"/>
              </a:rPr>
              <a:t>cycle time written</a:t>
            </a:r>
            <a:endParaRPr lang="en-US" sz="800" dirty="0"/>
          </a:p>
        </p:txBody>
      </p:sp>
      <p:sp>
        <p:nvSpPr>
          <p:cNvPr id="37" name="Shape 35"/>
          <p:cNvSpPr/>
          <p:nvPr/>
        </p:nvSpPr>
        <p:spPr>
          <a:xfrm>
            <a:off x="704088" y="4078224"/>
            <a:ext cx="5221224" cy="548640"/>
          </a:xfrm>
          <a:prstGeom prst="roundRect">
            <a:avLst>
              <a:gd name="adj" fmla="val 15000"/>
            </a:avLst>
          </a:prstGeom>
          <a:solidFill>
            <a:srgbClr val="FBEDEC"/>
          </a:solidFill>
          <a:ln/>
        </p:spPr>
        <p:txBody>
          <a:bodyPr/>
          <a:lstStyle/>
          <a:p>
            <a:endParaRPr lang="en-GB"/>
          </a:p>
        </p:txBody>
      </p:sp>
      <p:sp>
        <p:nvSpPr>
          <p:cNvPr id="38" name="Text 36"/>
          <p:cNvSpPr txBox="1"/>
          <p:nvPr/>
        </p:nvSpPr>
        <p:spPr>
          <a:xfrm>
            <a:off x="850392" y="4114800"/>
            <a:ext cx="4928616" cy="237744"/>
          </a:xfrm>
          <a:prstGeom prst="rect">
            <a:avLst/>
          </a:prstGeom>
          <a:noFill/>
          <a:ln/>
        </p:spPr>
        <p:txBody>
          <a:bodyPr wrap="square" lIns="0" tIns="0" rIns="0" bIns="0" rtlCol="0" anchor="ctr"/>
          <a:lstStyle/>
          <a:p>
            <a:pPr marL="0" indent="0">
              <a:buNone/>
            </a:pPr>
            <a:r>
              <a:rPr lang="en-US" sz="950" b="1" dirty="0">
                <a:solidFill>
                  <a:srgbClr val="C4453F"/>
                </a:solidFill>
                <a:latin typeface="Calibri" pitchFamily="34" charset="0"/>
                <a:ea typeface="Calibri" pitchFamily="34" charset="-122"/>
                <a:cs typeface="Calibri" pitchFamily="34" charset="-120"/>
              </a:rPr>
              <a:t>REWORK   ·   DOWNTIME   ·   controller disconnected</a:t>
            </a:r>
            <a:endParaRPr lang="en-US" sz="950" dirty="0"/>
          </a:p>
        </p:txBody>
      </p:sp>
      <p:sp>
        <p:nvSpPr>
          <p:cNvPr id="39" name="Text 37"/>
          <p:cNvSpPr txBox="1"/>
          <p:nvPr/>
        </p:nvSpPr>
        <p:spPr>
          <a:xfrm>
            <a:off x="850392" y="4334256"/>
            <a:ext cx="4928616" cy="219456"/>
          </a:xfrm>
          <a:prstGeom prst="rect">
            <a:avLst/>
          </a:prstGeom>
          <a:noFill/>
          <a:ln/>
        </p:spPr>
        <p:txBody>
          <a:bodyPr wrap="square" lIns="0" tIns="0" rIns="0" bIns="0" rtlCol="0" anchor="ctr"/>
          <a:lstStyle/>
          <a:p>
            <a:pPr marL="0" indent="0">
              <a:buNone/>
            </a:pPr>
            <a:r>
              <a:rPr lang="en-US" sz="900" dirty="0">
                <a:solidFill>
                  <a:srgbClr val="3E4257"/>
                </a:solidFill>
                <a:latin typeface="Calibri" pitchFamily="34" charset="0"/>
                <a:ea typeface="Calibri" pitchFamily="34" charset="-122"/>
                <a:cs typeface="Calibri" pitchFamily="34" charset="-120"/>
              </a:rPr>
              <a:t>counting pauses — the confirmed count is never reset</a:t>
            </a:r>
            <a:endParaRPr lang="en-US" sz="900" dirty="0"/>
          </a:p>
        </p:txBody>
      </p:sp>
      <p:sp>
        <p:nvSpPr>
          <p:cNvPr id="40" name="Shape 38"/>
          <p:cNvSpPr/>
          <p:nvPr/>
        </p:nvSpPr>
        <p:spPr>
          <a:xfrm>
            <a:off x="6355080" y="2871216"/>
            <a:ext cx="5303520" cy="566928"/>
          </a:xfrm>
          <a:prstGeom prst="roundRect">
            <a:avLst>
              <a:gd name="adj" fmla="val 14516"/>
            </a:avLst>
          </a:prstGeom>
          <a:solidFill>
            <a:srgbClr val="F1F3FC"/>
          </a:solidFill>
          <a:ln/>
        </p:spPr>
        <p:txBody>
          <a:bodyPr/>
          <a:lstStyle/>
          <a:p>
            <a:endParaRPr lang="en-GB"/>
          </a:p>
        </p:txBody>
      </p:sp>
      <p:sp>
        <p:nvSpPr>
          <p:cNvPr id="41" name="Text 39"/>
          <p:cNvSpPr txBox="1"/>
          <p:nvPr/>
        </p:nvSpPr>
        <p:spPr>
          <a:xfrm>
            <a:off x="6565392" y="2871216"/>
            <a:ext cx="4901184" cy="566928"/>
          </a:xfrm>
          <a:prstGeom prst="rect">
            <a:avLst/>
          </a:prstGeom>
          <a:noFill/>
          <a:ln/>
        </p:spPr>
        <p:txBody>
          <a:bodyPr wrap="square" lIns="0" tIns="0" rIns="0" bIns="0" rtlCol="0" anchor="ctr"/>
          <a:lstStyle/>
          <a:p>
            <a:pPr marL="0" indent="0">
              <a:buNone/>
            </a:pPr>
            <a:r>
              <a:rPr lang="en-US" sz="1100" b="1" dirty="0">
                <a:solidFill>
                  <a:srgbClr val="141735"/>
                </a:solidFill>
                <a:latin typeface="Calibri" pitchFamily="34" charset="0"/>
                <a:ea typeface="Calibri" pitchFamily="34" charset="-122"/>
                <a:cs typeface="Calibri" pitchFamily="34" charset="-120"/>
              </a:rPr>
              <a:t>Produces the line's output number — every other component is measured against it.</a:t>
            </a:r>
            <a:endParaRPr lang="en-US" sz="1100" dirty="0"/>
          </a:p>
        </p:txBody>
      </p:sp>
      <p:sp>
        <p:nvSpPr>
          <p:cNvPr id="42" name="Text 40"/>
          <p:cNvSpPr txBox="1"/>
          <p:nvPr/>
        </p:nvSpPr>
        <p:spPr>
          <a:xfrm>
            <a:off x="6355080" y="3566160"/>
            <a:ext cx="2560320" cy="201168"/>
          </a:xfrm>
          <a:prstGeom prst="rect">
            <a:avLst/>
          </a:prstGeom>
          <a:noFill/>
          <a:ln/>
        </p:spPr>
        <p:txBody>
          <a:bodyPr wrap="square" lIns="0" tIns="0" rIns="0" bIns="0" rtlCol="0" anchor="ctr"/>
          <a:lstStyle/>
          <a:p>
            <a:pPr marL="0" indent="0">
              <a:buNone/>
            </a:pPr>
            <a:r>
              <a:rPr lang="en-US" sz="900" b="1" kern="0" spc="140" dirty="0">
                <a:solidFill>
                  <a:srgbClr val="2A3596"/>
                </a:solidFill>
                <a:latin typeface="Calibri" pitchFamily="34" charset="0"/>
                <a:ea typeface="Calibri" pitchFamily="34" charset="-122"/>
                <a:cs typeface="Calibri" pitchFamily="34" charset="-120"/>
              </a:rPr>
              <a:t>DEPENDENCIES</a:t>
            </a:r>
            <a:endParaRPr lang="en-US" sz="900" dirty="0"/>
          </a:p>
        </p:txBody>
      </p:sp>
      <p:sp>
        <p:nvSpPr>
          <p:cNvPr id="43" name="Text 41"/>
          <p:cNvSpPr txBox="1"/>
          <p:nvPr/>
        </p:nvSpPr>
        <p:spPr>
          <a:xfrm>
            <a:off x="6400800" y="3785616"/>
            <a:ext cx="2487168" cy="100584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Workstation camera, tested and resolved to a device index</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ESP32-C3 connected with live notifications</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Both checkpoints loaded and warmed</a:t>
            </a:r>
            <a:endParaRPr lang="en-US" sz="900" dirty="0"/>
          </a:p>
        </p:txBody>
      </p:sp>
      <p:sp>
        <p:nvSpPr>
          <p:cNvPr id="44" name="Text 42"/>
          <p:cNvSpPr txBox="1"/>
          <p:nvPr/>
        </p:nvSpPr>
        <p:spPr>
          <a:xfrm>
            <a:off x="9098280" y="3566160"/>
            <a:ext cx="2560320" cy="201168"/>
          </a:xfrm>
          <a:prstGeom prst="rect">
            <a:avLst/>
          </a:prstGeom>
          <a:noFill/>
          <a:ln/>
        </p:spPr>
        <p:txBody>
          <a:bodyPr wrap="square" lIns="0" tIns="0" rIns="0" bIns="0" rtlCol="0" anchor="ctr"/>
          <a:lstStyle/>
          <a:p>
            <a:pPr marL="0" indent="0">
              <a:buNone/>
            </a:pPr>
            <a:r>
              <a:rPr lang="en-US" sz="900" b="1" kern="0" spc="140" dirty="0">
                <a:solidFill>
                  <a:srgbClr val="2A3596"/>
                </a:solidFill>
                <a:latin typeface="Calibri" pitchFamily="34" charset="0"/>
                <a:ea typeface="Calibri" pitchFamily="34" charset="-122"/>
                <a:cs typeface="Calibri" pitchFamily="34" charset="-120"/>
              </a:rPr>
              <a:t>DESIGN CHOICES</a:t>
            </a:r>
            <a:endParaRPr lang="en-US" sz="900" dirty="0"/>
          </a:p>
        </p:txBody>
      </p:sp>
      <p:sp>
        <p:nvSpPr>
          <p:cNvPr id="45" name="Text 43"/>
          <p:cNvSpPr txBox="1"/>
          <p:nvPr/>
        </p:nvSpPr>
        <p:spPr>
          <a:xfrm>
            <a:off x="9144000" y="3785616"/>
            <a:ext cx="2487168" cy="100584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Validate the scene before classifying the activity</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Count on a transition, never a single frame</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Hardware interlock pauses counting at source</a:t>
            </a:r>
            <a:endParaRPr lang="en-US" sz="900" dirty="0"/>
          </a:p>
        </p:txBody>
      </p:sp>
      <p:sp>
        <p:nvSpPr>
          <p:cNvPr id="46" name="Text 44"/>
          <p:cNvSpPr txBox="1"/>
          <p:nvPr/>
        </p:nvSpPr>
        <p:spPr>
          <a:xfrm>
            <a:off x="502920" y="4956048"/>
            <a:ext cx="5623560" cy="201168"/>
          </a:xfrm>
          <a:prstGeom prst="rect">
            <a:avLst/>
          </a:prstGeom>
          <a:noFill/>
          <a:ln/>
        </p:spPr>
        <p:txBody>
          <a:bodyPr wrap="square" lIns="0" tIns="0" rIns="0" bIns="0" rtlCol="0" anchor="ctr"/>
          <a:lstStyle/>
          <a:p>
            <a:pPr marL="0" indent="0">
              <a:buNone/>
            </a:pPr>
            <a:r>
              <a:rPr lang="en-US" sz="900" b="1" kern="0" spc="140" dirty="0">
                <a:solidFill>
                  <a:srgbClr val="2FA36B"/>
                </a:solidFill>
                <a:latin typeface="Calibri" pitchFamily="34" charset="0"/>
                <a:ea typeface="Calibri" pitchFamily="34" charset="-122"/>
                <a:cs typeface="Calibri" pitchFamily="34" charset="-120"/>
              </a:rPr>
              <a:t>TEST EVIDENCE</a:t>
            </a:r>
            <a:endParaRPr lang="en-US" sz="900" dirty="0"/>
          </a:p>
        </p:txBody>
      </p:sp>
      <p:sp>
        <p:nvSpPr>
          <p:cNvPr id="47" name="Shape 45"/>
          <p:cNvSpPr/>
          <p:nvPr/>
        </p:nvSpPr>
        <p:spPr>
          <a:xfrm>
            <a:off x="502920" y="5175504"/>
            <a:ext cx="5623560" cy="1005840"/>
          </a:xfrm>
          <a:prstGeom prst="roundRect">
            <a:avLst>
              <a:gd name="adj" fmla="val 8182"/>
            </a:avLst>
          </a:prstGeom>
          <a:solidFill>
            <a:srgbClr val="E9F7F1"/>
          </a:solidFill>
          <a:ln/>
        </p:spPr>
        <p:txBody>
          <a:bodyPr/>
          <a:lstStyle/>
          <a:p>
            <a:endParaRPr lang="en-GB"/>
          </a:p>
        </p:txBody>
      </p:sp>
      <p:sp>
        <p:nvSpPr>
          <p:cNvPr id="48" name="Shape 46"/>
          <p:cNvSpPr/>
          <p:nvPr/>
        </p:nvSpPr>
        <p:spPr>
          <a:xfrm>
            <a:off x="658368"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49" name="Text 47"/>
          <p:cNvSpPr txBox="1"/>
          <p:nvPr/>
        </p:nvSpPr>
        <p:spPr>
          <a:xfrm>
            <a:off x="658368" y="5340096"/>
            <a:ext cx="1691640" cy="329184"/>
          </a:xfrm>
          <a:prstGeom prst="rect">
            <a:avLst/>
          </a:prstGeom>
          <a:noFill/>
          <a:ln/>
        </p:spPr>
        <p:txBody>
          <a:bodyPr wrap="square" lIns="0" tIns="0" rIns="0" bIns="0" rtlCol="0" anchor="ctr"/>
          <a:lstStyle/>
          <a:p>
            <a:pPr marL="0" indent="0" algn="ctr">
              <a:buNone/>
            </a:pPr>
            <a:r>
              <a:rPr lang="en-US" sz="1700" b="1" dirty="0">
                <a:solidFill>
                  <a:srgbClr val="2FA36B"/>
                </a:solidFill>
                <a:latin typeface="Cambria" pitchFamily="34" charset="0"/>
                <a:ea typeface="Cambria" pitchFamily="34" charset="-122"/>
                <a:cs typeface="Cambria" pitchFamily="34" charset="-120"/>
              </a:rPr>
              <a:t>74</a:t>
            </a:r>
            <a:endParaRPr lang="en-US" sz="1700" dirty="0"/>
          </a:p>
        </p:txBody>
      </p:sp>
      <p:sp>
        <p:nvSpPr>
          <p:cNvPr id="50" name="Text 48"/>
          <p:cNvSpPr txBox="1"/>
          <p:nvPr/>
        </p:nvSpPr>
        <p:spPr>
          <a:xfrm>
            <a:off x="731520"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backend tests passing</a:t>
            </a:r>
            <a:endParaRPr lang="en-US" sz="800" dirty="0"/>
          </a:p>
        </p:txBody>
      </p:sp>
      <p:sp>
        <p:nvSpPr>
          <p:cNvPr id="51" name="Shape 49"/>
          <p:cNvSpPr/>
          <p:nvPr/>
        </p:nvSpPr>
        <p:spPr>
          <a:xfrm>
            <a:off x="2478024"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52" name="Text 50"/>
          <p:cNvSpPr txBox="1"/>
          <p:nvPr/>
        </p:nvSpPr>
        <p:spPr>
          <a:xfrm>
            <a:off x="2478024" y="5340096"/>
            <a:ext cx="1691640" cy="329184"/>
          </a:xfrm>
          <a:prstGeom prst="rect">
            <a:avLst/>
          </a:prstGeom>
          <a:noFill/>
          <a:ln/>
        </p:spPr>
        <p:txBody>
          <a:bodyPr wrap="square" lIns="0" tIns="0" rIns="0" bIns="0" rtlCol="0" anchor="ctr"/>
          <a:lstStyle/>
          <a:p>
            <a:pPr marL="0" indent="0" algn="ctr">
              <a:buNone/>
            </a:pPr>
            <a:r>
              <a:rPr lang="en-US" sz="1700" b="1" dirty="0">
                <a:solidFill>
                  <a:srgbClr val="2FA36B"/>
                </a:solidFill>
                <a:latin typeface="Cambria" pitchFamily="34" charset="0"/>
                <a:ea typeface="Cambria" pitchFamily="34" charset="-122"/>
                <a:cs typeface="Cambria" pitchFamily="34" charset="-120"/>
              </a:rPr>
              <a:t>2</a:t>
            </a:r>
            <a:endParaRPr lang="en-US" sz="1700" dirty="0"/>
          </a:p>
        </p:txBody>
      </p:sp>
      <p:sp>
        <p:nvSpPr>
          <p:cNvPr id="53" name="Text 51"/>
          <p:cNvSpPr txBox="1"/>
          <p:nvPr/>
        </p:nvSpPr>
        <p:spPr>
          <a:xfrm>
            <a:off x="2551176"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models loaded on CPU</a:t>
            </a:r>
            <a:endParaRPr lang="en-US" sz="800" dirty="0"/>
          </a:p>
        </p:txBody>
      </p:sp>
      <p:sp>
        <p:nvSpPr>
          <p:cNvPr id="54" name="Shape 52"/>
          <p:cNvSpPr/>
          <p:nvPr/>
        </p:nvSpPr>
        <p:spPr>
          <a:xfrm>
            <a:off x="4297680"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55" name="Text 53"/>
          <p:cNvSpPr txBox="1"/>
          <p:nvPr/>
        </p:nvSpPr>
        <p:spPr>
          <a:xfrm>
            <a:off x="4297680" y="5340096"/>
            <a:ext cx="1691640" cy="329184"/>
          </a:xfrm>
          <a:prstGeom prst="rect">
            <a:avLst/>
          </a:prstGeom>
          <a:noFill/>
          <a:ln/>
        </p:spPr>
        <p:txBody>
          <a:bodyPr wrap="square" lIns="0" tIns="0" rIns="0" bIns="0" rtlCol="0" anchor="ctr"/>
          <a:lstStyle/>
          <a:p>
            <a:pPr marL="0" indent="0" algn="ctr">
              <a:buNone/>
            </a:pPr>
            <a:r>
              <a:rPr lang="en-US" sz="1700" b="1" dirty="0">
                <a:solidFill>
                  <a:srgbClr val="2FA36B"/>
                </a:solidFill>
                <a:latin typeface="Cambria" pitchFamily="34" charset="0"/>
                <a:ea typeface="Cambria" pitchFamily="34" charset="-122"/>
                <a:cs typeface="Cambria" pitchFamily="34" charset="-120"/>
              </a:rPr>
              <a:t>1st</a:t>
            </a:r>
            <a:endParaRPr lang="en-US" sz="1700" dirty="0"/>
          </a:p>
        </p:txBody>
      </p:sp>
      <p:sp>
        <p:nvSpPr>
          <p:cNvPr id="56" name="Text 54"/>
          <p:cNvSpPr txBox="1"/>
          <p:nvPr/>
        </p:nvSpPr>
        <p:spPr>
          <a:xfrm>
            <a:off x="4370832"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piece carries a cycle time</a:t>
            </a:r>
            <a:endParaRPr lang="en-US" sz="800" dirty="0"/>
          </a:p>
        </p:txBody>
      </p:sp>
      <p:sp>
        <p:nvSpPr>
          <p:cNvPr id="57" name="Text 55"/>
          <p:cNvSpPr txBox="1"/>
          <p:nvPr/>
        </p:nvSpPr>
        <p:spPr>
          <a:xfrm>
            <a:off x="6355080" y="4956048"/>
            <a:ext cx="5303520" cy="201168"/>
          </a:xfrm>
          <a:prstGeom prst="rect">
            <a:avLst/>
          </a:prstGeom>
          <a:noFill/>
          <a:ln/>
        </p:spPr>
        <p:txBody>
          <a:bodyPr wrap="square" lIns="0" tIns="0" rIns="0" bIns="0" rtlCol="0" anchor="ctr"/>
          <a:lstStyle/>
          <a:p>
            <a:pPr marL="0" indent="0">
              <a:buNone/>
            </a:pPr>
            <a:r>
              <a:rPr lang="en-US" sz="900" b="1" kern="0" spc="140" dirty="0">
                <a:solidFill>
                  <a:srgbClr val="C4453F"/>
                </a:solidFill>
                <a:latin typeface="Calibri" pitchFamily="34" charset="0"/>
                <a:ea typeface="Calibri" pitchFamily="34" charset="-122"/>
                <a:cs typeface="Calibri" pitchFamily="34" charset="-120"/>
              </a:rPr>
              <a:t>LIMITATIONS</a:t>
            </a:r>
            <a:endParaRPr lang="en-US" sz="900" dirty="0"/>
          </a:p>
        </p:txBody>
      </p:sp>
      <p:sp>
        <p:nvSpPr>
          <p:cNvPr id="58" name="Shape 56"/>
          <p:cNvSpPr/>
          <p:nvPr/>
        </p:nvSpPr>
        <p:spPr>
          <a:xfrm>
            <a:off x="6355080" y="5175504"/>
            <a:ext cx="5303520" cy="1005840"/>
          </a:xfrm>
          <a:prstGeom prst="roundRect">
            <a:avLst>
              <a:gd name="adj" fmla="val 8182"/>
            </a:avLst>
          </a:prstGeom>
          <a:solidFill>
            <a:srgbClr val="FBEDEC"/>
          </a:solidFill>
          <a:ln/>
        </p:spPr>
        <p:txBody>
          <a:bodyPr/>
          <a:lstStyle/>
          <a:p>
            <a:endParaRPr lang="en-GB"/>
          </a:p>
        </p:txBody>
      </p:sp>
      <p:sp>
        <p:nvSpPr>
          <p:cNvPr id="59" name="Text 57"/>
          <p:cNvSpPr txBox="1"/>
          <p:nvPr/>
        </p:nvSpPr>
        <p:spPr>
          <a:xfrm>
            <a:off x="6565392" y="5321808"/>
            <a:ext cx="4901184" cy="786384"/>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50" dirty="0">
                <a:solidFill>
                  <a:srgbClr val="3E4257"/>
                </a:solidFill>
                <a:latin typeface="Calibri" pitchFamily="34" charset="0"/>
                <a:ea typeface="Calibri" pitchFamily="34" charset="-122"/>
                <a:cs typeface="Calibri" pitchFamily="34" charset="-120"/>
              </a:rPr>
              <a:t>Counting thresholds are fixed — changing them needs revalidation.</a:t>
            </a:r>
            <a:endParaRPr lang="en-US" sz="950" dirty="0"/>
          </a:p>
          <a:p>
            <a:pPr marL="342900" indent="-342900">
              <a:lnSpc>
                <a:spcPct val="100000"/>
              </a:lnSpc>
              <a:spcAft>
                <a:spcPts val="400"/>
              </a:spcAft>
              <a:buSzPct val="100000"/>
              <a:buChar char="•"/>
            </a:pPr>
            <a:r>
              <a:rPr lang="en-US" sz="950" dirty="0">
                <a:solidFill>
                  <a:srgbClr val="3E4257"/>
                </a:solidFill>
                <a:latin typeface="Calibri" pitchFamily="34" charset="0"/>
                <a:ea typeface="Calibri" pitchFamily="34" charset="-122"/>
                <a:cs typeface="Calibri" pitchFamily="34" charset="-120"/>
              </a:rPr>
              <a:t>Field accuracy against a manual count is not yet measured.</a:t>
            </a:r>
            <a:endParaRPr lang="en-US" sz="950" dirty="0"/>
          </a:p>
        </p:txBody>
      </p:sp>
      <p:sp>
        <p:nvSpPr>
          <p:cNvPr id="60" name="Text 58"/>
          <p:cNvSpPr txBox="1"/>
          <p:nvPr/>
        </p:nvSpPr>
        <p:spPr>
          <a:xfrm>
            <a:off x="502920" y="6437376"/>
            <a:ext cx="6583680" cy="237744"/>
          </a:xfrm>
          <a:prstGeom prst="rect">
            <a:avLst/>
          </a:prstGeom>
          <a:noFill/>
          <a:ln/>
        </p:spPr>
        <p:txBody>
          <a:bodyPr wrap="square" lIns="0" tIns="0" rIns="0" bIns="0" rtlCol="0" anchor="ctr"/>
          <a:lstStyle/>
          <a:p>
            <a:pPr marL="0" indent="0">
              <a:buNone/>
            </a:pPr>
            <a:r>
              <a:rPr lang="en-US" sz="900" dirty="0">
                <a:solidFill>
                  <a:srgbClr val="72778F"/>
                </a:solidFill>
                <a:latin typeface="Calibri" pitchFamily="34" charset="0"/>
                <a:ea typeface="Calibri" pitchFamily="34" charset="-122"/>
                <a:cs typeface="Calibri" pitchFamily="34" charset="-120"/>
              </a:rPr>
              <a:t>IT4010 Research Project  ·  Final Presentation &amp; Viva  ·  R26-IT-054</a:t>
            </a:r>
            <a:endParaRPr lang="en-US" sz="900" dirty="0"/>
          </a:p>
        </p:txBody>
      </p:sp>
      <p:sp>
        <p:nvSpPr>
          <p:cNvPr id="61" name="Text 59"/>
          <p:cNvSpPr txBox="1"/>
          <p:nvPr/>
        </p:nvSpPr>
        <p:spPr>
          <a:xfrm>
            <a:off x="6309360" y="6437376"/>
            <a:ext cx="4937760" cy="237744"/>
          </a:xfrm>
          <a:prstGeom prst="rect">
            <a:avLst/>
          </a:prstGeom>
          <a:noFill/>
          <a:ln/>
        </p:spPr>
        <p:txBody>
          <a:bodyPr wrap="square" lIns="0" tIns="0" rIns="0" bIns="0" rtlCol="0" anchor="ctr"/>
          <a:lstStyle/>
          <a:p>
            <a:pPr marL="0" indent="0" algn="r">
              <a:buNone/>
            </a:pPr>
            <a:r>
              <a:rPr lang="en-US" sz="900" b="1" dirty="0">
                <a:solidFill>
                  <a:srgbClr val="2A3596"/>
                </a:solidFill>
                <a:latin typeface="Calibri" pitchFamily="34" charset="0"/>
                <a:ea typeface="Calibri" pitchFamily="34" charset="-122"/>
                <a:cs typeface="Calibri" pitchFamily="34" charset="-120"/>
              </a:rPr>
              <a:t>IT21255892  ·  Dharmarathna P.W.A.N.</a:t>
            </a:r>
            <a:endParaRPr lang="en-US" sz="900" dirty="0"/>
          </a:p>
        </p:txBody>
      </p:sp>
      <p:sp>
        <p:nvSpPr>
          <p:cNvPr id="62" name="Text 60"/>
          <p:cNvSpPr txBox="1"/>
          <p:nvPr/>
        </p:nvSpPr>
        <p:spPr>
          <a:xfrm>
            <a:off x="11356848" y="6437376"/>
            <a:ext cx="329184" cy="237744"/>
          </a:xfrm>
          <a:prstGeom prst="rect">
            <a:avLst/>
          </a:prstGeom>
          <a:noFill/>
          <a:ln/>
        </p:spPr>
        <p:txBody>
          <a:bodyPr wrap="square" lIns="0" tIns="0" rIns="0" bIns="0" rtlCol="0" anchor="ctr"/>
          <a:lstStyle/>
          <a:p>
            <a:pPr marL="0" indent="0" algn="r">
              <a:buNone/>
            </a:pPr>
            <a:r>
              <a:rPr lang="en-US" sz="900" b="1" dirty="0">
                <a:solidFill>
                  <a:srgbClr val="72778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621792" cy="457200"/>
          </a:xfrm>
          <a:prstGeom prst="rect">
            <a:avLst/>
          </a:prstGeom>
          <a:noFill/>
          <a:ln/>
        </p:spPr>
        <p:txBody>
          <a:bodyPr wrap="square" lIns="0" tIns="0" rIns="0" bIns="0" rtlCol="0" anchor="ctr"/>
          <a:lstStyle/>
          <a:p>
            <a:pPr marL="0" indent="0">
              <a:buNone/>
            </a:pPr>
            <a:r>
              <a:rPr lang="en-US" sz="2800" b="1" dirty="0">
                <a:solidFill>
                  <a:srgbClr val="7C4DD6"/>
                </a:solidFill>
                <a:latin typeface="Cambria" pitchFamily="34" charset="0"/>
                <a:ea typeface="Cambria" pitchFamily="34" charset="-122"/>
                <a:cs typeface="Cambria" pitchFamily="34" charset="-120"/>
              </a:rPr>
              <a:t>C2</a:t>
            </a:r>
            <a:endParaRPr lang="en-US" sz="2800" dirty="0"/>
          </a:p>
        </p:txBody>
      </p:sp>
      <p:sp>
        <p:nvSpPr>
          <p:cNvPr id="3" name="Text 1"/>
          <p:cNvSpPr txBox="1"/>
          <p:nvPr/>
        </p:nvSpPr>
        <p:spPr>
          <a:xfrm>
            <a:off x="1152144" y="310896"/>
            <a:ext cx="8595360" cy="457200"/>
          </a:xfrm>
          <a:prstGeom prst="rect">
            <a:avLst/>
          </a:prstGeom>
          <a:noFill/>
          <a:ln/>
        </p:spPr>
        <p:txBody>
          <a:bodyPr wrap="square" lIns="0" tIns="0" rIns="0" bIns="0" rtlCol="0" anchor="ctr"/>
          <a:lstStyle/>
          <a:p>
            <a:pPr marL="0" indent="0">
              <a:buNone/>
            </a:pPr>
            <a:r>
              <a:rPr lang="en-US" sz="2600" b="1" dirty="0">
                <a:solidFill>
                  <a:srgbClr val="141735"/>
                </a:solidFill>
                <a:latin typeface="Cambria" pitchFamily="34" charset="0"/>
                <a:ea typeface="Cambria" pitchFamily="34" charset="-122"/>
                <a:cs typeface="Cambria" pitchFamily="34" charset="-120"/>
              </a:rPr>
              <a:t>Style and Colour Detection</a:t>
            </a:r>
            <a:endParaRPr lang="en-US" sz="2600" dirty="0"/>
          </a:p>
        </p:txBody>
      </p:sp>
      <p:sp>
        <p:nvSpPr>
          <p:cNvPr id="4" name="Text 2"/>
          <p:cNvSpPr txBox="1"/>
          <p:nvPr/>
        </p:nvSpPr>
        <p:spPr>
          <a:xfrm>
            <a:off x="1170432" y="786384"/>
            <a:ext cx="8595360" cy="201168"/>
          </a:xfrm>
          <a:prstGeom prst="rect">
            <a:avLst/>
          </a:prstGeom>
          <a:noFill/>
          <a:ln/>
        </p:spPr>
        <p:txBody>
          <a:bodyPr wrap="square" lIns="0" tIns="0" rIns="0" bIns="0" rtlCol="0" anchor="ctr"/>
          <a:lstStyle/>
          <a:p>
            <a:pPr marL="0" indent="0">
              <a:buNone/>
            </a:pPr>
            <a:r>
              <a:rPr lang="en-US" sz="850" b="1" kern="0" spc="130" dirty="0">
                <a:solidFill>
                  <a:srgbClr val="7C4DD6"/>
                </a:solidFill>
                <a:latin typeface="Calibri" pitchFamily="34" charset="0"/>
                <a:ea typeface="Calibri" pitchFamily="34" charset="-122"/>
                <a:cs typeface="Calibri" pitchFamily="34" charset="-120"/>
              </a:rPr>
              <a:t>PACKING AREA  ·  REAL-TIME STYLE AND COLOUR RECOGNITION WITH PRODUCTION DECISION SUPPORT</a:t>
            </a:r>
            <a:endParaRPr lang="en-US" sz="850" dirty="0"/>
          </a:p>
        </p:txBody>
      </p:sp>
      <p:sp>
        <p:nvSpPr>
          <p:cNvPr id="5" name="Text 3"/>
          <p:cNvSpPr txBox="1"/>
          <p:nvPr/>
        </p:nvSpPr>
        <p:spPr>
          <a:xfrm>
            <a:off x="1170432" y="1024128"/>
            <a:ext cx="8595360" cy="310896"/>
          </a:xfrm>
          <a:prstGeom prst="rect">
            <a:avLst/>
          </a:prstGeom>
          <a:noFill/>
          <a:ln/>
        </p:spPr>
        <p:txBody>
          <a:bodyPr wrap="square" lIns="0" tIns="0" rIns="0" bIns="0" rtlCol="0" anchor="ctr"/>
          <a:lstStyle/>
          <a:p>
            <a:pPr marL="0" indent="0">
              <a:buNone/>
            </a:pPr>
            <a:r>
              <a:rPr lang="en-US" sz="1200" dirty="0">
                <a:solidFill>
                  <a:srgbClr val="3E4257"/>
                </a:solidFill>
                <a:latin typeface="Calibri" pitchFamily="34" charset="0"/>
                <a:ea typeface="Calibri" pitchFamily="34" charset="-122"/>
                <a:cs typeface="Calibri" pitchFamily="34" charset="-120"/>
              </a:rPr>
              <a:t>Style and colour from one overhead webcam — and the overtime decision that follows.</a:t>
            </a:r>
            <a:endParaRPr lang="en-US" sz="1200" dirty="0"/>
          </a:p>
        </p:txBody>
      </p:sp>
      <p:sp>
        <p:nvSpPr>
          <p:cNvPr id="7" name="Text 5"/>
          <p:cNvSpPr txBox="1"/>
          <p:nvPr/>
        </p:nvSpPr>
        <p:spPr>
          <a:xfrm>
            <a:off x="10687050" y="310896"/>
            <a:ext cx="998982" cy="1115568"/>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p:spPr>
        <p:txBody>
          <a:bodyPr wrap="square" lIns="0" tIns="0" rIns="0" bIns="0" rtlCol="0" anchor="ctr"/>
          <a:lstStyle/>
          <a:p>
            <a:pPr marL="0" indent="0" algn="ctr">
              <a:buNone/>
            </a:pPr>
            <a:endParaRPr lang="en-US" sz="900" dirty="0"/>
          </a:p>
        </p:txBody>
      </p:sp>
      <p:sp>
        <p:nvSpPr>
          <p:cNvPr id="8" name="Text 6"/>
          <p:cNvSpPr txBox="1"/>
          <p:nvPr/>
        </p:nvSpPr>
        <p:spPr>
          <a:xfrm>
            <a:off x="502920" y="1536192"/>
            <a:ext cx="5486400" cy="201168"/>
          </a:xfrm>
          <a:prstGeom prst="rect">
            <a:avLst/>
          </a:prstGeom>
          <a:noFill/>
          <a:ln/>
        </p:spPr>
        <p:txBody>
          <a:bodyPr wrap="square" lIns="0" tIns="0" rIns="0" bIns="0" rtlCol="0" anchor="ctr"/>
          <a:lstStyle/>
          <a:p>
            <a:pPr marL="0" indent="0">
              <a:buNone/>
            </a:pPr>
            <a:r>
              <a:rPr lang="en-US" sz="950" b="1" kern="0" spc="140" dirty="0">
                <a:solidFill>
                  <a:srgbClr val="7C4DD6"/>
                </a:solidFill>
                <a:latin typeface="Calibri" pitchFamily="34" charset="0"/>
                <a:ea typeface="Calibri" pitchFamily="34" charset="-122"/>
                <a:cs typeface="Calibri" pitchFamily="34" charset="-120"/>
              </a:rPr>
              <a:t>DATA FLOW</a:t>
            </a:r>
            <a:endParaRPr lang="en-US" sz="950" dirty="0"/>
          </a:p>
        </p:txBody>
      </p:sp>
      <p:sp>
        <p:nvSpPr>
          <p:cNvPr id="9" name="Shape 7"/>
          <p:cNvSpPr/>
          <p:nvPr/>
        </p:nvSpPr>
        <p:spPr>
          <a:xfrm>
            <a:off x="502920" y="1755648"/>
            <a:ext cx="2114093" cy="676656"/>
          </a:xfrm>
          <a:prstGeom prst="roundRect">
            <a:avLst>
              <a:gd name="adj" fmla="val 12162"/>
            </a:avLst>
          </a:prstGeom>
          <a:solidFill>
            <a:srgbClr val="F3F0FB"/>
          </a:solidFill>
          <a:ln w="12700">
            <a:solidFill>
              <a:srgbClr val="DDD4F1"/>
            </a:solidFill>
            <a:prstDash val="solid"/>
          </a:ln>
        </p:spPr>
        <p:txBody>
          <a:bodyPr/>
          <a:lstStyle/>
          <a:p>
            <a:endParaRPr lang="en-GB"/>
          </a:p>
        </p:txBody>
      </p:sp>
      <p:sp>
        <p:nvSpPr>
          <p:cNvPr id="10" name="Text 8"/>
          <p:cNvSpPr txBox="1"/>
          <p:nvPr/>
        </p:nvSpPr>
        <p:spPr>
          <a:xfrm>
            <a:off x="621792"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Overhead webcam</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packing zone only</a:t>
            </a:r>
            <a:endParaRPr lang="en-US" sz="1050" dirty="0"/>
          </a:p>
        </p:txBody>
      </p:sp>
      <p:sp>
        <p:nvSpPr>
          <p:cNvPr id="11" name="Shape 9"/>
          <p:cNvSpPr/>
          <p:nvPr/>
        </p:nvSpPr>
        <p:spPr>
          <a:xfrm>
            <a:off x="2633472" y="2048256"/>
            <a:ext cx="114300" cy="91440"/>
          </a:xfrm>
          <a:prstGeom prst="rightArrow">
            <a:avLst/>
          </a:prstGeom>
          <a:solidFill>
            <a:srgbClr val="7C4DD6"/>
          </a:solidFill>
          <a:ln/>
        </p:spPr>
        <p:txBody>
          <a:bodyPr/>
          <a:lstStyle/>
          <a:p>
            <a:endParaRPr lang="en-GB"/>
          </a:p>
        </p:txBody>
      </p:sp>
      <p:sp>
        <p:nvSpPr>
          <p:cNvPr id="12" name="Shape 10"/>
          <p:cNvSpPr/>
          <p:nvPr/>
        </p:nvSpPr>
        <p:spPr>
          <a:xfrm>
            <a:off x="2763317" y="1755648"/>
            <a:ext cx="2114093" cy="676656"/>
          </a:xfrm>
          <a:prstGeom prst="roundRect">
            <a:avLst>
              <a:gd name="adj" fmla="val 12162"/>
            </a:avLst>
          </a:prstGeom>
          <a:solidFill>
            <a:srgbClr val="F3F0FB"/>
          </a:solidFill>
          <a:ln w="12700">
            <a:solidFill>
              <a:srgbClr val="DDD4F1"/>
            </a:solidFill>
            <a:prstDash val="solid"/>
          </a:ln>
        </p:spPr>
        <p:txBody>
          <a:bodyPr/>
          <a:lstStyle/>
          <a:p>
            <a:endParaRPr lang="en-GB"/>
          </a:p>
        </p:txBody>
      </p:sp>
      <p:sp>
        <p:nvSpPr>
          <p:cNvPr id="13" name="Text 11"/>
          <p:cNvSpPr txBox="1"/>
          <p:nvPr/>
        </p:nvSpPr>
        <p:spPr>
          <a:xfrm>
            <a:off x="2882189"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YOLOv8n</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27 ms / frame, CPU</a:t>
            </a:r>
            <a:endParaRPr lang="en-US" sz="1050" dirty="0"/>
          </a:p>
        </p:txBody>
      </p:sp>
      <p:sp>
        <p:nvSpPr>
          <p:cNvPr id="14" name="Shape 12"/>
          <p:cNvSpPr/>
          <p:nvPr/>
        </p:nvSpPr>
        <p:spPr>
          <a:xfrm>
            <a:off x="4893869" y="2048256"/>
            <a:ext cx="114300" cy="91440"/>
          </a:xfrm>
          <a:prstGeom prst="rightArrow">
            <a:avLst/>
          </a:prstGeom>
          <a:solidFill>
            <a:srgbClr val="7C4DD6"/>
          </a:solidFill>
          <a:ln/>
        </p:spPr>
        <p:txBody>
          <a:bodyPr/>
          <a:lstStyle/>
          <a:p>
            <a:endParaRPr lang="en-GB"/>
          </a:p>
        </p:txBody>
      </p:sp>
      <p:sp>
        <p:nvSpPr>
          <p:cNvPr id="15" name="Shape 13"/>
          <p:cNvSpPr/>
          <p:nvPr/>
        </p:nvSpPr>
        <p:spPr>
          <a:xfrm>
            <a:off x="5023714" y="1755648"/>
            <a:ext cx="2114093" cy="676656"/>
          </a:xfrm>
          <a:prstGeom prst="roundRect">
            <a:avLst>
              <a:gd name="adj" fmla="val 12162"/>
            </a:avLst>
          </a:prstGeom>
          <a:solidFill>
            <a:srgbClr val="F3F0FB"/>
          </a:solidFill>
          <a:ln w="12700">
            <a:solidFill>
              <a:srgbClr val="DDD4F1"/>
            </a:solidFill>
            <a:prstDash val="solid"/>
          </a:ln>
        </p:spPr>
        <p:txBody>
          <a:bodyPr/>
          <a:lstStyle/>
          <a:p>
            <a:endParaRPr lang="en-GB"/>
          </a:p>
        </p:txBody>
      </p:sp>
      <p:sp>
        <p:nvSpPr>
          <p:cNvPr id="16" name="Text 14"/>
          <p:cNvSpPr txBox="1"/>
          <p:nvPr/>
        </p:nvSpPr>
        <p:spPr>
          <a:xfrm>
            <a:off x="5142586"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Capture gate</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see below</a:t>
            </a:r>
            <a:endParaRPr lang="en-US" sz="1050" dirty="0"/>
          </a:p>
        </p:txBody>
      </p:sp>
      <p:sp>
        <p:nvSpPr>
          <p:cNvPr id="17" name="Shape 15"/>
          <p:cNvSpPr/>
          <p:nvPr/>
        </p:nvSpPr>
        <p:spPr>
          <a:xfrm>
            <a:off x="7154266" y="2048256"/>
            <a:ext cx="114300" cy="91440"/>
          </a:xfrm>
          <a:prstGeom prst="rightArrow">
            <a:avLst/>
          </a:prstGeom>
          <a:solidFill>
            <a:srgbClr val="7C4DD6"/>
          </a:solidFill>
          <a:ln/>
        </p:spPr>
        <p:txBody>
          <a:bodyPr/>
          <a:lstStyle/>
          <a:p>
            <a:endParaRPr lang="en-GB"/>
          </a:p>
        </p:txBody>
      </p:sp>
      <p:sp>
        <p:nvSpPr>
          <p:cNvPr id="18" name="Shape 16"/>
          <p:cNvSpPr/>
          <p:nvPr/>
        </p:nvSpPr>
        <p:spPr>
          <a:xfrm>
            <a:off x="7284110" y="1755648"/>
            <a:ext cx="2114093" cy="676656"/>
          </a:xfrm>
          <a:prstGeom prst="roundRect">
            <a:avLst>
              <a:gd name="adj" fmla="val 12162"/>
            </a:avLst>
          </a:prstGeom>
          <a:solidFill>
            <a:srgbClr val="F3F0FB"/>
          </a:solidFill>
          <a:ln w="12700">
            <a:solidFill>
              <a:srgbClr val="DDD4F1"/>
            </a:solidFill>
            <a:prstDash val="solid"/>
          </a:ln>
        </p:spPr>
        <p:txBody>
          <a:bodyPr/>
          <a:lstStyle/>
          <a:p>
            <a:endParaRPr lang="en-GB"/>
          </a:p>
        </p:txBody>
      </p:sp>
      <p:sp>
        <p:nvSpPr>
          <p:cNvPr id="19" name="Text 17"/>
          <p:cNvSpPr txBox="1"/>
          <p:nvPr/>
        </p:nvSpPr>
        <p:spPr>
          <a:xfrm>
            <a:off x="7402982"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Colour</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table &amp; skin removed</a:t>
            </a:r>
            <a:endParaRPr lang="en-US" sz="1050" dirty="0"/>
          </a:p>
        </p:txBody>
      </p:sp>
      <p:sp>
        <p:nvSpPr>
          <p:cNvPr id="20" name="Shape 18"/>
          <p:cNvSpPr/>
          <p:nvPr/>
        </p:nvSpPr>
        <p:spPr>
          <a:xfrm>
            <a:off x="9414662" y="2048256"/>
            <a:ext cx="114300" cy="91440"/>
          </a:xfrm>
          <a:prstGeom prst="rightArrow">
            <a:avLst/>
          </a:prstGeom>
          <a:solidFill>
            <a:srgbClr val="7C4DD6"/>
          </a:solidFill>
          <a:ln/>
        </p:spPr>
        <p:txBody>
          <a:bodyPr/>
          <a:lstStyle/>
          <a:p>
            <a:endParaRPr lang="en-GB"/>
          </a:p>
        </p:txBody>
      </p:sp>
      <p:sp>
        <p:nvSpPr>
          <p:cNvPr id="21" name="Shape 19"/>
          <p:cNvSpPr/>
          <p:nvPr/>
        </p:nvSpPr>
        <p:spPr>
          <a:xfrm>
            <a:off x="9544507" y="1755648"/>
            <a:ext cx="2114093" cy="676656"/>
          </a:xfrm>
          <a:prstGeom prst="roundRect">
            <a:avLst>
              <a:gd name="adj" fmla="val 12162"/>
            </a:avLst>
          </a:prstGeom>
          <a:solidFill>
            <a:srgbClr val="F3F0FB"/>
          </a:solidFill>
          <a:ln w="12700">
            <a:solidFill>
              <a:srgbClr val="DDD4F1"/>
            </a:solidFill>
            <a:prstDash val="solid"/>
          </a:ln>
        </p:spPr>
        <p:txBody>
          <a:bodyPr/>
          <a:lstStyle/>
          <a:p>
            <a:endParaRPr lang="en-GB"/>
          </a:p>
        </p:txBody>
      </p:sp>
      <p:sp>
        <p:nvSpPr>
          <p:cNvPr id="22" name="Text 20"/>
          <p:cNvSpPr txBox="1"/>
          <p:nvPr/>
        </p:nvSpPr>
        <p:spPr>
          <a:xfrm>
            <a:off x="9663379"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SQLite → forecast</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style · colour · time</a:t>
            </a:r>
            <a:endParaRPr lang="en-US" sz="1050" dirty="0"/>
          </a:p>
        </p:txBody>
      </p:sp>
      <p:sp>
        <p:nvSpPr>
          <p:cNvPr id="23" name="Text 21"/>
          <p:cNvSpPr txBox="1"/>
          <p:nvPr/>
        </p:nvSpPr>
        <p:spPr>
          <a:xfrm>
            <a:off x="502920" y="2651760"/>
            <a:ext cx="5623560" cy="201168"/>
          </a:xfrm>
          <a:prstGeom prst="rect">
            <a:avLst/>
          </a:prstGeom>
          <a:noFill/>
          <a:ln/>
        </p:spPr>
        <p:txBody>
          <a:bodyPr wrap="square" lIns="0" tIns="0" rIns="0" bIns="0" rtlCol="0" anchor="ctr"/>
          <a:lstStyle/>
          <a:p>
            <a:pPr marL="0" indent="0">
              <a:buNone/>
            </a:pPr>
            <a:r>
              <a:rPr lang="en-US" sz="950" b="1" kern="0" spc="140" dirty="0">
                <a:solidFill>
                  <a:srgbClr val="7C4DD6"/>
                </a:solidFill>
                <a:latin typeface="Calibri" pitchFamily="34" charset="0"/>
                <a:ea typeface="Calibri" pitchFamily="34" charset="-122"/>
                <a:cs typeface="Calibri" pitchFamily="34" charset="-120"/>
              </a:rPr>
              <a:t>THE CAPTURE GATE</a:t>
            </a:r>
            <a:endParaRPr lang="en-US" sz="950" dirty="0"/>
          </a:p>
        </p:txBody>
      </p:sp>
      <p:sp>
        <p:nvSpPr>
          <p:cNvPr id="24" name="Shape 22"/>
          <p:cNvSpPr/>
          <p:nvPr/>
        </p:nvSpPr>
        <p:spPr>
          <a:xfrm>
            <a:off x="502920" y="2871216"/>
            <a:ext cx="5623560" cy="1920240"/>
          </a:xfrm>
          <a:prstGeom prst="roundRect">
            <a:avLst>
              <a:gd name="adj" fmla="val 4286"/>
            </a:avLst>
          </a:prstGeom>
          <a:solidFill>
            <a:srgbClr val="FFFFFF"/>
          </a:solidFill>
          <a:ln w="12700">
            <a:solidFill>
              <a:srgbClr val="DDE1F2"/>
            </a:solidFill>
            <a:prstDash val="solid"/>
          </a:ln>
        </p:spPr>
        <p:txBody>
          <a:bodyPr/>
          <a:lstStyle/>
          <a:p>
            <a:endParaRPr lang="en-GB"/>
          </a:p>
        </p:txBody>
      </p:sp>
      <p:sp>
        <p:nvSpPr>
          <p:cNvPr id="25" name="Text 23"/>
          <p:cNvSpPr txBox="1"/>
          <p:nvPr/>
        </p:nvSpPr>
        <p:spPr>
          <a:xfrm>
            <a:off x="704088" y="2944368"/>
            <a:ext cx="5221224" cy="201168"/>
          </a:xfrm>
          <a:prstGeom prst="rect">
            <a:avLst/>
          </a:prstGeom>
          <a:noFill/>
          <a:ln/>
        </p:spPr>
        <p:txBody>
          <a:bodyPr wrap="square" lIns="0" tIns="0" rIns="0" bIns="0" rtlCol="0" anchor="ctr"/>
          <a:lstStyle/>
          <a:p>
            <a:pPr marL="0" indent="0">
              <a:buNone/>
            </a:pPr>
            <a:r>
              <a:rPr lang="en-US" sz="950" b="1" dirty="0">
                <a:solidFill>
                  <a:srgbClr val="72778F"/>
                </a:solidFill>
                <a:latin typeface="Calibri" pitchFamily="34" charset="0"/>
                <a:ea typeface="Calibri" pitchFamily="34" charset="-122"/>
                <a:cs typeface="Calibri" pitchFamily="34" charset="-120"/>
              </a:rPr>
              <a:t>Every frame is filtered — the model is asked last</a:t>
            </a:r>
            <a:endParaRPr lang="en-US" sz="950" dirty="0"/>
          </a:p>
        </p:txBody>
      </p:sp>
      <p:sp>
        <p:nvSpPr>
          <p:cNvPr id="26" name="Shape 24"/>
          <p:cNvSpPr/>
          <p:nvPr/>
        </p:nvSpPr>
        <p:spPr>
          <a:xfrm>
            <a:off x="731520" y="3182112"/>
            <a:ext cx="5074920" cy="219456"/>
          </a:xfrm>
          <a:prstGeom prst="roundRect">
            <a:avLst>
              <a:gd name="adj" fmla="val 20833"/>
            </a:avLst>
          </a:prstGeom>
          <a:solidFill>
            <a:srgbClr val="EDEBF7"/>
          </a:solidFill>
          <a:ln/>
        </p:spPr>
        <p:txBody>
          <a:bodyPr/>
          <a:lstStyle/>
          <a:p>
            <a:endParaRPr lang="en-GB"/>
          </a:p>
        </p:txBody>
      </p:sp>
      <p:sp>
        <p:nvSpPr>
          <p:cNvPr id="27" name="Text 25"/>
          <p:cNvSpPr txBox="1"/>
          <p:nvPr/>
        </p:nvSpPr>
        <p:spPr>
          <a:xfrm>
            <a:off x="850392" y="3182112"/>
            <a:ext cx="4837176" cy="219456"/>
          </a:xfrm>
          <a:prstGeom prst="rect">
            <a:avLst/>
          </a:prstGeom>
          <a:noFill/>
          <a:ln/>
        </p:spPr>
        <p:txBody>
          <a:bodyPr wrap="square" lIns="0" tIns="0" rIns="0" bIns="0" rtlCol="0" anchor="ctr"/>
          <a:lstStyle/>
          <a:p>
            <a:pPr marL="0" indent="0">
              <a:buNone/>
            </a:pPr>
            <a:r>
              <a:rPr lang="en-US" sz="850" dirty="0">
                <a:solidFill>
                  <a:srgbClr val="3E4257"/>
                </a:solidFill>
                <a:latin typeface="Calibri" pitchFamily="34" charset="0"/>
                <a:ea typeface="Calibri" pitchFamily="34" charset="-122"/>
                <a:cs typeface="Calibri" pitchFamily="34" charset="-120"/>
              </a:rPr>
              <a:t>every frame</a:t>
            </a:r>
            <a:endParaRPr lang="en-US" sz="850" dirty="0"/>
          </a:p>
        </p:txBody>
      </p:sp>
      <p:sp>
        <p:nvSpPr>
          <p:cNvPr id="28" name="Shape 26"/>
          <p:cNvSpPr/>
          <p:nvPr/>
        </p:nvSpPr>
        <p:spPr>
          <a:xfrm>
            <a:off x="731520" y="3438144"/>
            <a:ext cx="4526280" cy="219456"/>
          </a:xfrm>
          <a:prstGeom prst="roundRect">
            <a:avLst>
              <a:gd name="adj" fmla="val 20833"/>
            </a:avLst>
          </a:prstGeom>
          <a:solidFill>
            <a:srgbClr val="E4E0F4"/>
          </a:solidFill>
          <a:ln/>
        </p:spPr>
        <p:txBody>
          <a:bodyPr/>
          <a:lstStyle/>
          <a:p>
            <a:endParaRPr lang="en-GB"/>
          </a:p>
        </p:txBody>
      </p:sp>
      <p:sp>
        <p:nvSpPr>
          <p:cNvPr id="29" name="Text 27"/>
          <p:cNvSpPr txBox="1"/>
          <p:nvPr/>
        </p:nvSpPr>
        <p:spPr>
          <a:xfrm>
            <a:off x="850392" y="3438144"/>
            <a:ext cx="4288536" cy="219456"/>
          </a:xfrm>
          <a:prstGeom prst="rect">
            <a:avLst/>
          </a:prstGeom>
          <a:noFill/>
          <a:ln/>
        </p:spPr>
        <p:txBody>
          <a:bodyPr wrap="square" lIns="0" tIns="0" rIns="0" bIns="0" rtlCol="0" anchor="ctr"/>
          <a:lstStyle/>
          <a:p>
            <a:pPr marL="0" indent="0">
              <a:buNone/>
            </a:pPr>
            <a:r>
              <a:rPr lang="en-US" sz="850" dirty="0">
                <a:solidFill>
                  <a:srgbClr val="3E4257"/>
                </a:solidFill>
                <a:latin typeface="Calibri" pitchFamily="34" charset="0"/>
                <a:ea typeface="Calibri" pitchFamily="34" charset="-122"/>
                <a:cs typeface="Calibri" pitchFamily="34" charset="-120"/>
              </a:rPr>
              <a:t>differs from the empty table</a:t>
            </a:r>
            <a:endParaRPr lang="en-US" sz="850" dirty="0"/>
          </a:p>
        </p:txBody>
      </p:sp>
      <p:sp>
        <p:nvSpPr>
          <p:cNvPr id="30" name="Shape 28"/>
          <p:cNvSpPr/>
          <p:nvPr/>
        </p:nvSpPr>
        <p:spPr>
          <a:xfrm>
            <a:off x="731520" y="3694176"/>
            <a:ext cx="3977640" cy="219456"/>
          </a:xfrm>
          <a:prstGeom prst="roundRect">
            <a:avLst>
              <a:gd name="adj" fmla="val 20833"/>
            </a:avLst>
          </a:prstGeom>
          <a:solidFill>
            <a:srgbClr val="DBD4F1"/>
          </a:solidFill>
          <a:ln/>
        </p:spPr>
        <p:txBody>
          <a:bodyPr/>
          <a:lstStyle/>
          <a:p>
            <a:endParaRPr lang="en-GB"/>
          </a:p>
        </p:txBody>
      </p:sp>
      <p:sp>
        <p:nvSpPr>
          <p:cNvPr id="31" name="Text 29"/>
          <p:cNvSpPr txBox="1"/>
          <p:nvPr/>
        </p:nvSpPr>
        <p:spPr>
          <a:xfrm>
            <a:off x="850392" y="3694176"/>
            <a:ext cx="3739896" cy="219456"/>
          </a:xfrm>
          <a:prstGeom prst="rect">
            <a:avLst/>
          </a:prstGeom>
          <a:noFill/>
          <a:ln/>
        </p:spPr>
        <p:txBody>
          <a:bodyPr wrap="square" lIns="0" tIns="0" rIns="0" bIns="0" rtlCol="0" anchor="ctr"/>
          <a:lstStyle/>
          <a:p>
            <a:pPr marL="0" indent="0">
              <a:buNone/>
            </a:pPr>
            <a:r>
              <a:rPr lang="en-US" sz="850" dirty="0">
                <a:solidFill>
                  <a:srgbClr val="3E4257"/>
                </a:solidFill>
                <a:latin typeface="Calibri" pitchFamily="34" charset="0"/>
                <a:ea typeface="Calibri" pitchFamily="34" charset="-122"/>
                <a:cs typeface="Calibri" pitchFamily="34" charset="-120"/>
              </a:rPr>
              <a:t>not moving  ·  settled 0.3 s</a:t>
            </a:r>
            <a:endParaRPr lang="en-US" sz="850" dirty="0"/>
          </a:p>
        </p:txBody>
      </p:sp>
      <p:sp>
        <p:nvSpPr>
          <p:cNvPr id="32" name="Shape 30"/>
          <p:cNvSpPr/>
          <p:nvPr/>
        </p:nvSpPr>
        <p:spPr>
          <a:xfrm>
            <a:off x="731520" y="3950208"/>
            <a:ext cx="3429000" cy="219456"/>
          </a:xfrm>
          <a:prstGeom prst="roundRect">
            <a:avLst>
              <a:gd name="adj" fmla="val 20833"/>
            </a:avLst>
          </a:prstGeom>
          <a:solidFill>
            <a:srgbClr val="D2C8EE"/>
          </a:solidFill>
          <a:ln/>
        </p:spPr>
        <p:txBody>
          <a:bodyPr/>
          <a:lstStyle/>
          <a:p>
            <a:endParaRPr lang="en-GB"/>
          </a:p>
        </p:txBody>
      </p:sp>
      <p:sp>
        <p:nvSpPr>
          <p:cNvPr id="33" name="Text 31"/>
          <p:cNvSpPr txBox="1"/>
          <p:nvPr/>
        </p:nvSpPr>
        <p:spPr>
          <a:xfrm>
            <a:off x="850392" y="3950208"/>
            <a:ext cx="3191256" cy="219456"/>
          </a:xfrm>
          <a:prstGeom prst="rect">
            <a:avLst/>
          </a:prstGeom>
          <a:noFill/>
          <a:ln/>
        </p:spPr>
        <p:txBody>
          <a:bodyPr wrap="square" lIns="0" tIns="0" rIns="0" bIns="0" rtlCol="0" anchor="ctr"/>
          <a:lstStyle/>
          <a:p>
            <a:pPr marL="0" indent="0">
              <a:buNone/>
            </a:pPr>
            <a:r>
              <a:rPr lang="en-US" sz="850" dirty="0">
                <a:solidFill>
                  <a:srgbClr val="3E4257"/>
                </a:solidFill>
                <a:latin typeface="Calibri" pitchFamily="34" charset="0"/>
                <a:ea typeface="Calibri" pitchFamily="34" charset="-122"/>
                <a:cs typeface="Calibri" pitchFamily="34" charset="-120"/>
              </a:rPr>
              <a:t>no hand or face over it</a:t>
            </a:r>
            <a:endParaRPr lang="en-US" sz="850" dirty="0"/>
          </a:p>
        </p:txBody>
      </p:sp>
      <p:sp>
        <p:nvSpPr>
          <p:cNvPr id="34" name="Shape 32"/>
          <p:cNvSpPr/>
          <p:nvPr/>
        </p:nvSpPr>
        <p:spPr>
          <a:xfrm>
            <a:off x="731520" y="4206240"/>
            <a:ext cx="2880360" cy="219456"/>
          </a:xfrm>
          <a:prstGeom prst="roundRect">
            <a:avLst>
              <a:gd name="adj" fmla="val 20833"/>
            </a:avLst>
          </a:prstGeom>
          <a:solidFill>
            <a:srgbClr val="C9BCEB"/>
          </a:solidFill>
          <a:ln/>
        </p:spPr>
        <p:txBody>
          <a:bodyPr/>
          <a:lstStyle/>
          <a:p>
            <a:endParaRPr lang="en-GB"/>
          </a:p>
        </p:txBody>
      </p:sp>
      <p:sp>
        <p:nvSpPr>
          <p:cNvPr id="35" name="Text 33"/>
          <p:cNvSpPr txBox="1"/>
          <p:nvPr/>
        </p:nvSpPr>
        <p:spPr>
          <a:xfrm>
            <a:off x="850392" y="4206240"/>
            <a:ext cx="2642616" cy="219456"/>
          </a:xfrm>
          <a:prstGeom prst="rect">
            <a:avLst/>
          </a:prstGeom>
          <a:noFill/>
          <a:ln/>
        </p:spPr>
        <p:txBody>
          <a:bodyPr wrap="square" lIns="0" tIns="0" rIns="0" bIns="0" rtlCol="0" anchor="ctr"/>
          <a:lstStyle/>
          <a:p>
            <a:pPr marL="0" indent="0">
              <a:buNone/>
            </a:pPr>
            <a:r>
              <a:rPr lang="en-US" sz="850" dirty="0">
                <a:solidFill>
                  <a:srgbClr val="141735"/>
                </a:solidFill>
                <a:latin typeface="Calibri" pitchFamily="34" charset="0"/>
                <a:ea typeface="Calibri" pitchFamily="34" charset="-122"/>
                <a:cs typeface="Calibri" pitchFamily="34" charset="-120"/>
              </a:rPr>
              <a:t>3 of 7 frames agree, 80 %</a:t>
            </a:r>
            <a:endParaRPr lang="en-US" sz="850" dirty="0"/>
          </a:p>
        </p:txBody>
      </p:sp>
      <p:sp>
        <p:nvSpPr>
          <p:cNvPr id="36" name="Shape 34"/>
          <p:cNvSpPr/>
          <p:nvPr/>
        </p:nvSpPr>
        <p:spPr>
          <a:xfrm>
            <a:off x="731520" y="4480560"/>
            <a:ext cx="2331720" cy="256032"/>
          </a:xfrm>
          <a:prstGeom prst="roundRect">
            <a:avLst>
              <a:gd name="adj" fmla="val 17857"/>
            </a:avLst>
          </a:prstGeom>
          <a:solidFill>
            <a:srgbClr val="7C4DD6"/>
          </a:solidFill>
          <a:ln/>
        </p:spPr>
        <p:txBody>
          <a:bodyPr/>
          <a:lstStyle/>
          <a:p>
            <a:endParaRPr lang="en-GB"/>
          </a:p>
        </p:txBody>
      </p:sp>
      <p:sp>
        <p:nvSpPr>
          <p:cNvPr id="37" name="Text 35"/>
          <p:cNvSpPr txBox="1"/>
          <p:nvPr/>
        </p:nvSpPr>
        <p:spPr>
          <a:xfrm>
            <a:off x="731520" y="4480560"/>
            <a:ext cx="2331720"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 CAPTURE  →  locked until removed</a:t>
            </a:r>
            <a:endParaRPr lang="en-US" sz="850" dirty="0"/>
          </a:p>
        </p:txBody>
      </p:sp>
      <p:sp>
        <p:nvSpPr>
          <p:cNvPr id="38" name="Shape 36"/>
          <p:cNvSpPr/>
          <p:nvPr/>
        </p:nvSpPr>
        <p:spPr>
          <a:xfrm>
            <a:off x="3246120" y="4480560"/>
            <a:ext cx="2560320" cy="256032"/>
          </a:xfrm>
          <a:prstGeom prst="roundRect">
            <a:avLst>
              <a:gd name="adj" fmla="val 17857"/>
            </a:avLst>
          </a:prstGeom>
          <a:solidFill>
            <a:srgbClr val="FBEDEC"/>
          </a:solidFill>
          <a:ln/>
        </p:spPr>
        <p:txBody>
          <a:bodyPr/>
          <a:lstStyle/>
          <a:p>
            <a:endParaRPr lang="en-GB"/>
          </a:p>
        </p:txBody>
      </p:sp>
      <p:sp>
        <p:nvSpPr>
          <p:cNvPr id="39" name="Text 37"/>
          <p:cNvSpPr txBox="1"/>
          <p:nvPr/>
        </p:nvSpPr>
        <p:spPr>
          <a:xfrm>
            <a:off x="3246120" y="4480560"/>
            <a:ext cx="2560320" cy="256032"/>
          </a:xfrm>
          <a:prstGeom prst="rect">
            <a:avLst/>
          </a:prstGeom>
          <a:noFill/>
          <a:ln/>
        </p:spPr>
        <p:txBody>
          <a:bodyPr wrap="square" lIns="0" tIns="0" rIns="0" bIns="0" rtlCol="0" anchor="ctr"/>
          <a:lstStyle/>
          <a:p>
            <a:pPr marL="0" indent="0" algn="ctr">
              <a:buNone/>
            </a:pPr>
            <a:r>
              <a:rPr lang="en-US" sz="850" b="1" dirty="0">
                <a:solidFill>
                  <a:srgbClr val="C4453F"/>
                </a:solidFill>
                <a:latin typeface="Calibri" pitchFamily="34" charset="0"/>
                <a:ea typeface="Calibri" pitchFamily="34" charset="-122"/>
                <a:cs typeface="Calibri" pitchFamily="34" charset="-120"/>
              </a:rPr>
              <a:t>empty table → never classified</a:t>
            </a:r>
            <a:endParaRPr lang="en-US" sz="850" dirty="0"/>
          </a:p>
        </p:txBody>
      </p:sp>
      <p:sp>
        <p:nvSpPr>
          <p:cNvPr id="40" name="Shape 38"/>
          <p:cNvSpPr/>
          <p:nvPr/>
        </p:nvSpPr>
        <p:spPr>
          <a:xfrm>
            <a:off x="6355080" y="2871216"/>
            <a:ext cx="5303520" cy="566928"/>
          </a:xfrm>
          <a:prstGeom prst="roundRect">
            <a:avLst>
              <a:gd name="adj" fmla="val 14516"/>
            </a:avLst>
          </a:prstGeom>
          <a:solidFill>
            <a:srgbClr val="F3F0FB"/>
          </a:solidFill>
          <a:ln/>
        </p:spPr>
        <p:txBody>
          <a:bodyPr/>
          <a:lstStyle/>
          <a:p>
            <a:endParaRPr lang="en-GB"/>
          </a:p>
        </p:txBody>
      </p:sp>
      <p:sp>
        <p:nvSpPr>
          <p:cNvPr id="41" name="Text 39"/>
          <p:cNvSpPr txBox="1"/>
          <p:nvPr/>
        </p:nvSpPr>
        <p:spPr>
          <a:xfrm>
            <a:off x="6565392" y="2871216"/>
            <a:ext cx="4901184" cy="566928"/>
          </a:xfrm>
          <a:prstGeom prst="rect">
            <a:avLst/>
          </a:prstGeom>
          <a:noFill/>
          <a:ln/>
        </p:spPr>
        <p:txBody>
          <a:bodyPr wrap="square" lIns="0" tIns="0" rIns="0" bIns="0" rtlCol="0" anchor="ctr"/>
          <a:lstStyle/>
          <a:p>
            <a:pPr marL="0" indent="0">
              <a:buNone/>
            </a:pPr>
            <a:r>
              <a:rPr lang="en-US" sz="1100" b="1" dirty="0">
                <a:solidFill>
                  <a:srgbClr val="141735"/>
                </a:solidFill>
                <a:latin typeface="Calibri" pitchFamily="34" charset="0"/>
                <a:ea typeface="Calibri" pitchFamily="34" charset="-122"/>
                <a:cs typeface="Calibri" pitchFamily="34" charset="-120"/>
              </a:rPr>
              <a:t>Says what was made — and whether the order will finish on time.</a:t>
            </a:r>
            <a:endParaRPr lang="en-US" sz="1100" dirty="0"/>
          </a:p>
        </p:txBody>
      </p:sp>
      <p:sp>
        <p:nvSpPr>
          <p:cNvPr id="42" name="Text 40"/>
          <p:cNvSpPr txBox="1"/>
          <p:nvPr/>
        </p:nvSpPr>
        <p:spPr>
          <a:xfrm>
            <a:off x="6355080" y="3566160"/>
            <a:ext cx="2560320" cy="201168"/>
          </a:xfrm>
          <a:prstGeom prst="rect">
            <a:avLst/>
          </a:prstGeom>
          <a:noFill/>
          <a:ln/>
        </p:spPr>
        <p:txBody>
          <a:bodyPr wrap="square" lIns="0" tIns="0" rIns="0" bIns="0" rtlCol="0" anchor="ctr"/>
          <a:lstStyle/>
          <a:p>
            <a:pPr marL="0" indent="0">
              <a:buNone/>
            </a:pPr>
            <a:r>
              <a:rPr lang="en-US" sz="900" b="1" kern="0" spc="140" dirty="0">
                <a:solidFill>
                  <a:srgbClr val="2A3596"/>
                </a:solidFill>
                <a:latin typeface="Calibri" pitchFamily="34" charset="0"/>
                <a:ea typeface="Calibri" pitchFamily="34" charset="-122"/>
                <a:cs typeface="Calibri" pitchFamily="34" charset="-120"/>
              </a:rPr>
              <a:t>DEPENDENCIES</a:t>
            </a:r>
            <a:endParaRPr lang="en-US" sz="900" dirty="0"/>
          </a:p>
        </p:txBody>
      </p:sp>
      <p:sp>
        <p:nvSpPr>
          <p:cNvPr id="43" name="Text 41"/>
          <p:cNvSpPr txBox="1"/>
          <p:nvPr/>
        </p:nvSpPr>
        <p:spPr>
          <a:xfrm>
            <a:off x="6400800" y="3785616"/>
            <a:ext cx="2487168" cy="100584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One overhead webcam — no GPU, no tags on garments</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Empty, still table for ~1 s at startup</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Own YOLOv8n — 4 classes, 3,033 images</a:t>
            </a:r>
            <a:endParaRPr lang="en-US" sz="900" dirty="0"/>
          </a:p>
        </p:txBody>
      </p:sp>
      <p:sp>
        <p:nvSpPr>
          <p:cNvPr id="44" name="Text 42"/>
          <p:cNvSpPr txBox="1"/>
          <p:nvPr/>
        </p:nvSpPr>
        <p:spPr>
          <a:xfrm>
            <a:off x="9098280" y="3566160"/>
            <a:ext cx="2560320" cy="201168"/>
          </a:xfrm>
          <a:prstGeom prst="rect">
            <a:avLst/>
          </a:prstGeom>
          <a:noFill/>
          <a:ln/>
        </p:spPr>
        <p:txBody>
          <a:bodyPr wrap="square" lIns="0" tIns="0" rIns="0" bIns="0" rtlCol="0" anchor="ctr"/>
          <a:lstStyle/>
          <a:p>
            <a:pPr marL="0" indent="0">
              <a:buNone/>
            </a:pPr>
            <a:r>
              <a:rPr lang="en-US" sz="900" b="1" kern="0" spc="140" dirty="0">
                <a:solidFill>
                  <a:srgbClr val="2A3596"/>
                </a:solidFill>
                <a:latin typeface="Calibri" pitchFamily="34" charset="0"/>
                <a:ea typeface="Calibri" pitchFamily="34" charset="-122"/>
                <a:cs typeface="Calibri" pitchFamily="34" charset="-120"/>
              </a:rPr>
              <a:t>DESIGN CHOICES</a:t>
            </a:r>
            <a:endParaRPr lang="en-US" sz="900" dirty="0"/>
          </a:p>
        </p:txBody>
      </p:sp>
      <p:sp>
        <p:nvSpPr>
          <p:cNvPr id="45" name="Text 43"/>
          <p:cNvSpPr txBox="1"/>
          <p:nvPr/>
        </p:nvSpPr>
        <p:spPr>
          <a:xfrm>
            <a:off x="9144000" y="3785616"/>
            <a:ext cx="2487168" cy="100584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YOLOv8n on CPU, so a factory PC is enough</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Fix the capture gate, not the model size</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Agreement across frames beats one confident frame</a:t>
            </a:r>
            <a:endParaRPr lang="en-US" sz="900" dirty="0"/>
          </a:p>
        </p:txBody>
      </p:sp>
      <p:sp>
        <p:nvSpPr>
          <p:cNvPr id="46" name="Text 44"/>
          <p:cNvSpPr txBox="1"/>
          <p:nvPr/>
        </p:nvSpPr>
        <p:spPr>
          <a:xfrm>
            <a:off x="502920" y="4956048"/>
            <a:ext cx="5623560" cy="201168"/>
          </a:xfrm>
          <a:prstGeom prst="rect">
            <a:avLst/>
          </a:prstGeom>
          <a:noFill/>
          <a:ln/>
        </p:spPr>
        <p:txBody>
          <a:bodyPr wrap="square" lIns="0" tIns="0" rIns="0" bIns="0" rtlCol="0" anchor="ctr"/>
          <a:lstStyle/>
          <a:p>
            <a:pPr marL="0" indent="0">
              <a:buNone/>
            </a:pPr>
            <a:r>
              <a:rPr lang="en-US" sz="900" b="1" kern="0" spc="140" dirty="0">
                <a:solidFill>
                  <a:srgbClr val="2FA36B"/>
                </a:solidFill>
                <a:latin typeface="Calibri" pitchFamily="34" charset="0"/>
                <a:ea typeface="Calibri" pitchFamily="34" charset="-122"/>
                <a:cs typeface="Calibri" pitchFamily="34" charset="-120"/>
              </a:rPr>
              <a:t>TEST EVIDENCE</a:t>
            </a:r>
            <a:endParaRPr lang="en-US" sz="900" dirty="0"/>
          </a:p>
        </p:txBody>
      </p:sp>
      <p:sp>
        <p:nvSpPr>
          <p:cNvPr id="47" name="Shape 45"/>
          <p:cNvSpPr/>
          <p:nvPr/>
        </p:nvSpPr>
        <p:spPr>
          <a:xfrm>
            <a:off x="502920" y="5175504"/>
            <a:ext cx="5623560" cy="1005840"/>
          </a:xfrm>
          <a:prstGeom prst="roundRect">
            <a:avLst>
              <a:gd name="adj" fmla="val 8182"/>
            </a:avLst>
          </a:prstGeom>
          <a:solidFill>
            <a:srgbClr val="E9F7F1"/>
          </a:solidFill>
          <a:ln/>
        </p:spPr>
        <p:txBody>
          <a:bodyPr/>
          <a:lstStyle/>
          <a:p>
            <a:endParaRPr lang="en-GB"/>
          </a:p>
        </p:txBody>
      </p:sp>
      <p:sp>
        <p:nvSpPr>
          <p:cNvPr id="48" name="Shape 46"/>
          <p:cNvSpPr/>
          <p:nvPr/>
        </p:nvSpPr>
        <p:spPr>
          <a:xfrm>
            <a:off x="658368"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49" name="Text 47"/>
          <p:cNvSpPr txBox="1"/>
          <p:nvPr/>
        </p:nvSpPr>
        <p:spPr>
          <a:xfrm>
            <a:off x="658368" y="5340096"/>
            <a:ext cx="1691640" cy="329184"/>
          </a:xfrm>
          <a:prstGeom prst="rect">
            <a:avLst/>
          </a:prstGeom>
          <a:noFill/>
          <a:ln/>
        </p:spPr>
        <p:txBody>
          <a:bodyPr wrap="square" lIns="0" tIns="0" rIns="0" bIns="0" rtlCol="0" anchor="ctr"/>
          <a:lstStyle/>
          <a:p>
            <a:pPr marL="0" indent="0" algn="ctr">
              <a:buNone/>
            </a:pPr>
            <a:r>
              <a:rPr lang="en-US" sz="1700" b="1" dirty="0">
                <a:solidFill>
                  <a:srgbClr val="2FA36B"/>
                </a:solidFill>
                <a:latin typeface="Cambria" pitchFamily="34" charset="0"/>
                <a:ea typeface="Cambria" pitchFamily="34" charset="-122"/>
                <a:cs typeface="Cambria" pitchFamily="34" charset="-120"/>
              </a:rPr>
              <a:t>0.958</a:t>
            </a:r>
            <a:endParaRPr lang="en-US" sz="1700" dirty="0"/>
          </a:p>
        </p:txBody>
      </p:sp>
      <p:sp>
        <p:nvSpPr>
          <p:cNvPr id="50" name="Text 48"/>
          <p:cNvSpPr txBox="1"/>
          <p:nvPr/>
        </p:nvSpPr>
        <p:spPr>
          <a:xfrm>
            <a:off x="731520"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mAP · P 0.962 · R 0.955</a:t>
            </a:r>
            <a:endParaRPr lang="en-US" sz="800" dirty="0"/>
          </a:p>
        </p:txBody>
      </p:sp>
      <p:sp>
        <p:nvSpPr>
          <p:cNvPr id="51" name="Shape 49"/>
          <p:cNvSpPr/>
          <p:nvPr/>
        </p:nvSpPr>
        <p:spPr>
          <a:xfrm>
            <a:off x="2478024"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52" name="Text 50"/>
          <p:cNvSpPr txBox="1"/>
          <p:nvPr/>
        </p:nvSpPr>
        <p:spPr>
          <a:xfrm>
            <a:off x="2478024" y="5340096"/>
            <a:ext cx="1691640" cy="329184"/>
          </a:xfrm>
          <a:prstGeom prst="rect">
            <a:avLst/>
          </a:prstGeom>
          <a:noFill/>
          <a:ln/>
        </p:spPr>
        <p:txBody>
          <a:bodyPr wrap="square" lIns="0" tIns="0" rIns="0" bIns="0" rtlCol="0" anchor="ctr"/>
          <a:lstStyle/>
          <a:p>
            <a:pPr marL="0" indent="0" algn="ctr">
              <a:buNone/>
            </a:pPr>
            <a:r>
              <a:rPr lang="en-US" sz="1700" b="1" dirty="0">
                <a:solidFill>
                  <a:srgbClr val="2FA36B"/>
                </a:solidFill>
                <a:latin typeface="Cambria" pitchFamily="34" charset="0"/>
                <a:ea typeface="Cambria" pitchFamily="34" charset="-122"/>
                <a:cs typeface="Cambria" pitchFamily="34" charset="-120"/>
              </a:rPr>
              <a:t>37</a:t>
            </a:r>
            <a:endParaRPr lang="en-US" sz="1700" dirty="0"/>
          </a:p>
        </p:txBody>
      </p:sp>
      <p:sp>
        <p:nvSpPr>
          <p:cNvPr id="53" name="Text 51"/>
          <p:cNvSpPr txBox="1"/>
          <p:nvPr/>
        </p:nvSpPr>
        <p:spPr>
          <a:xfrm>
            <a:off x="2551176"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captures in 5.5 min, 0 errors</a:t>
            </a:r>
            <a:endParaRPr lang="en-US" sz="800" dirty="0"/>
          </a:p>
        </p:txBody>
      </p:sp>
      <p:sp>
        <p:nvSpPr>
          <p:cNvPr id="54" name="Shape 52"/>
          <p:cNvSpPr/>
          <p:nvPr/>
        </p:nvSpPr>
        <p:spPr>
          <a:xfrm>
            <a:off x="4297680"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55" name="Text 53"/>
          <p:cNvSpPr txBox="1"/>
          <p:nvPr/>
        </p:nvSpPr>
        <p:spPr>
          <a:xfrm>
            <a:off x="4297680" y="5340096"/>
            <a:ext cx="1691640" cy="329184"/>
          </a:xfrm>
          <a:prstGeom prst="rect">
            <a:avLst/>
          </a:prstGeom>
          <a:noFill/>
          <a:ln/>
        </p:spPr>
        <p:txBody>
          <a:bodyPr wrap="square" lIns="0" tIns="0" rIns="0" bIns="0" rtlCol="0" anchor="ctr"/>
          <a:lstStyle/>
          <a:p>
            <a:pPr marL="0" indent="0" algn="ctr">
              <a:buNone/>
            </a:pPr>
            <a:r>
              <a:rPr lang="en-US" sz="1400" b="1" dirty="0">
                <a:solidFill>
                  <a:srgbClr val="2FA36B"/>
                </a:solidFill>
                <a:latin typeface="Cambria" pitchFamily="34" charset="0"/>
                <a:ea typeface="Cambria" pitchFamily="34" charset="-122"/>
                <a:cs typeface="Cambria" pitchFamily="34" charset="-120"/>
              </a:rPr>
              <a:t>107/107</a:t>
            </a:r>
            <a:endParaRPr lang="en-US" sz="1400" dirty="0"/>
          </a:p>
        </p:txBody>
      </p:sp>
      <p:sp>
        <p:nvSpPr>
          <p:cNvPr id="56" name="Text 54"/>
          <p:cNvSpPr txBox="1"/>
          <p:nvPr/>
        </p:nvSpPr>
        <p:spPr>
          <a:xfrm>
            <a:off x="4370832"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component tests passing</a:t>
            </a:r>
            <a:endParaRPr lang="en-US" sz="800" dirty="0"/>
          </a:p>
        </p:txBody>
      </p:sp>
      <p:sp>
        <p:nvSpPr>
          <p:cNvPr id="57" name="Text 55"/>
          <p:cNvSpPr txBox="1"/>
          <p:nvPr/>
        </p:nvSpPr>
        <p:spPr>
          <a:xfrm>
            <a:off x="6355080" y="4956048"/>
            <a:ext cx="5303520" cy="201168"/>
          </a:xfrm>
          <a:prstGeom prst="rect">
            <a:avLst/>
          </a:prstGeom>
          <a:noFill/>
          <a:ln/>
        </p:spPr>
        <p:txBody>
          <a:bodyPr wrap="square" lIns="0" tIns="0" rIns="0" bIns="0" rtlCol="0" anchor="ctr"/>
          <a:lstStyle/>
          <a:p>
            <a:pPr marL="0" indent="0">
              <a:buNone/>
            </a:pPr>
            <a:r>
              <a:rPr lang="en-US" sz="900" b="1" kern="0" spc="140" dirty="0">
                <a:solidFill>
                  <a:srgbClr val="C4453F"/>
                </a:solidFill>
                <a:latin typeface="Calibri" pitchFamily="34" charset="0"/>
                <a:ea typeface="Calibri" pitchFamily="34" charset="-122"/>
                <a:cs typeface="Calibri" pitchFamily="34" charset="-120"/>
              </a:rPr>
              <a:t>LIMITATIONS</a:t>
            </a:r>
            <a:endParaRPr lang="en-US" sz="900" dirty="0"/>
          </a:p>
        </p:txBody>
      </p:sp>
      <p:sp>
        <p:nvSpPr>
          <p:cNvPr id="58" name="Shape 56"/>
          <p:cNvSpPr/>
          <p:nvPr/>
        </p:nvSpPr>
        <p:spPr>
          <a:xfrm>
            <a:off x="6355080" y="5175504"/>
            <a:ext cx="5303520" cy="1005840"/>
          </a:xfrm>
          <a:prstGeom prst="roundRect">
            <a:avLst>
              <a:gd name="adj" fmla="val 8182"/>
            </a:avLst>
          </a:prstGeom>
          <a:solidFill>
            <a:srgbClr val="FBEDEC"/>
          </a:solidFill>
          <a:ln/>
        </p:spPr>
        <p:txBody>
          <a:bodyPr/>
          <a:lstStyle/>
          <a:p>
            <a:endParaRPr lang="en-GB"/>
          </a:p>
        </p:txBody>
      </p:sp>
      <p:sp>
        <p:nvSpPr>
          <p:cNvPr id="59" name="Text 57"/>
          <p:cNvSpPr txBox="1"/>
          <p:nvPr/>
        </p:nvSpPr>
        <p:spPr>
          <a:xfrm>
            <a:off x="6565392" y="5321808"/>
            <a:ext cx="4901184" cy="786384"/>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50" dirty="0">
                <a:solidFill>
                  <a:srgbClr val="3E4257"/>
                </a:solidFill>
                <a:latin typeface="Calibri" pitchFamily="34" charset="0"/>
                <a:ea typeface="Calibri" pitchFamily="34" charset="-122"/>
                <a:cs typeface="Calibri" pitchFamily="34" charset="-120"/>
              </a:rPr>
              <a:t>Closed class set — no background class, so an untrained garment is forced into one of four.</a:t>
            </a:r>
            <a:endParaRPr lang="en-US" sz="950" dirty="0"/>
          </a:p>
          <a:p>
            <a:pPr marL="342900" indent="-342900">
              <a:lnSpc>
                <a:spcPct val="100000"/>
              </a:lnSpc>
              <a:spcAft>
                <a:spcPts val="400"/>
              </a:spcAft>
              <a:buSzPct val="100000"/>
              <a:buChar char="•"/>
            </a:pPr>
            <a:r>
              <a:rPr lang="en-US" sz="950" dirty="0">
                <a:solidFill>
                  <a:srgbClr val="3E4257"/>
                </a:solidFill>
                <a:latin typeface="Calibri" pitchFamily="34" charset="0"/>
                <a:ea typeface="Calibri" pitchFamily="34" charset="-122"/>
                <a:cs typeface="Calibri" pitchFamily="34" charset="-120"/>
              </a:rPr>
              <a:t>Colour and field accuracy unmeasured; vision service still binds to all addresses.</a:t>
            </a:r>
            <a:endParaRPr lang="en-US" sz="950" dirty="0"/>
          </a:p>
        </p:txBody>
      </p:sp>
      <p:sp>
        <p:nvSpPr>
          <p:cNvPr id="60" name="Text 58"/>
          <p:cNvSpPr txBox="1"/>
          <p:nvPr/>
        </p:nvSpPr>
        <p:spPr>
          <a:xfrm>
            <a:off x="502920" y="6437376"/>
            <a:ext cx="6583680" cy="237744"/>
          </a:xfrm>
          <a:prstGeom prst="rect">
            <a:avLst/>
          </a:prstGeom>
          <a:noFill/>
          <a:ln/>
        </p:spPr>
        <p:txBody>
          <a:bodyPr wrap="square" lIns="0" tIns="0" rIns="0" bIns="0" rtlCol="0" anchor="ctr"/>
          <a:lstStyle/>
          <a:p>
            <a:pPr marL="0" indent="0">
              <a:buNone/>
            </a:pPr>
            <a:r>
              <a:rPr lang="en-US" sz="900" dirty="0">
                <a:solidFill>
                  <a:srgbClr val="72778F"/>
                </a:solidFill>
                <a:latin typeface="Calibri" pitchFamily="34" charset="0"/>
                <a:ea typeface="Calibri" pitchFamily="34" charset="-122"/>
                <a:cs typeface="Calibri" pitchFamily="34" charset="-120"/>
              </a:rPr>
              <a:t>IT4010 Research Project  ·  Final Presentation &amp; Viva  ·  R26-IT-054</a:t>
            </a:r>
            <a:endParaRPr lang="en-US" sz="900" dirty="0"/>
          </a:p>
        </p:txBody>
      </p:sp>
      <p:sp>
        <p:nvSpPr>
          <p:cNvPr id="61" name="Text 59"/>
          <p:cNvSpPr txBox="1"/>
          <p:nvPr/>
        </p:nvSpPr>
        <p:spPr>
          <a:xfrm>
            <a:off x="6309360" y="6437376"/>
            <a:ext cx="4937760" cy="237744"/>
          </a:xfrm>
          <a:prstGeom prst="rect">
            <a:avLst/>
          </a:prstGeom>
          <a:noFill/>
          <a:ln/>
        </p:spPr>
        <p:txBody>
          <a:bodyPr wrap="square" lIns="0" tIns="0" rIns="0" bIns="0" rtlCol="0" anchor="ctr"/>
          <a:lstStyle/>
          <a:p>
            <a:pPr marL="0" indent="0" algn="r">
              <a:buNone/>
            </a:pPr>
            <a:r>
              <a:rPr lang="en-US" sz="900" b="1" dirty="0">
                <a:solidFill>
                  <a:srgbClr val="2A3596"/>
                </a:solidFill>
                <a:latin typeface="Calibri" pitchFamily="34" charset="0"/>
                <a:ea typeface="Calibri" pitchFamily="34" charset="-122"/>
                <a:cs typeface="Calibri" pitchFamily="34" charset="-120"/>
              </a:rPr>
              <a:t>IT22556370  ·  Jayaweera M.P.Y.C.</a:t>
            </a:r>
            <a:endParaRPr lang="en-US" sz="900" dirty="0"/>
          </a:p>
        </p:txBody>
      </p:sp>
      <p:sp>
        <p:nvSpPr>
          <p:cNvPr id="62" name="Text 60"/>
          <p:cNvSpPr txBox="1"/>
          <p:nvPr/>
        </p:nvSpPr>
        <p:spPr>
          <a:xfrm>
            <a:off x="11356848" y="6437376"/>
            <a:ext cx="329184" cy="237744"/>
          </a:xfrm>
          <a:prstGeom prst="rect">
            <a:avLst/>
          </a:prstGeom>
          <a:noFill/>
          <a:ln/>
        </p:spPr>
        <p:txBody>
          <a:bodyPr wrap="square" lIns="0" tIns="0" rIns="0" bIns="0" rtlCol="0" anchor="ctr"/>
          <a:lstStyle/>
          <a:p>
            <a:pPr marL="0" indent="0" algn="r">
              <a:buNone/>
            </a:pPr>
            <a:r>
              <a:rPr lang="en-US" sz="900" b="1" dirty="0">
                <a:solidFill>
                  <a:srgbClr val="72778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621792" cy="457200"/>
          </a:xfrm>
          <a:prstGeom prst="rect">
            <a:avLst/>
          </a:prstGeom>
          <a:noFill/>
          <a:ln/>
        </p:spPr>
        <p:txBody>
          <a:bodyPr wrap="square" lIns="0" tIns="0" rIns="0" bIns="0" rtlCol="0" anchor="ctr"/>
          <a:lstStyle/>
          <a:p>
            <a:pPr marL="0" indent="0">
              <a:buNone/>
            </a:pPr>
            <a:r>
              <a:rPr lang="en-US" sz="2800" b="1" dirty="0">
                <a:solidFill>
                  <a:srgbClr val="1C7FD6"/>
                </a:solidFill>
                <a:latin typeface="Cambria" pitchFamily="34" charset="0"/>
                <a:ea typeface="Cambria" pitchFamily="34" charset="-122"/>
                <a:cs typeface="Cambria" pitchFamily="34" charset="-120"/>
              </a:rPr>
              <a:t>C3</a:t>
            </a:r>
            <a:endParaRPr lang="en-US" sz="2800" dirty="0"/>
          </a:p>
        </p:txBody>
      </p:sp>
      <p:sp>
        <p:nvSpPr>
          <p:cNvPr id="3" name="Text 1"/>
          <p:cNvSpPr txBox="1"/>
          <p:nvPr/>
        </p:nvSpPr>
        <p:spPr>
          <a:xfrm>
            <a:off x="1152144" y="310896"/>
            <a:ext cx="8595360" cy="457200"/>
          </a:xfrm>
          <a:prstGeom prst="rect">
            <a:avLst/>
          </a:prstGeom>
          <a:noFill/>
          <a:ln/>
        </p:spPr>
        <p:txBody>
          <a:bodyPr wrap="square" lIns="0" tIns="0" rIns="0" bIns="0" rtlCol="0" anchor="ctr"/>
          <a:lstStyle/>
          <a:p>
            <a:pPr marL="0" indent="0">
              <a:buNone/>
            </a:pPr>
            <a:r>
              <a:rPr lang="en-US" sz="2600" b="1" dirty="0">
                <a:solidFill>
                  <a:srgbClr val="141735"/>
                </a:solidFill>
                <a:latin typeface="Cambria" pitchFamily="34" charset="0"/>
                <a:ea typeface="Cambria" pitchFamily="34" charset="-122"/>
                <a:cs typeface="Cambria" pitchFamily="34" charset="-120"/>
              </a:rPr>
              <a:t>Size Detection</a:t>
            </a:r>
            <a:endParaRPr lang="en-US" sz="2600" dirty="0"/>
          </a:p>
        </p:txBody>
      </p:sp>
      <p:sp>
        <p:nvSpPr>
          <p:cNvPr id="4" name="Text 2"/>
          <p:cNvSpPr txBox="1"/>
          <p:nvPr/>
        </p:nvSpPr>
        <p:spPr>
          <a:xfrm>
            <a:off x="1170432" y="786384"/>
            <a:ext cx="8595360" cy="201168"/>
          </a:xfrm>
          <a:prstGeom prst="rect">
            <a:avLst/>
          </a:prstGeom>
          <a:noFill/>
          <a:ln/>
        </p:spPr>
        <p:txBody>
          <a:bodyPr wrap="square" lIns="0" tIns="0" rIns="0" bIns="0" rtlCol="0" anchor="ctr"/>
          <a:lstStyle/>
          <a:p>
            <a:pPr marL="0" indent="0">
              <a:buNone/>
            </a:pPr>
            <a:r>
              <a:rPr lang="en-US" sz="850" b="1" kern="0" spc="130" dirty="0">
                <a:solidFill>
                  <a:srgbClr val="1C7FD6"/>
                </a:solidFill>
                <a:latin typeface="Calibri" pitchFamily="34" charset="0"/>
                <a:ea typeface="Calibri" pitchFamily="34" charset="-122"/>
                <a:cs typeface="Calibri" pitchFamily="34" charset="-120"/>
              </a:rPr>
              <a:t>PACKING AREA  ·  BEST-FRAME SELECTION AND MARKER-FREE SIZE MEASUREMENT</a:t>
            </a:r>
            <a:endParaRPr lang="en-US" sz="850" dirty="0"/>
          </a:p>
        </p:txBody>
      </p:sp>
      <p:sp>
        <p:nvSpPr>
          <p:cNvPr id="5" name="Text 3"/>
          <p:cNvSpPr txBox="1"/>
          <p:nvPr/>
        </p:nvSpPr>
        <p:spPr>
          <a:xfrm>
            <a:off x="1170432" y="1024128"/>
            <a:ext cx="8595360" cy="310896"/>
          </a:xfrm>
          <a:prstGeom prst="rect">
            <a:avLst/>
          </a:prstGeom>
          <a:noFill/>
          <a:ln/>
        </p:spPr>
        <p:txBody>
          <a:bodyPr wrap="square" lIns="0" tIns="0" rIns="0" bIns="0" rtlCol="0" anchor="ctr"/>
          <a:lstStyle/>
          <a:p>
            <a:pPr marL="0" indent="0">
              <a:buNone/>
            </a:pPr>
            <a:r>
              <a:rPr lang="en-US" sz="1200" dirty="0">
                <a:solidFill>
                  <a:srgbClr val="3E4257"/>
                </a:solidFill>
                <a:latin typeface="Calibri" pitchFamily="34" charset="0"/>
                <a:ea typeface="Calibri" pitchFamily="34" charset="-122"/>
                <a:cs typeface="Calibri" pitchFamily="34" charset="-120"/>
              </a:rPr>
              <a:t>Marker-free measurement at a fixed height, classified to a production size.</a:t>
            </a:r>
            <a:endParaRPr lang="en-US" sz="1200" dirty="0"/>
          </a:p>
        </p:txBody>
      </p:sp>
      <p:sp>
        <p:nvSpPr>
          <p:cNvPr id="7" name="Text 5"/>
          <p:cNvSpPr txBox="1"/>
          <p:nvPr/>
        </p:nvSpPr>
        <p:spPr>
          <a:xfrm>
            <a:off x="10715625" y="310896"/>
            <a:ext cx="970406" cy="1115568"/>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p:spPr>
        <p:txBody>
          <a:bodyPr wrap="square" lIns="0" tIns="0" rIns="0" bIns="0" rtlCol="0" anchor="ctr"/>
          <a:lstStyle/>
          <a:p>
            <a:pPr marL="0" indent="0" algn="ctr">
              <a:buNone/>
            </a:pPr>
            <a:endParaRPr lang="en-US" sz="900" dirty="0"/>
          </a:p>
        </p:txBody>
      </p:sp>
      <p:sp>
        <p:nvSpPr>
          <p:cNvPr id="8" name="Text 6"/>
          <p:cNvSpPr txBox="1"/>
          <p:nvPr/>
        </p:nvSpPr>
        <p:spPr>
          <a:xfrm>
            <a:off x="502920" y="1536192"/>
            <a:ext cx="5486400" cy="201168"/>
          </a:xfrm>
          <a:prstGeom prst="rect">
            <a:avLst/>
          </a:prstGeom>
          <a:noFill/>
          <a:ln/>
        </p:spPr>
        <p:txBody>
          <a:bodyPr wrap="square" lIns="0" tIns="0" rIns="0" bIns="0" rtlCol="0" anchor="ctr"/>
          <a:lstStyle/>
          <a:p>
            <a:pPr marL="0" indent="0">
              <a:buNone/>
            </a:pPr>
            <a:r>
              <a:rPr lang="en-US" sz="950" b="1" kern="0" spc="140" dirty="0">
                <a:solidFill>
                  <a:srgbClr val="1C7FD6"/>
                </a:solidFill>
                <a:latin typeface="Calibri" pitchFamily="34" charset="0"/>
                <a:ea typeface="Calibri" pitchFamily="34" charset="-122"/>
                <a:cs typeface="Calibri" pitchFamily="34" charset="-120"/>
              </a:rPr>
              <a:t>DATA FLOW</a:t>
            </a:r>
            <a:endParaRPr lang="en-US" sz="950" dirty="0"/>
          </a:p>
        </p:txBody>
      </p:sp>
      <p:sp>
        <p:nvSpPr>
          <p:cNvPr id="9" name="Shape 7"/>
          <p:cNvSpPr/>
          <p:nvPr/>
        </p:nvSpPr>
        <p:spPr>
          <a:xfrm>
            <a:off x="502920" y="1755648"/>
            <a:ext cx="2114093" cy="676656"/>
          </a:xfrm>
          <a:prstGeom prst="roundRect">
            <a:avLst>
              <a:gd name="adj" fmla="val 12162"/>
            </a:avLst>
          </a:prstGeom>
          <a:solidFill>
            <a:srgbClr val="EEF5FC"/>
          </a:solidFill>
          <a:ln w="12700">
            <a:solidFill>
              <a:srgbClr val="CFE2F4"/>
            </a:solidFill>
            <a:prstDash val="solid"/>
          </a:ln>
        </p:spPr>
        <p:txBody>
          <a:bodyPr/>
          <a:lstStyle/>
          <a:p>
            <a:endParaRPr lang="en-GB"/>
          </a:p>
        </p:txBody>
      </p:sp>
      <p:sp>
        <p:nvSpPr>
          <p:cNvPr id="10" name="Text 8"/>
          <p:cNvSpPr txBox="1"/>
          <p:nvPr/>
        </p:nvSpPr>
        <p:spPr>
          <a:xfrm>
            <a:off x="621792"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Calibrated camera</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100 cm · px per cm</a:t>
            </a:r>
            <a:endParaRPr lang="en-US" sz="1050" dirty="0"/>
          </a:p>
        </p:txBody>
      </p:sp>
      <p:sp>
        <p:nvSpPr>
          <p:cNvPr id="11" name="Shape 9"/>
          <p:cNvSpPr/>
          <p:nvPr/>
        </p:nvSpPr>
        <p:spPr>
          <a:xfrm>
            <a:off x="2633472" y="2048256"/>
            <a:ext cx="114300" cy="91440"/>
          </a:xfrm>
          <a:prstGeom prst="rightArrow">
            <a:avLst/>
          </a:prstGeom>
          <a:solidFill>
            <a:srgbClr val="1C7FD6"/>
          </a:solidFill>
          <a:ln/>
        </p:spPr>
        <p:txBody>
          <a:bodyPr/>
          <a:lstStyle/>
          <a:p>
            <a:endParaRPr lang="en-GB"/>
          </a:p>
        </p:txBody>
      </p:sp>
      <p:sp>
        <p:nvSpPr>
          <p:cNvPr id="12" name="Shape 10"/>
          <p:cNvSpPr/>
          <p:nvPr/>
        </p:nvSpPr>
        <p:spPr>
          <a:xfrm>
            <a:off x="2763317" y="1755648"/>
            <a:ext cx="2114093" cy="676656"/>
          </a:xfrm>
          <a:prstGeom prst="roundRect">
            <a:avLst>
              <a:gd name="adj" fmla="val 12162"/>
            </a:avLst>
          </a:prstGeom>
          <a:solidFill>
            <a:srgbClr val="EEF5FC"/>
          </a:solidFill>
          <a:ln w="12700">
            <a:solidFill>
              <a:srgbClr val="CFE2F4"/>
            </a:solidFill>
            <a:prstDash val="solid"/>
          </a:ln>
        </p:spPr>
        <p:txBody>
          <a:bodyPr/>
          <a:lstStyle/>
          <a:p>
            <a:endParaRPr lang="en-GB"/>
          </a:p>
        </p:txBody>
      </p:sp>
      <p:sp>
        <p:nvSpPr>
          <p:cNvPr id="13" name="Text 11"/>
          <p:cNvSpPr txBox="1"/>
          <p:nvPr/>
        </p:nvSpPr>
        <p:spPr>
          <a:xfrm>
            <a:off x="2882189"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Detect garment</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no reference card</a:t>
            </a:r>
            <a:endParaRPr lang="en-US" sz="1050" dirty="0"/>
          </a:p>
        </p:txBody>
      </p:sp>
      <p:sp>
        <p:nvSpPr>
          <p:cNvPr id="14" name="Shape 12"/>
          <p:cNvSpPr/>
          <p:nvPr/>
        </p:nvSpPr>
        <p:spPr>
          <a:xfrm>
            <a:off x="4893869" y="2048256"/>
            <a:ext cx="114300" cy="91440"/>
          </a:xfrm>
          <a:prstGeom prst="rightArrow">
            <a:avLst/>
          </a:prstGeom>
          <a:solidFill>
            <a:srgbClr val="1C7FD6"/>
          </a:solidFill>
          <a:ln/>
        </p:spPr>
        <p:txBody>
          <a:bodyPr/>
          <a:lstStyle/>
          <a:p>
            <a:endParaRPr lang="en-GB"/>
          </a:p>
        </p:txBody>
      </p:sp>
      <p:sp>
        <p:nvSpPr>
          <p:cNvPr id="15" name="Shape 13"/>
          <p:cNvSpPr/>
          <p:nvPr/>
        </p:nvSpPr>
        <p:spPr>
          <a:xfrm>
            <a:off x="5023714" y="1755648"/>
            <a:ext cx="2114093" cy="676656"/>
          </a:xfrm>
          <a:prstGeom prst="roundRect">
            <a:avLst>
              <a:gd name="adj" fmla="val 12162"/>
            </a:avLst>
          </a:prstGeom>
          <a:solidFill>
            <a:srgbClr val="EEF5FC"/>
          </a:solidFill>
          <a:ln w="12700">
            <a:solidFill>
              <a:srgbClr val="CFE2F4"/>
            </a:solidFill>
            <a:prstDash val="solid"/>
          </a:ln>
        </p:spPr>
        <p:txBody>
          <a:bodyPr/>
          <a:lstStyle/>
          <a:p>
            <a:endParaRPr lang="en-GB"/>
          </a:p>
        </p:txBody>
      </p:sp>
      <p:sp>
        <p:nvSpPr>
          <p:cNvPr id="16" name="Text 14"/>
          <p:cNvSpPr txBox="1"/>
          <p:nvPr/>
        </p:nvSpPr>
        <p:spPr>
          <a:xfrm>
            <a:off x="5142586"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Measure</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width &amp; length, cm</a:t>
            </a:r>
            <a:endParaRPr lang="en-US" sz="1050" dirty="0"/>
          </a:p>
        </p:txBody>
      </p:sp>
      <p:sp>
        <p:nvSpPr>
          <p:cNvPr id="17" name="Shape 15"/>
          <p:cNvSpPr/>
          <p:nvPr/>
        </p:nvSpPr>
        <p:spPr>
          <a:xfrm>
            <a:off x="7154266" y="2048256"/>
            <a:ext cx="114300" cy="91440"/>
          </a:xfrm>
          <a:prstGeom prst="rightArrow">
            <a:avLst/>
          </a:prstGeom>
          <a:solidFill>
            <a:srgbClr val="1C7FD6"/>
          </a:solidFill>
          <a:ln/>
        </p:spPr>
        <p:txBody>
          <a:bodyPr/>
          <a:lstStyle/>
          <a:p>
            <a:endParaRPr lang="en-GB"/>
          </a:p>
        </p:txBody>
      </p:sp>
      <p:sp>
        <p:nvSpPr>
          <p:cNvPr id="18" name="Shape 16"/>
          <p:cNvSpPr/>
          <p:nvPr/>
        </p:nvSpPr>
        <p:spPr>
          <a:xfrm>
            <a:off x="7284110" y="1755648"/>
            <a:ext cx="2114093" cy="676656"/>
          </a:xfrm>
          <a:prstGeom prst="roundRect">
            <a:avLst>
              <a:gd name="adj" fmla="val 12162"/>
            </a:avLst>
          </a:prstGeom>
          <a:solidFill>
            <a:srgbClr val="EEF5FC"/>
          </a:solidFill>
          <a:ln w="12700">
            <a:solidFill>
              <a:srgbClr val="CFE2F4"/>
            </a:solidFill>
            <a:prstDash val="solid"/>
          </a:ln>
        </p:spPr>
        <p:txBody>
          <a:bodyPr/>
          <a:lstStyle/>
          <a:p>
            <a:endParaRPr lang="en-GB"/>
          </a:p>
        </p:txBody>
      </p:sp>
      <p:sp>
        <p:nvSpPr>
          <p:cNvPr id="19" name="Text 17"/>
          <p:cNvSpPr txBox="1"/>
          <p:nvPr/>
        </p:nvSpPr>
        <p:spPr>
          <a:xfrm>
            <a:off x="7402982"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Best frame</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3 frames agree</a:t>
            </a:r>
            <a:endParaRPr lang="en-US" sz="1050" dirty="0"/>
          </a:p>
        </p:txBody>
      </p:sp>
      <p:sp>
        <p:nvSpPr>
          <p:cNvPr id="20" name="Shape 18"/>
          <p:cNvSpPr/>
          <p:nvPr/>
        </p:nvSpPr>
        <p:spPr>
          <a:xfrm>
            <a:off x="9414662" y="2048256"/>
            <a:ext cx="114300" cy="91440"/>
          </a:xfrm>
          <a:prstGeom prst="rightArrow">
            <a:avLst/>
          </a:prstGeom>
          <a:solidFill>
            <a:srgbClr val="1C7FD6"/>
          </a:solidFill>
          <a:ln/>
        </p:spPr>
        <p:txBody>
          <a:bodyPr/>
          <a:lstStyle/>
          <a:p>
            <a:endParaRPr lang="en-GB"/>
          </a:p>
        </p:txBody>
      </p:sp>
      <p:sp>
        <p:nvSpPr>
          <p:cNvPr id="21" name="Shape 19"/>
          <p:cNvSpPr/>
          <p:nvPr/>
        </p:nvSpPr>
        <p:spPr>
          <a:xfrm>
            <a:off x="9544507" y="1755648"/>
            <a:ext cx="2114093" cy="676656"/>
          </a:xfrm>
          <a:prstGeom prst="roundRect">
            <a:avLst>
              <a:gd name="adj" fmla="val 12162"/>
            </a:avLst>
          </a:prstGeom>
          <a:solidFill>
            <a:srgbClr val="EEF5FC"/>
          </a:solidFill>
          <a:ln w="12700">
            <a:solidFill>
              <a:srgbClr val="CFE2F4"/>
            </a:solidFill>
            <a:prstDash val="solid"/>
          </a:ln>
        </p:spPr>
        <p:txBody>
          <a:bodyPr/>
          <a:lstStyle/>
          <a:p>
            <a:endParaRPr lang="en-GB"/>
          </a:p>
        </p:txBody>
      </p:sp>
      <p:sp>
        <p:nvSpPr>
          <p:cNvPr id="22" name="Text 20"/>
          <p:cNvSpPr txBox="1"/>
          <p:nvPr/>
        </p:nvSpPr>
        <p:spPr>
          <a:xfrm>
            <a:off x="9663379"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Size chart → order</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SQLite, to target</a:t>
            </a:r>
            <a:endParaRPr lang="en-US" sz="1050" dirty="0"/>
          </a:p>
        </p:txBody>
      </p:sp>
      <p:sp>
        <p:nvSpPr>
          <p:cNvPr id="23" name="Text 21"/>
          <p:cNvSpPr txBox="1"/>
          <p:nvPr/>
        </p:nvSpPr>
        <p:spPr>
          <a:xfrm>
            <a:off x="502920" y="2651760"/>
            <a:ext cx="5623560" cy="201168"/>
          </a:xfrm>
          <a:prstGeom prst="rect">
            <a:avLst/>
          </a:prstGeom>
          <a:noFill/>
          <a:ln/>
        </p:spPr>
        <p:txBody>
          <a:bodyPr wrap="square" lIns="0" tIns="0" rIns="0" bIns="0" rtlCol="0" anchor="ctr"/>
          <a:lstStyle/>
          <a:p>
            <a:pPr marL="0" indent="0">
              <a:buNone/>
            </a:pPr>
            <a:r>
              <a:rPr lang="en-US" sz="950" b="1" kern="0" spc="140" dirty="0">
                <a:solidFill>
                  <a:srgbClr val="1C7FD6"/>
                </a:solidFill>
                <a:latin typeface="Calibri" pitchFamily="34" charset="0"/>
                <a:ea typeface="Calibri" pitchFamily="34" charset="-122"/>
                <a:cs typeface="Calibri" pitchFamily="34" charset="-120"/>
              </a:rPr>
              <a:t>SCALE AND BEST-FRAME SELECTION</a:t>
            </a:r>
            <a:endParaRPr lang="en-US" sz="950" dirty="0"/>
          </a:p>
        </p:txBody>
      </p:sp>
      <p:sp>
        <p:nvSpPr>
          <p:cNvPr id="24" name="Shape 22"/>
          <p:cNvSpPr/>
          <p:nvPr/>
        </p:nvSpPr>
        <p:spPr>
          <a:xfrm>
            <a:off x="502920" y="2871216"/>
            <a:ext cx="5623560" cy="1920240"/>
          </a:xfrm>
          <a:prstGeom prst="roundRect">
            <a:avLst>
              <a:gd name="adj" fmla="val 4286"/>
            </a:avLst>
          </a:prstGeom>
          <a:solidFill>
            <a:srgbClr val="FFFFFF"/>
          </a:solidFill>
          <a:ln w="12700">
            <a:solidFill>
              <a:srgbClr val="DDE1F2"/>
            </a:solidFill>
            <a:prstDash val="solid"/>
          </a:ln>
        </p:spPr>
        <p:txBody>
          <a:bodyPr/>
          <a:lstStyle/>
          <a:p>
            <a:endParaRPr lang="en-GB"/>
          </a:p>
        </p:txBody>
      </p:sp>
      <p:sp>
        <p:nvSpPr>
          <p:cNvPr id="25" name="Text 23"/>
          <p:cNvSpPr txBox="1"/>
          <p:nvPr/>
        </p:nvSpPr>
        <p:spPr>
          <a:xfrm>
            <a:off x="704088" y="2962656"/>
            <a:ext cx="5221224" cy="219456"/>
          </a:xfrm>
          <a:prstGeom prst="rect">
            <a:avLst/>
          </a:prstGeom>
          <a:noFill/>
          <a:ln/>
        </p:spPr>
        <p:txBody>
          <a:bodyPr wrap="square" lIns="0" tIns="0" rIns="0" bIns="0" rtlCol="0" anchor="ctr"/>
          <a:lstStyle/>
          <a:p>
            <a:pPr marL="0" indent="0">
              <a:buNone/>
            </a:pPr>
            <a:r>
              <a:rPr lang="en-US" sz="950" b="1" dirty="0">
                <a:solidFill>
                  <a:srgbClr val="72778F"/>
                </a:solidFill>
                <a:latin typeface="Calibri" pitchFamily="34" charset="0"/>
                <a:ea typeface="Calibri" pitchFamily="34" charset="-122"/>
                <a:cs typeface="Calibri" pitchFamily="34" charset="-120"/>
              </a:rPr>
              <a:t>Fixed height gives the scale; agreement gives the frame</a:t>
            </a:r>
            <a:endParaRPr lang="en-US" sz="950" dirty="0"/>
          </a:p>
        </p:txBody>
      </p:sp>
      <p:sp>
        <p:nvSpPr>
          <p:cNvPr id="26" name="Shape 24"/>
          <p:cNvSpPr/>
          <p:nvPr/>
        </p:nvSpPr>
        <p:spPr>
          <a:xfrm>
            <a:off x="1005840" y="3310128"/>
            <a:ext cx="914400" cy="329184"/>
          </a:xfrm>
          <a:prstGeom prst="roundRect">
            <a:avLst>
              <a:gd name="adj" fmla="val 25000"/>
            </a:avLst>
          </a:prstGeom>
          <a:solidFill>
            <a:srgbClr val="141735"/>
          </a:solidFill>
          <a:ln/>
        </p:spPr>
        <p:txBody>
          <a:bodyPr/>
          <a:lstStyle/>
          <a:p>
            <a:endParaRPr lang="en-GB"/>
          </a:p>
        </p:txBody>
      </p:sp>
      <p:sp>
        <p:nvSpPr>
          <p:cNvPr id="27" name="Text 25"/>
          <p:cNvSpPr txBox="1"/>
          <p:nvPr/>
        </p:nvSpPr>
        <p:spPr>
          <a:xfrm>
            <a:off x="1005840" y="3310128"/>
            <a:ext cx="914400" cy="329184"/>
          </a:xfrm>
          <a:prstGeom prst="rect">
            <a:avLst/>
          </a:prstGeom>
          <a:noFill/>
          <a:ln/>
        </p:spPr>
        <p:txBody>
          <a:bodyPr wrap="square" lIns="0" tIns="0" rIns="0" bIns="0" rtlCol="0" anchor="ctr"/>
          <a:lstStyle/>
          <a:p>
            <a:pPr marL="0" indent="0" algn="ctr">
              <a:buNone/>
            </a:pPr>
            <a:r>
              <a:rPr lang="en-US" sz="850" b="1" dirty="0">
                <a:solidFill>
                  <a:srgbClr val="2FC79A"/>
                </a:solidFill>
                <a:latin typeface="Calibri" pitchFamily="34" charset="0"/>
                <a:ea typeface="Calibri" pitchFamily="34" charset="-122"/>
                <a:cs typeface="Calibri" pitchFamily="34" charset="-120"/>
              </a:rPr>
              <a:t>camera</a:t>
            </a:r>
            <a:endParaRPr lang="en-US" sz="850" dirty="0"/>
          </a:p>
        </p:txBody>
      </p:sp>
      <p:sp>
        <p:nvSpPr>
          <p:cNvPr id="28" name="Shape 26"/>
          <p:cNvSpPr/>
          <p:nvPr/>
        </p:nvSpPr>
        <p:spPr>
          <a:xfrm>
            <a:off x="1444752" y="3639312"/>
            <a:ext cx="27432" cy="713232"/>
          </a:xfrm>
          <a:prstGeom prst="rect">
            <a:avLst/>
          </a:prstGeom>
          <a:solidFill>
            <a:srgbClr val="1C7FD6"/>
          </a:solidFill>
          <a:ln/>
        </p:spPr>
        <p:txBody>
          <a:bodyPr/>
          <a:lstStyle/>
          <a:p>
            <a:endParaRPr lang="en-GB"/>
          </a:p>
        </p:txBody>
      </p:sp>
      <p:sp>
        <p:nvSpPr>
          <p:cNvPr id="29" name="Text 27"/>
          <p:cNvSpPr txBox="1"/>
          <p:nvPr/>
        </p:nvSpPr>
        <p:spPr>
          <a:xfrm>
            <a:off x="1545336" y="3858768"/>
            <a:ext cx="822960" cy="237744"/>
          </a:xfrm>
          <a:prstGeom prst="rect">
            <a:avLst/>
          </a:prstGeom>
          <a:noFill/>
          <a:ln/>
        </p:spPr>
        <p:txBody>
          <a:bodyPr wrap="square" lIns="0" tIns="0" rIns="0" bIns="0" rtlCol="0" anchor="ctr"/>
          <a:lstStyle/>
          <a:p>
            <a:pPr marL="0" indent="0">
              <a:buNone/>
            </a:pPr>
            <a:r>
              <a:rPr lang="en-US" sz="950" b="1" dirty="0">
                <a:solidFill>
                  <a:srgbClr val="1C7FD6"/>
                </a:solidFill>
                <a:latin typeface="Calibri" pitchFamily="34" charset="0"/>
                <a:ea typeface="Calibri" pitchFamily="34" charset="-122"/>
                <a:cs typeface="Calibri" pitchFamily="34" charset="-120"/>
              </a:rPr>
              <a:t>100 cm</a:t>
            </a:r>
            <a:endParaRPr lang="en-US" sz="950" dirty="0"/>
          </a:p>
        </p:txBody>
      </p:sp>
      <p:sp>
        <p:nvSpPr>
          <p:cNvPr id="30" name="Shape 28"/>
          <p:cNvSpPr/>
          <p:nvPr/>
        </p:nvSpPr>
        <p:spPr>
          <a:xfrm>
            <a:off x="822960" y="4352544"/>
            <a:ext cx="1280160" cy="384048"/>
          </a:xfrm>
          <a:prstGeom prst="roundRect">
            <a:avLst>
              <a:gd name="adj" fmla="val 21429"/>
            </a:avLst>
          </a:prstGeom>
          <a:solidFill>
            <a:srgbClr val="F1F3FC"/>
          </a:solidFill>
          <a:ln w="12700">
            <a:solidFill>
              <a:srgbClr val="DDE1F2"/>
            </a:solidFill>
            <a:prstDash val="solid"/>
          </a:ln>
        </p:spPr>
        <p:txBody>
          <a:bodyPr/>
          <a:lstStyle/>
          <a:p>
            <a:endParaRPr lang="en-GB"/>
          </a:p>
        </p:txBody>
      </p:sp>
      <p:sp>
        <p:nvSpPr>
          <p:cNvPr id="31" name="Text 29"/>
          <p:cNvSpPr txBox="1"/>
          <p:nvPr/>
        </p:nvSpPr>
        <p:spPr>
          <a:xfrm>
            <a:off x="822960" y="4352544"/>
            <a:ext cx="1280160" cy="384048"/>
          </a:xfrm>
          <a:prstGeom prst="rect">
            <a:avLst/>
          </a:prstGeom>
          <a:noFill/>
          <a:ln/>
        </p:spPr>
        <p:txBody>
          <a:bodyPr wrap="square" lIns="0" tIns="0" rIns="0" bIns="0" rtlCol="0" anchor="ctr"/>
          <a:lstStyle/>
          <a:p>
            <a:pPr marL="0" indent="0" algn="ctr">
              <a:buNone/>
            </a:pPr>
            <a:r>
              <a:rPr lang="en-US" sz="900" dirty="0">
                <a:solidFill>
                  <a:srgbClr val="3E4257"/>
                </a:solidFill>
                <a:latin typeface="Calibri" pitchFamily="34" charset="0"/>
                <a:ea typeface="Calibri" pitchFamily="34" charset="-122"/>
                <a:cs typeface="Calibri" pitchFamily="34" charset="-120"/>
              </a:rPr>
              <a:t>garment</a:t>
            </a:r>
            <a:endParaRPr lang="en-US" sz="900" dirty="0"/>
          </a:p>
        </p:txBody>
      </p:sp>
      <p:sp>
        <p:nvSpPr>
          <p:cNvPr id="32" name="Shape 30"/>
          <p:cNvSpPr/>
          <p:nvPr/>
        </p:nvSpPr>
        <p:spPr>
          <a:xfrm>
            <a:off x="2167128" y="4498848"/>
            <a:ext cx="182880" cy="100584"/>
          </a:xfrm>
          <a:prstGeom prst="rightArrow">
            <a:avLst/>
          </a:prstGeom>
          <a:solidFill>
            <a:srgbClr val="1C7FD6"/>
          </a:solidFill>
          <a:ln/>
        </p:spPr>
        <p:txBody>
          <a:bodyPr/>
          <a:lstStyle/>
          <a:p>
            <a:endParaRPr lang="en-GB"/>
          </a:p>
        </p:txBody>
      </p:sp>
      <p:sp>
        <p:nvSpPr>
          <p:cNvPr id="33" name="Shape 31"/>
          <p:cNvSpPr/>
          <p:nvPr/>
        </p:nvSpPr>
        <p:spPr>
          <a:xfrm>
            <a:off x="2514600" y="3383280"/>
            <a:ext cx="1005840" cy="475488"/>
          </a:xfrm>
          <a:prstGeom prst="roundRect">
            <a:avLst>
              <a:gd name="adj" fmla="val 17308"/>
            </a:avLst>
          </a:prstGeom>
          <a:solidFill>
            <a:srgbClr val="F1F3FC"/>
          </a:solidFill>
          <a:ln w="12700">
            <a:solidFill>
              <a:srgbClr val="DDE1F2"/>
            </a:solidFill>
            <a:prstDash val="solid"/>
          </a:ln>
        </p:spPr>
        <p:txBody>
          <a:bodyPr/>
          <a:lstStyle/>
          <a:p>
            <a:endParaRPr lang="en-GB"/>
          </a:p>
        </p:txBody>
      </p:sp>
      <p:sp>
        <p:nvSpPr>
          <p:cNvPr id="34" name="Text 32"/>
          <p:cNvSpPr txBox="1"/>
          <p:nvPr/>
        </p:nvSpPr>
        <p:spPr>
          <a:xfrm>
            <a:off x="2514600" y="3383280"/>
            <a:ext cx="1005840" cy="475488"/>
          </a:xfrm>
          <a:prstGeom prst="rect">
            <a:avLst/>
          </a:prstGeom>
          <a:noFill/>
          <a:ln/>
        </p:spPr>
        <p:txBody>
          <a:bodyPr wrap="square" lIns="0" tIns="0" rIns="0" bIns="0" rtlCol="0" anchor="ctr"/>
          <a:lstStyle/>
          <a:p>
            <a:pPr marL="0" indent="0" algn="ctr">
              <a:buNone/>
            </a:pPr>
            <a:r>
              <a:rPr lang="en-US" sz="900" dirty="0">
                <a:solidFill>
                  <a:srgbClr val="3E4257"/>
                </a:solidFill>
                <a:latin typeface="Calibri" pitchFamily="34" charset="0"/>
                <a:ea typeface="Calibri" pitchFamily="34" charset="-122"/>
                <a:cs typeface="Calibri" pitchFamily="34" charset="-120"/>
              </a:rPr>
              <a:t>frame 1</a:t>
            </a:r>
            <a:endParaRPr lang="en-US" sz="900" dirty="0"/>
          </a:p>
        </p:txBody>
      </p:sp>
      <p:sp>
        <p:nvSpPr>
          <p:cNvPr id="35" name="Text 33"/>
          <p:cNvSpPr txBox="1"/>
          <p:nvPr/>
        </p:nvSpPr>
        <p:spPr>
          <a:xfrm>
            <a:off x="3520440" y="3383280"/>
            <a:ext cx="109728" cy="475488"/>
          </a:xfrm>
          <a:prstGeom prst="rect">
            <a:avLst/>
          </a:prstGeom>
          <a:noFill/>
          <a:ln/>
        </p:spPr>
        <p:txBody>
          <a:bodyPr wrap="square" lIns="0" tIns="0" rIns="0" bIns="0" rtlCol="0" anchor="ctr"/>
          <a:lstStyle/>
          <a:p>
            <a:pPr marL="0" indent="0" algn="ctr">
              <a:buNone/>
            </a:pPr>
            <a:r>
              <a:rPr lang="en-US" sz="1100" b="1" dirty="0">
                <a:solidFill>
                  <a:srgbClr val="1C7FD6"/>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3630168" y="3383280"/>
            <a:ext cx="1005840" cy="475488"/>
          </a:xfrm>
          <a:prstGeom prst="roundRect">
            <a:avLst>
              <a:gd name="adj" fmla="val 17308"/>
            </a:avLst>
          </a:prstGeom>
          <a:solidFill>
            <a:srgbClr val="F1F3FC"/>
          </a:solidFill>
          <a:ln w="12700">
            <a:solidFill>
              <a:srgbClr val="DDE1F2"/>
            </a:solidFill>
            <a:prstDash val="solid"/>
          </a:ln>
        </p:spPr>
        <p:txBody>
          <a:bodyPr/>
          <a:lstStyle/>
          <a:p>
            <a:endParaRPr lang="en-GB"/>
          </a:p>
        </p:txBody>
      </p:sp>
      <p:sp>
        <p:nvSpPr>
          <p:cNvPr id="37" name="Text 35"/>
          <p:cNvSpPr txBox="1"/>
          <p:nvPr/>
        </p:nvSpPr>
        <p:spPr>
          <a:xfrm>
            <a:off x="3630168" y="3383280"/>
            <a:ext cx="1005840" cy="475488"/>
          </a:xfrm>
          <a:prstGeom prst="rect">
            <a:avLst/>
          </a:prstGeom>
          <a:noFill/>
          <a:ln/>
        </p:spPr>
        <p:txBody>
          <a:bodyPr wrap="square" lIns="0" tIns="0" rIns="0" bIns="0" rtlCol="0" anchor="ctr"/>
          <a:lstStyle/>
          <a:p>
            <a:pPr marL="0" indent="0" algn="ctr">
              <a:buNone/>
            </a:pPr>
            <a:r>
              <a:rPr lang="en-US" sz="900" dirty="0">
                <a:solidFill>
                  <a:srgbClr val="3E4257"/>
                </a:solidFill>
                <a:latin typeface="Calibri" pitchFamily="34" charset="0"/>
                <a:ea typeface="Calibri" pitchFamily="34" charset="-122"/>
                <a:cs typeface="Calibri" pitchFamily="34" charset="-120"/>
              </a:rPr>
              <a:t>frame 2</a:t>
            </a:r>
            <a:endParaRPr lang="en-US" sz="900" dirty="0"/>
          </a:p>
        </p:txBody>
      </p:sp>
      <p:sp>
        <p:nvSpPr>
          <p:cNvPr id="38" name="Text 36"/>
          <p:cNvSpPr txBox="1"/>
          <p:nvPr/>
        </p:nvSpPr>
        <p:spPr>
          <a:xfrm>
            <a:off x="4636008" y="3383280"/>
            <a:ext cx="109728" cy="475488"/>
          </a:xfrm>
          <a:prstGeom prst="rect">
            <a:avLst/>
          </a:prstGeom>
          <a:noFill/>
          <a:ln/>
        </p:spPr>
        <p:txBody>
          <a:bodyPr wrap="square" lIns="0" tIns="0" rIns="0" bIns="0" rtlCol="0" anchor="ctr"/>
          <a:lstStyle/>
          <a:p>
            <a:pPr marL="0" indent="0" algn="ctr">
              <a:buNone/>
            </a:pPr>
            <a:r>
              <a:rPr lang="en-US" sz="1100" b="1" dirty="0">
                <a:solidFill>
                  <a:srgbClr val="1C7FD6"/>
                </a:solidFill>
                <a:latin typeface="Calibri" pitchFamily="34" charset="0"/>
                <a:ea typeface="Calibri" pitchFamily="34" charset="-122"/>
                <a:cs typeface="Calibri" pitchFamily="34" charset="-120"/>
              </a:rPr>
              <a:t>=</a:t>
            </a:r>
            <a:endParaRPr lang="en-US" sz="1100" dirty="0"/>
          </a:p>
        </p:txBody>
      </p:sp>
      <p:sp>
        <p:nvSpPr>
          <p:cNvPr id="39" name="Shape 37"/>
          <p:cNvSpPr/>
          <p:nvPr/>
        </p:nvSpPr>
        <p:spPr>
          <a:xfrm>
            <a:off x="4745736" y="3383280"/>
            <a:ext cx="1005840" cy="475488"/>
          </a:xfrm>
          <a:prstGeom prst="roundRect">
            <a:avLst>
              <a:gd name="adj" fmla="val 17308"/>
            </a:avLst>
          </a:prstGeom>
          <a:solidFill>
            <a:srgbClr val="F1F3FC"/>
          </a:solidFill>
          <a:ln w="12700">
            <a:solidFill>
              <a:srgbClr val="DDE1F2"/>
            </a:solidFill>
            <a:prstDash val="solid"/>
          </a:ln>
        </p:spPr>
        <p:txBody>
          <a:bodyPr/>
          <a:lstStyle/>
          <a:p>
            <a:endParaRPr lang="en-GB"/>
          </a:p>
        </p:txBody>
      </p:sp>
      <p:sp>
        <p:nvSpPr>
          <p:cNvPr id="40" name="Text 38"/>
          <p:cNvSpPr txBox="1"/>
          <p:nvPr/>
        </p:nvSpPr>
        <p:spPr>
          <a:xfrm>
            <a:off x="4745736" y="3383280"/>
            <a:ext cx="1005840" cy="475488"/>
          </a:xfrm>
          <a:prstGeom prst="rect">
            <a:avLst/>
          </a:prstGeom>
          <a:noFill/>
          <a:ln/>
        </p:spPr>
        <p:txBody>
          <a:bodyPr wrap="square" lIns="0" tIns="0" rIns="0" bIns="0" rtlCol="0" anchor="ctr"/>
          <a:lstStyle/>
          <a:p>
            <a:pPr marL="0" indent="0" algn="ctr">
              <a:buNone/>
            </a:pPr>
            <a:r>
              <a:rPr lang="en-US" sz="900" dirty="0">
                <a:solidFill>
                  <a:srgbClr val="3E4257"/>
                </a:solidFill>
                <a:latin typeface="Calibri" pitchFamily="34" charset="0"/>
                <a:ea typeface="Calibri" pitchFamily="34" charset="-122"/>
                <a:cs typeface="Calibri" pitchFamily="34" charset="-120"/>
              </a:rPr>
              <a:t>frame 3</a:t>
            </a:r>
            <a:endParaRPr lang="en-US" sz="900" dirty="0"/>
          </a:p>
        </p:txBody>
      </p:sp>
      <p:sp>
        <p:nvSpPr>
          <p:cNvPr id="41" name="Shape 39"/>
          <p:cNvSpPr/>
          <p:nvPr/>
        </p:nvSpPr>
        <p:spPr>
          <a:xfrm>
            <a:off x="2514600" y="3986784"/>
            <a:ext cx="3236976" cy="329184"/>
          </a:xfrm>
          <a:prstGeom prst="roundRect">
            <a:avLst>
              <a:gd name="adj" fmla="val 25000"/>
            </a:avLst>
          </a:prstGeom>
          <a:solidFill>
            <a:srgbClr val="F1F3FC"/>
          </a:solidFill>
          <a:ln w="12700">
            <a:solidFill>
              <a:srgbClr val="DDE1F2"/>
            </a:solidFill>
            <a:prstDash val="solid"/>
          </a:ln>
        </p:spPr>
        <p:txBody>
          <a:bodyPr/>
          <a:lstStyle/>
          <a:p>
            <a:endParaRPr lang="en-GB"/>
          </a:p>
        </p:txBody>
      </p:sp>
      <p:sp>
        <p:nvSpPr>
          <p:cNvPr id="42" name="Text 40"/>
          <p:cNvSpPr txBox="1"/>
          <p:nvPr/>
        </p:nvSpPr>
        <p:spPr>
          <a:xfrm>
            <a:off x="2514600" y="3986784"/>
            <a:ext cx="3236976" cy="329184"/>
          </a:xfrm>
          <a:prstGeom prst="rect">
            <a:avLst/>
          </a:prstGeom>
          <a:noFill/>
          <a:ln/>
        </p:spPr>
        <p:txBody>
          <a:bodyPr wrap="square" lIns="0" tIns="0" rIns="0" bIns="0" rtlCol="0" anchor="ctr"/>
          <a:lstStyle/>
          <a:p>
            <a:pPr marL="0" indent="0" algn="ctr">
              <a:buNone/>
            </a:pPr>
            <a:r>
              <a:rPr lang="en-US" sz="900" dirty="0">
                <a:solidFill>
                  <a:srgbClr val="3E4257"/>
                </a:solidFill>
                <a:latin typeface="Calibri" pitchFamily="34" charset="0"/>
                <a:ea typeface="Calibri" pitchFamily="34" charset="-122"/>
                <a:cs typeface="Calibri" pitchFamily="34" charset="-120"/>
              </a:rPr>
              <a:t>width agrees ± 1.5 cm    ·    length ± 2.0 cm</a:t>
            </a:r>
            <a:endParaRPr lang="en-US" sz="900" dirty="0"/>
          </a:p>
        </p:txBody>
      </p:sp>
      <p:sp>
        <p:nvSpPr>
          <p:cNvPr id="43" name="Shape 41"/>
          <p:cNvSpPr/>
          <p:nvPr/>
        </p:nvSpPr>
        <p:spPr>
          <a:xfrm>
            <a:off x="2514600" y="4389120"/>
            <a:ext cx="3236976" cy="347472"/>
          </a:xfrm>
          <a:prstGeom prst="roundRect">
            <a:avLst>
              <a:gd name="adj" fmla="val 23684"/>
            </a:avLst>
          </a:prstGeom>
          <a:solidFill>
            <a:srgbClr val="E2EEF9"/>
          </a:solidFill>
          <a:ln w="12700">
            <a:solidFill>
              <a:srgbClr val="C4DCF2"/>
            </a:solidFill>
            <a:prstDash val="solid"/>
          </a:ln>
        </p:spPr>
        <p:txBody>
          <a:bodyPr/>
          <a:lstStyle/>
          <a:p>
            <a:endParaRPr lang="en-GB"/>
          </a:p>
        </p:txBody>
      </p:sp>
      <p:sp>
        <p:nvSpPr>
          <p:cNvPr id="44" name="Text 42"/>
          <p:cNvSpPr txBox="1"/>
          <p:nvPr/>
        </p:nvSpPr>
        <p:spPr>
          <a:xfrm>
            <a:off x="2514600" y="4389120"/>
            <a:ext cx="3236976" cy="347472"/>
          </a:xfrm>
          <a:prstGeom prst="rect">
            <a:avLst/>
          </a:prstGeom>
          <a:noFill/>
          <a:ln/>
        </p:spPr>
        <p:txBody>
          <a:bodyPr wrap="square" lIns="0" tIns="0" rIns="0" bIns="0" rtlCol="0" anchor="ctr"/>
          <a:lstStyle/>
          <a:p>
            <a:pPr marL="0" indent="0" algn="ctr">
              <a:buNone/>
            </a:pPr>
            <a:r>
              <a:rPr lang="en-US" sz="900" b="1" dirty="0">
                <a:solidFill>
                  <a:srgbClr val="1C7FD6"/>
                </a:solidFill>
                <a:latin typeface="Calibri" pitchFamily="34" charset="0"/>
                <a:ea typeface="Calibri" pitchFamily="34" charset="-122"/>
                <a:cs typeface="Calibri" pitchFamily="34" charset="-120"/>
              </a:rPr>
              <a:t>size recorded, then counted after removal</a:t>
            </a:r>
            <a:endParaRPr lang="en-US" sz="900" dirty="0"/>
          </a:p>
        </p:txBody>
      </p:sp>
      <p:sp>
        <p:nvSpPr>
          <p:cNvPr id="45" name="Shape 43"/>
          <p:cNvSpPr/>
          <p:nvPr/>
        </p:nvSpPr>
        <p:spPr>
          <a:xfrm>
            <a:off x="6355080" y="2871216"/>
            <a:ext cx="5303520" cy="566928"/>
          </a:xfrm>
          <a:prstGeom prst="roundRect">
            <a:avLst>
              <a:gd name="adj" fmla="val 14516"/>
            </a:avLst>
          </a:prstGeom>
          <a:solidFill>
            <a:srgbClr val="F1F3FC"/>
          </a:solidFill>
          <a:ln/>
        </p:spPr>
        <p:txBody>
          <a:bodyPr/>
          <a:lstStyle/>
          <a:p>
            <a:endParaRPr lang="en-GB"/>
          </a:p>
        </p:txBody>
      </p:sp>
      <p:sp>
        <p:nvSpPr>
          <p:cNvPr id="46" name="Text 44"/>
          <p:cNvSpPr txBox="1"/>
          <p:nvPr/>
        </p:nvSpPr>
        <p:spPr>
          <a:xfrm>
            <a:off x="6565392" y="2871216"/>
            <a:ext cx="4901184" cy="566928"/>
          </a:xfrm>
          <a:prstGeom prst="rect">
            <a:avLst/>
          </a:prstGeom>
          <a:noFill/>
          <a:ln/>
        </p:spPr>
        <p:txBody>
          <a:bodyPr wrap="square" lIns="0" tIns="0" rIns="0" bIns="0" rtlCol="0" anchor="ctr"/>
          <a:lstStyle/>
          <a:p>
            <a:pPr marL="0" indent="0">
              <a:buNone/>
            </a:pPr>
            <a:r>
              <a:rPr lang="en-US" sz="1100" b="1" dirty="0">
                <a:solidFill>
                  <a:srgbClr val="141735"/>
                </a:solidFill>
                <a:latin typeface="Calibri" pitchFamily="34" charset="0"/>
                <a:ea typeface="Calibri" pitchFamily="34" charset="-122"/>
                <a:cs typeface="Calibri" pitchFamily="34" charset="-120"/>
              </a:rPr>
              <a:t>Completes the packing record — which box, against which per-size target.</a:t>
            </a:r>
            <a:endParaRPr lang="en-US" sz="1100" dirty="0"/>
          </a:p>
        </p:txBody>
      </p:sp>
      <p:sp>
        <p:nvSpPr>
          <p:cNvPr id="47" name="Text 45"/>
          <p:cNvSpPr txBox="1"/>
          <p:nvPr/>
        </p:nvSpPr>
        <p:spPr>
          <a:xfrm>
            <a:off x="6355080" y="3566160"/>
            <a:ext cx="2560320" cy="201168"/>
          </a:xfrm>
          <a:prstGeom prst="rect">
            <a:avLst/>
          </a:prstGeom>
          <a:noFill/>
          <a:ln/>
        </p:spPr>
        <p:txBody>
          <a:bodyPr wrap="square" lIns="0" tIns="0" rIns="0" bIns="0" rtlCol="0" anchor="ctr"/>
          <a:lstStyle/>
          <a:p>
            <a:pPr marL="0" indent="0">
              <a:buNone/>
            </a:pPr>
            <a:r>
              <a:rPr lang="en-US" sz="900" b="1" kern="0" spc="140" dirty="0">
                <a:solidFill>
                  <a:srgbClr val="2A3596"/>
                </a:solidFill>
                <a:latin typeface="Calibri" pitchFamily="34" charset="0"/>
                <a:ea typeface="Calibri" pitchFamily="34" charset="-122"/>
                <a:cs typeface="Calibri" pitchFamily="34" charset="-120"/>
              </a:rPr>
              <a:t>DEPENDENCIES</a:t>
            </a:r>
            <a:endParaRPr lang="en-US" sz="900" dirty="0"/>
          </a:p>
        </p:txBody>
      </p:sp>
      <p:sp>
        <p:nvSpPr>
          <p:cNvPr id="48" name="Text 46"/>
          <p:cNvSpPr txBox="1"/>
          <p:nvPr/>
        </p:nvSpPr>
        <p:spPr>
          <a:xfrm>
            <a:off x="6400800" y="3785616"/>
            <a:ext cx="2487168" cy="100584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Camera fixed at the 100 cm installation height</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calibration.json with a measured pixels-per-cm</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Own checkpoint plus the size-chart rules</a:t>
            </a:r>
            <a:endParaRPr lang="en-US" sz="900" dirty="0"/>
          </a:p>
        </p:txBody>
      </p:sp>
      <p:sp>
        <p:nvSpPr>
          <p:cNvPr id="49" name="Text 47"/>
          <p:cNvSpPr txBox="1"/>
          <p:nvPr/>
        </p:nvSpPr>
        <p:spPr>
          <a:xfrm>
            <a:off x="9098280" y="3566160"/>
            <a:ext cx="2560320" cy="201168"/>
          </a:xfrm>
          <a:prstGeom prst="rect">
            <a:avLst/>
          </a:prstGeom>
          <a:noFill/>
          <a:ln/>
        </p:spPr>
        <p:txBody>
          <a:bodyPr wrap="square" lIns="0" tIns="0" rIns="0" bIns="0" rtlCol="0" anchor="ctr"/>
          <a:lstStyle/>
          <a:p>
            <a:pPr marL="0" indent="0">
              <a:buNone/>
            </a:pPr>
            <a:r>
              <a:rPr lang="en-US" sz="900" b="1" kern="0" spc="140" dirty="0">
                <a:solidFill>
                  <a:srgbClr val="2A3596"/>
                </a:solidFill>
                <a:latin typeface="Calibri" pitchFamily="34" charset="0"/>
                <a:ea typeface="Calibri" pitchFamily="34" charset="-122"/>
                <a:cs typeface="Calibri" pitchFamily="34" charset="-120"/>
              </a:rPr>
              <a:t>DESIGN CHOICES</a:t>
            </a:r>
            <a:endParaRPr lang="en-US" sz="900" dirty="0"/>
          </a:p>
        </p:txBody>
      </p:sp>
      <p:sp>
        <p:nvSpPr>
          <p:cNvPr id="50" name="Text 48"/>
          <p:cNvSpPr txBox="1"/>
          <p:nvPr/>
        </p:nvSpPr>
        <p:spPr>
          <a:xfrm>
            <a:off x="9144000" y="3785616"/>
            <a:ext cx="2487168" cy="100584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Best frame by agreement, not by sharpness</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Measure first, classify second — rules can change</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Order lives in SQLite; counted only after removal</a:t>
            </a:r>
            <a:endParaRPr lang="en-US" sz="900" dirty="0"/>
          </a:p>
        </p:txBody>
      </p:sp>
      <p:sp>
        <p:nvSpPr>
          <p:cNvPr id="51" name="Text 49"/>
          <p:cNvSpPr txBox="1"/>
          <p:nvPr/>
        </p:nvSpPr>
        <p:spPr>
          <a:xfrm>
            <a:off x="502920" y="4956048"/>
            <a:ext cx="5623560" cy="201168"/>
          </a:xfrm>
          <a:prstGeom prst="rect">
            <a:avLst/>
          </a:prstGeom>
          <a:noFill/>
          <a:ln/>
        </p:spPr>
        <p:txBody>
          <a:bodyPr wrap="square" lIns="0" tIns="0" rIns="0" bIns="0" rtlCol="0" anchor="ctr"/>
          <a:lstStyle/>
          <a:p>
            <a:pPr marL="0" indent="0">
              <a:buNone/>
            </a:pPr>
            <a:r>
              <a:rPr lang="en-US" sz="900" b="1" kern="0" spc="140" dirty="0">
                <a:solidFill>
                  <a:srgbClr val="2FA36B"/>
                </a:solidFill>
                <a:latin typeface="Calibri" pitchFamily="34" charset="0"/>
                <a:ea typeface="Calibri" pitchFamily="34" charset="-122"/>
                <a:cs typeface="Calibri" pitchFamily="34" charset="-120"/>
              </a:rPr>
              <a:t>TEST EVIDENCE</a:t>
            </a:r>
            <a:endParaRPr lang="en-US" sz="900" dirty="0"/>
          </a:p>
        </p:txBody>
      </p:sp>
      <p:sp>
        <p:nvSpPr>
          <p:cNvPr id="52" name="Shape 50"/>
          <p:cNvSpPr/>
          <p:nvPr/>
        </p:nvSpPr>
        <p:spPr>
          <a:xfrm>
            <a:off x="502920" y="5175504"/>
            <a:ext cx="5623560" cy="1005840"/>
          </a:xfrm>
          <a:prstGeom prst="roundRect">
            <a:avLst>
              <a:gd name="adj" fmla="val 8182"/>
            </a:avLst>
          </a:prstGeom>
          <a:solidFill>
            <a:srgbClr val="E9F7F1"/>
          </a:solidFill>
          <a:ln/>
        </p:spPr>
        <p:txBody>
          <a:bodyPr/>
          <a:lstStyle/>
          <a:p>
            <a:endParaRPr lang="en-GB"/>
          </a:p>
        </p:txBody>
      </p:sp>
      <p:sp>
        <p:nvSpPr>
          <p:cNvPr id="53" name="Shape 51"/>
          <p:cNvSpPr/>
          <p:nvPr/>
        </p:nvSpPr>
        <p:spPr>
          <a:xfrm>
            <a:off x="658368"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54" name="Text 52"/>
          <p:cNvSpPr txBox="1"/>
          <p:nvPr/>
        </p:nvSpPr>
        <p:spPr>
          <a:xfrm>
            <a:off x="658368" y="5340096"/>
            <a:ext cx="1691640" cy="329184"/>
          </a:xfrm>
          <a:prstGeom prst="rect">
            <a:avLst/>
          </a:prstGeom>
          <a:noFill/>
          <a:ln/>
        </p:spPr>
        <p:txBody>
          <a:bodyPr wrap="square" lIns="0" tIns="0" rIns="0" bIns="0" rtlCol="0" anchor="ctr"/>
          <a:lstStyle/>
          <a:p>
            <a:pPr marL="0" indent="0" algn="ctr">
              <a:buNone/>
            </a:pPr>
            <a:r>
              <a:rPr lang="en-US" sz="1700" b="1" dirty="0">
                <a:solidFill>
                  <a:srgbClr val="2FA36B"/>
                </a:solidFill>
                <a:latin typeface="Cambria" pitchFamily="34" charset="0"/>
                <a:ea typeface="Cambria" pitchFamily="34" charset="-122"/>
                <a:cs typeface="Cambria" pitchFamily="34" charset="-120"/>
              </a:rPr>
              <a:t>57</a:t>
            </a:r>
            <a:endParaRPr lang="en-US" sz="1700" dirty="0"/>
          </a:p>
        </p:txBody>
      </p:sp>
      <p:sp>
        <p:nvSpPr>
          <p:cNvPr id="55" name="Text 53"/>
          <p:cNvSpPr txBox="1"/>
          <p:nvPr/>
        </p:nvSpPr>
        <p:spPr>
          <a:xfrm>
            <a:off x="731520"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platform tests passing</a:t>
            </a:r>
            <a:endParaRPr lang="en-US" sz="800" dirty="0"/>
          </a:p>
        </p:txBody>
      </p:sp>
      <p:sp>
        <p:nvSpPr>
          <p:cNvPr id="56" name="Shape 54"/>
          <p:cNvSpPr/>
          <p:nvPr/>
        </p:nvSpPr>
        <p:spPr>
          <a:xfrm>
            <a:off x="2478024"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57" name="Text 55"/>
          <p:cNvSpPr txBox="1"/>
          <p:nvPr/>
        </p:nvSpPr>
        <p:spPr>
          <a:xfrm>
            <a:off x="2478024" y="5340096"/>
            <a:ext cx="1691640" cy="329184"/>
          </a:xfrm>
          <a:prstGeom prst="rect">
            <a:avLst/>
          </a:prstGeom>
          <a:noFill/>
          <a:ln/>
        </p:spPr>
        <p:txBody>
          <a:bodyPr wrap="square" lIns="0" tIns="0" rIns="0" bIns="0" rtlCol="0" anchor="ctr"/>
          <a:lstStyle/>
          <a:p>
            <a:pPr marL="0" indent="0" algn="ctr">
              <a:buNone/>
            </a:pPr>
            <a:r>
              <a:rPr lang="en-US" sz="1700" b="1" dirty="0">
                <a:solidFill>
                  <a:srgbClr val="2FA36B"/>
                </a:solidFill>
                <a:latin typeface="Cambria" pitchFamily="34" charset="0"/>
                <a:ea typeface="Cambria" pitchFamily="34" charset="-122"/>
                <a:cs typeface="Cambria" pitchFamily="34" charset="-120"/>
              </a:rPr>
              <a:t>3</a:t>
            </a:r>
            <a:endParaRPr lang="en-US" sz="1700" dirty="0"/>
          </a:p>
        </p:txBody>
      </p:sp>
      <p:sp>
        <p:nvSpPr>
          <p:cNvPr id="58" name="Text 56"/>
          <p:cNvSpPr txBox="1"/>
          <p:nvPr/>
        </p:nvSpPr>
        <p:spPr>
          <a:xfrm>
            <a:off x="2551176"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frames must agree</a:t>
            </a:r>
            <a:endParaRPr lang="en-US" sz="800" dirty="0"/>
          </a:p>
        </p:txBody>
      </p:sp>
      <p:sp>
        <p:nvSpPr>
          <p:cNvPr id="59" name="Shape 57"/>
          <p:cNvSpPr/>
          <p:nvPr/>
        </p:nvSpPr>
        <p:spPr>
          <a:xfrm>
            <a:off x="4297680"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60" name="Text 58"/>
          <p:cNvSpPr txBox="1"/>
          <p:nvPr/>
        </p:nvSpPr>
        <p:spPr>
          <a:xfrm>
            <a:off x="4297680" y="5340096"/>
            <a:ext cx="1691640" cy="329184"/>
          </a:xfrm>
          <a:prstGeom prst="rect">
            <a:avLst/>
          </a:prstGeom>
          <a:noFill/>
          <a:ln/>
        </p:spPr>
        <p:txBody>
          <a:bodyPr wrap="square" lIns="0" tIns="0" rIns="0" bIns="0" rtlCol="0" anchor="ctr"/>
          <a:lstStyle/>
          <a:p>
            <a:pPr marL="0" indent="0" algn="ctr">
              <a:buNone/>
            </a:pPr>
            <a:r>
              <a:rPr lang="en-US" sz="1700" b="1" dirty="0">
                <a:solidFill>
                  <a:srgbClr val="2FA36B"/>
                </a:solidFill>
                <a:latin typeface="Cambria" pitchFamily="34" charset="0"/>
                <a:ea typeface="Cambria" pitchFamily="34" charset="-122"/>
                <a:cs typeface="Cambria" pitchFamily="34" charset="-120"/>
              </a:rPr>
              <a:t>± 1.5</a:t>
            </a:r>
            <a:endParaRPr lang="en-US" sz="1700" dirty="0"/>
          </a:p>
        </p:txBody>
      </p:sp>
      <p:sp>
        <p:nvSpPr>
          <p:cNvPr id="61" name="Text 59"/>
          <p:cNvSpPr txBox="1"/>
          <p:nvPr/>
        </p:nvSpPr>
        <p:spPr>
          <a:xfrm>
            <a:off x="4370832"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cm width tolerance</a:t>
            </a:r>
            <a:endParaRPr lang="en-US" sz="800" dirty="0"/>
          </a:p>
        </p:txBody>
      </p:sp>
      <p:sp>
        <p:nvSpPr>
          <p:cNvPr id="62" name="Text 60"/>
          <p:cNvSpPr txBox="1"/>
          <p:nvPr/>
        </p:nvSpPr>
        <p:spPr>
          <a:xfrm>
            <a:off x="6355080" y="4956048"/>
            <a:ext cx="5303520" cy="201168"/>
          </a:xfrm>
          <a:prstGeom prst="rect">
            <a:avLst/>
          </a:prstGeom>
          <a:noFill/>
          <a:ln/>
        </p:spPr>
        <p:txBody>
          <a:bodyPr wrap="square" lIns="0" tIns="0" rIns="0" bIns="0" rtlCol="0" anchor="ctr"/>
          <a:lstStyle/>
          <a:p>
            <a:pPr marL="0" indent="0">
              <a:buNone/>
            </a:pPr>
            <a:r>
              <a:rPr lang="en-US" sz="900" b="1" kern="0" spc="140" dirty="0">
                <a:solidFill>
                  <a:srgbClr val="C4453F"/>
                </a:solidFill>
                <a:latin typeface="Calibri" pitchFamily="34" charset="0"/>
                <a:ea typeface="Calibri" pitchFamily="34" charset="-122"/>
                <a:cs typeface="Calibri" pitchFamily="34" charset="-120"/>
              </a:rPr>
              <a:t>LIMITATIONS</a:t>
            </a:r>
            <a:endParaRPr lang="en-US" sz="900" dirty="0"/>
          </a:p>
        </p:txBody>
      </p:sp>
      <p:sp>
        <p:nvSpPr>
          <p:cNvPr id="63" name="Shape 61"/>
          <p:cNvSpPr/>
          <p:nvPr/>
        </p:nvSpPr>
        <p:spPr>
          <a:xfrm>
            <a:off x="6355080" y="5175504"/>
            <a:ext cx="5303520" cy="1005840"/>
          </a:xfrm>
          <a:prstGeom prst="roundRect">
            <a:avLst>
              <a:gd name="adj" fmla="val 8182"/>
            </a:avLst>
          </a:prstGeom>
          <a:solidFill>
            <a:srgbClr val="FBEDEC"/>
          </a:solidFill>
          <a:ln/>
        </p:spPr>
        <p:txBody>
          <a:bodyPr/>
          <a:lstStyle/>
          <a:p>
            <a:endParaRPr lang="en-GB"/>
          </a:p>
        </p:txBody>
      </p:sp>
      <p:sp>
        <p:nvSpPr>
          <p:cNvPr id="64" name="Text 62"/>
          <p:cNvSpPr txBox="1"/>
          <p:nvPr/>
        </p:nvSpPr>
        <p:spPr>
          <a:xfrm>
            <a:off x="6565392" y="5321808"/>
            <a:ext cx="4901184" cy="786384"/>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50" dirty="0">
                <a:solidFill>
                  <a:srgbClr val="3E4257"/>
                </a:solidFill>
                <a:latin typeface="Calibri" pitchFamily="34" charset="0"/>
                <a:ea typeface="Calibri" pitchFamily="34" charset="-122"/>
                <a:cs typeface="Calibri" pitchFamily="34" charset="-120"/>
              </a:rPr>
              <a:t>Moving the camera invalidates every measurement until recalibration.</a:t>
            </a:r>
            <a:endParaRPr lang="en-US" sz="950" dirty="0"/>
          </a:p>
          <a:p>
            <a:pPr marL="342900" indent="-342900">
              <a:lnSpc>
                <a:spcPct val="100000"/>
              </a:lnSpc>
              <a:spcAft>
                <a:spcPts val="400"/>
              </a:spcAft>
              <a:buSzPct val="100000"/>
              <a:buChar char="•"/>
            </a:pPr>
            <a:r>
              <a:rPr lang="en-US" sz="950" dirty="0">
                <a:solidFill>
                  <a:srgbClr val="3E4257"/>
                </a:solidFill>
                <a:latin typeface="Calibri" pitchFamily="34" charset="0"/>
                <a:ea typeface="Calibri" pitchFamily="34" charset="-122"/>
                <a:cs typeface="Calibri" pitchFamily="34" charset="-120"/>
              </a:rPr>
              <a:t>Measurement error in millimetres is not yet quantified.</a:t>
            </a:r>
            <a:endParaRPr lang="en-US" sz="950" dirty="0"/>
          </a:p>
        </p:txBody>
      </p:sp>
      <p:sp>
        <p:nvSpPr>
          <p:cNvPr id="65" name="Text 63"/>
          <p:cNvSpPr txBox="1"/>
          <p:nvPr/>
        </p:nvSpPr>
        <p:spPr>
          <a:xfrm>
            <a:off x="502920" y="6437376"/>
            <a:ext cx="6583680" cy="237744"/>
          </a:xfrm>
          <a:prstGeom prst="rect">
            <a:avLst/>
          </a:prstGeom>
          <a:noFill/>
          <a:ln/>
        </p:spPr>
        <p:txBody>
          <a:bodyPr wrap="square" lIns="0" tIns="0" rIns="0" bIns="0" rtlCol="0" anchor="ctr"/>
          <a:lstStyle/>
          <a:p>
            <a:pPr marL="0" indent="0">
              <a:buNone/>
            </a:pPr>
            <a:r>
              <a:rPr lang="en-US" sz="900" dirty="0">
                <a:solidFill>
                  <a:srgbClr val="72778F"/>
                </a:solidFill>
                <a:latin typeface="Calibri" pitchFamily="34" charset="0"/>
                <a:ea typeface="Calibri" pitchFamily="34" charset="-122"/>
                <a:cs typeface="Calibri" pitchFamily="34" charset="-120"/>
              </a:rPr>
              <a:t>IT4010 Research Project  ·  Final Presentation &amp; Viva  ·  R26-IT-054</a:t>
            </a:r>
            <a:endParaRPr lang="en-US" sz="900" dirty="0"/>
          </a:p>
        </p:txBody>
      </p:sp>
      <p:sp>
        <p:nvSpPr>
          <p:cNvPr id="66" name="Text 64"/>
          <p:cNvSpPr txBox="1"/>
          <p:nvPr/>
        </p:nvSpPr>
        <p:spPr>
          <a:xfrm>
            <a:off x="6309360" y="6437376"/>
            <a:ext cx="4937760" cy="237744"/>
          </a:xfrm>
          <a:prstGeom prst="rect">
            <a:avLst/>
          </a:prstGeom>
          <a:noFill/>
          <a:ln/>
        </p:spPr>
        <p:txBody>
          <a:bodyPr wrap="square" lIns="0" tIns="0" rIns="0" bIns="0" rtlCol="0" anchor="ctr"/>
          <a:lstStyle/>
          <a:p>
            <a:pPr marL="0" indent="0" algn="r">
              <a:buNone/>
            </a:pPr>
            <a:r>
              <a:rPr lang="en-US" sz="900" b="1" dirty="0">
                <a:solidFill>
                  <a:srgbClr val="2A3596"/>
                </a:solidFill>
                <a:latin typeface="Calibri" pitchFamily="34" charset="0"/>
                <a:ea typeface="Calibri" pitchFamily="34" charset="-122"/>
                <a:cs typeface="Calibri" pitchFamily="34" charset="-120"/>
              </a:rPr>
              <a:t>IT22187796  ·  Jayarathna W.G.U.C.G.</a:t>
            </a:r>
            <a:endParaRPr lang="en-US" sz="900" dirty="0"/>
          </a:p>
        </p:txBody>
      </p:sp>
      <p:sp>
        <p:nvSpPr>
          <p:cNvPr id="67" name="Text 65"/>
          <p:cNvSpPr txBox="1"/>
          <p:nvPr/>
        </p:nvSpPr>
        <p:spPr>
          <a:xfrm>
            <a:off x="11356848" y="6437376"/>
            <a:ext cx="329184" cy="237744"/>
          </a:xfrm>
          <a:prstGeom prst="rect">
            <a:avLst/>
          </a:prstGeom>
          <a:noFill/>
          <a:ln/>
        </p:spPr>
        <p:txBody>
          <a:bodyPr wrap="square" lIns="0" tIns="0" rIns="0" bIns="0" rtlCol="0" anchor="ctr"/>
          <a:lstStyle/>
          <a:p>
            <a:pPr marL="0" indent="0" algn="r">
              <a:buNone/>
            </a:pPr>
            <a:r>
              <a:rPr lang="en-US" sz="900" b="1" dirty="0">
                <a:solidFill>
                  <a:srgbClr val="72778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10896"/>
            <a:ext cx="621792" cy="457200"/>
          </a:xfrm>
          <a:prstGeom prst="rect">
            <a:avLst/>
          </a:prstGeom>
          <a:noFill/>
          <a:ln/>
        </p:spPr>
        <p:txBody>
          <a:bodyPr wrap="square" lIns="0" tIns="0" rIns="0" bIns="0" rtlCol="0" anchor="ctr"/>
          <a:lstStyle/>
          <a:p>
            <a:pPr marL="0" indent="0">
              <a:buNone/>
            </a:pPr>
            <a:r>
              <a:rPr lang="en-US" sz="2800" b="1" dirty="0">
                <a:solidFill>
                  <a:srgbClr val="2FA36B"/>
                </a:solidFill>
                <a:latin typeface="Cambria" pitchFamily="34" charset="0"/>
                <a:ea typeface="Cambria" pitchFamily="34" charset="-122"/>
                <a:cs typeface="Cambria" pitchFamily="34" charset="-120"/>
              </a:rPr>
              <a:t>C4</a:t>
            </a:r>
            <a:endParaRPr lang="en-US" sz="2800" dirty="0"/>
          </a:p>
        </p:txBody>
      </p:sp>
      <p:sp>
        <p:nvSpPr>
          <p:cNvPr id="3" name="Text 1"/>
          <p:cNvSpPr txBox="1"/>
          <p:nvPr/>
        </p:nvSpPr>
        <p:spPr>
          <a:xfrm>
            <a:off x="1152144" y="310896"/>
            <a:ext cx="8595360" cy="457200"/>
          </a:xfrm>
          <a:prstGeom prst="rect">
            <a:avLst/>
          </a:prstGeom>
          <a:noFill/>
          <a:ln/>
        </p:spPr>
        <p:txBody>
          <a:bodyPr wrap="square" lIns="0" tIns="0" rIns="0" bIns="0" rtlCol="0" anchor="ctr"/>
          <a:lstStyle/>
          <a:p>
            <a:pPr marL="0" indent="0">
              <a:buNone/>
            </a:pPr>
            <a:r>
              <a:rPr lang="en-US" sz="2600" b="1" dirty="0">
                <a:solidFill>
                  <a:srgbClr val="141735"/>
                </a:solidFill>
                <a:latin typeface="Cambria" pitchFamily="34" charset="0"/>
                <a:ea typeface="Cambria" pitchFamily="34" charset="-122"/>
                <a:cs typeface="Cambria" pitchFamily="34" charset="-120"/>
              </a:rPr>
              <a:t>Rework Counter</a:t>
            </a:r>
            <a:endParaRPr lang="en-US" sz="2600" dirty="0"/>
          </a:p>
        </p:txBody>
      </p:sp>
      <p:sp>
        <p:nvSpPr>
          <p:cNvPr id="4" name="Text 2"/>
          <p:cNvSpPr txBox="1"/>
          <p:nvPr/>
        </p:nvSpPr>
        <p:spPr>
          <a:xfrm>
            <a:off x="1170432" y="786384"/>
            <a:ext cx="8595360" cy="201168"/>
          </a:xfrm>
          <a:prstGeom prst="rect">
            <a:avLst/>
          </a:prstGeom>
          <a:noFill/>
          <a:ln/>
        </p:spPr>
        <p:txBody>
          <a:bodyPr wrap="square" lIns="0" tIns="0" rIns="0" bIns="0" rtlCol="0" anchor="ctr"/>
          <a:lstStyle/>
          <a:p>
            <a:pPr marL="0" indent="0">
              <a:buNone/>
            </a:pPr>
            <a:r>
              <a:rPr lang="en-US" sz="850" b="1" kern="0" spc="130" dirty="0">
                <a:solidFill>
                  <a:srgbClr val="2FA36B"/>
                </a:solidFill>
                <a:latin typeface="Calibri" pitchFamily="34" charset="0"/>
                <a:ea typeface="Calibri" pitchFamily="34" charset="-122"/>
                <a:cs typeface="Calibri" pitchFamily="34" charset="-120"/>
              </a:rPr>
              <a:t>QUALITY CHECKING  ·  REAL-TIME GOOD AND REWORK COUNTING</a:t>
            </a:r>
            <a:endParaRPr lang="en-US" sz="850" dirty="0"/>
          </a:p>
        </p:txBody>
      </p:sp>
      <p:sp>
        <p:nvSpPr>
          <p:cNvPr id="5" name="Text 3"/>
          <p:cNvSpPr txBox="1"/>
          <p:nvPr/>
        </p:nvSpPr>
        <p:spPr>
          <a:xfrm>
            <a:off x="1170432" y="1024128"/>
            <a:ext cx="8595360" cy="310896"/>
          </a:xfrm>
          <a:prstGeom prst="rect">
            <a:avLst/>
          </a:prstGeom>
          <a:noFill/>
          <a:ln/>
        </p:spPr>
        <p:txBody>
          <a:bodyPr wrap="square" lIns="0" tIns="0" rIns="0" bIns="0" rtlCol="0" anchor="ctr"/>
          <a:lstStyle/>
          <a:p>
            <a:pPr marL="0" indent="0">
              <a:buNone/>
            </a:pPr>
            <a:r>
              <a:rPr lang="en-US" sz="1200" dirty="0">
                <a:solidFill>
                  <a:srgbClr val="3E4257"/>
                </a:solidFill>
                <a:latin typeface="Calibri" pitchFamily="34" charset="0"/>
                <a:ea typeface="Calibri" pitchFamily="34" charset="-122"/>
                <a:cs typeface="Calibri" pitchFamily="34" charset="-120"/>
              </a:rPr>
              <a:t>Separates accepted garments from rework at the quality-checking workstation.</a:t>
            </a:r>
            <a:endParaRPr lang="en-US" sz="1200" dirty="0"/>
          </a:p>
        </p:txBody>
      </p:sp>
      <p:sp>
        <p:nvSpPr>
          <p:cNvPr id="7" name="Text 5"/>
          <p:cNvSpPr txBox="1"/>
          <p:nvPr/>
        </p:nvSpPr>
        <p:spPr>
          <a:xfrm>
            <a:off x="10729913" y="310896"/>
            <a:ext cx="956118" cy="1115568"/>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p:spPr>
        <p:txBody>
          <a:bodyPr wrap="square" lIns="0" tIns="0" rIns="0" bIns="0" rtlCol="0" anchor="ctr"/>
          <a:lstStyle/>
          <a:p>
            <a:pPr marL="0" indent="0" algn="ctr">
              <a:buNone/>
            </a:pPr>
            <a:endParaRPr lang="en-US" sz="900" dirty="0"/>
          </a:p>
        </p:txBody>
      </p:sp>
      <p:sp>
        <p:nvSpPr>
          <p:cNvPr id="8" name="Text 6"/>
          <p:cNvSpPr txBox="1"/>
          <p:nvPr/>
        </p:nvSpPr>
        <p:spPr>
          <a:xfrm>
            <a:off x="502920" y="1536192"/>
            <a:ext cx="5486400" cy="201168"/>
          </a:xfrm>
          <a:prstGeom prst="rect">
            <a:avLst/>
          </a:prstGeom>
          <a:noFill/>
          <a:ln/>
        </p:spPr>
        <p:txBody>
          <a:bodyPr wrap="square" lIns="0" tIns="0" rIns="0" bIns="0" rtlCol="0" anchor="ctr"/>
          <a:lstStyle/>
          <a:p>
            <a:pPr marL="0" indent="0">
              <a:buNone/>
            </a:pPr>
            <a:r>
              <a:rPr lang="en-US" sz="950" b="1" kern="0" spc="140" dirty="0">
                <a:solidFill>
                  <a:srgbClr val="2FA36B"/>
                </a:solidFill>
                <a:latin typeface="Calibri" pitchFamily="34" charset="0"/>
                <a:ea typeface="Calibri" pitchFamily="34" charset="-122"/>
                <a:cs typeface="Calibri" pitchFamily="34" charset="-120"/>
              </a:rPr>
              <a:t>DATA FLOW</a:t>
            </a:r>
            <a:endParaRPr lang="en-US" sz="950" dirty="0"/>
          </a:p>
        </p:txBody>
      </p:sp>
      <p:sp>
        <p:nvSpPr>
          <p:cNvPr id="9" name="Shape 7"/>
          <p:cNvSpPr/>
          <p:nvPr/>
        </p:nvSpPr>
        <p:spPr>
          <a:xfrm>
            <a:off x="502920" y="1755648"/>
            <a:ext cx="2114093"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10" name="Text 8"/>
          <p:cNvSpPr txBox="1"/>
          <p:nvPr/>
        </p:nvSpPr>
        <p:spPr>
          <a:xfrm>
            <a:off x="621792"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Camera / video</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operator-selected</a:t>
            </a:r>
            <a:endParaRPr lang="en-US" sz="1050" dirty="0"/>
          </a:p>
        </p:txBody>
      </p:sp>
      <p:sp>
        <p:nvSpPr>
          <p:cNvPr id="11" name="Shape 9"/>
          <p:cNvSpPr/>
          <p:nvPr/>
        </p:nvSpPr>
        <p:spPr>
          <a:xfrm>
            <a:off x="2633472" y="2048256"/>
            <a:ext cx="114300" cy="91440"/>
          </a:xfrm>
          <a:prstGeom prst="rightArrow">
            <a:avLst/>
          </a:prstGeom>
          <a:solidFill>
            <a:srgbClr val="2FA36B"/>
          </a:solidFill>
          <a:ln/>
        </p:spPr>
        <p:txBody>
          <a:bodyPr/>
          <a:lstStyle/>
          <a:p>
            <a:endParaRPr lang="en-GB"/>
          </a:p>
        </p:txBody>
      </p:sp>
      <p:sp>
        <p:nvSpPr>
          <p:cNvPr id="12" name="Shape 10"/>
          <p:cNvSpPr/>
          <p:nvPr/>
        </p:nvSpPr>
        <p:spPr>
          <a:xfrm>
            <a:off x="2763317" y="1755648"/>
            <a:ext cx="2114093"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13" name="Text 11"/>
          <p:cNvSpPr txBox="1"/>
          <p:nvPr/>
        </p:nvSpPr>
        <p:spPr>
          <a:xfrm>
            <a:off x="2882189"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YOLO detector</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garment detection</a:t>
            </a:r>
            <a:endParaRPr lang="en-US" sz="1050" dirty="0"/>
          </a:p>
        </p:txBody>
      </p:sp>
      <p:sp>
        <p:nvSpPr>
          <p:cNvPr id="14" name="Shape 12"/>
          <p:cNvSpPr/>
          <p:nvPr/>
        </p:nvSpPr>
        <p:spPr>
          <a:xfrm>
            <a:off x="4893869" y="2048256"/>
            <a:ext cx="114300" cy="91440"/>
          </a:xfrm>
          <a:prstGeom prst="rightArrow">
            <a:avLst/>
          </a:prstGeom>
          <a:solidFill>
            <a:srgbClr val="2FA36B"/>
          </a:solidFill>
          <a:ln/>
        </p:spPr>
        <p:txBody>
          <a:bodyPr/>
          <a:lstStyle/>
          <a:p>
            <a:endParaRPr lang="en-GB"/>
          </a:p>
        </p:txBody>
      </p:sp>
      <p:sp>
        <p:nvSpPr>
          <p:cNvPr id="15" name="Shape 13"/>
          <p:cNvSpPr/>
          <p:nvPr/>
        </p:nvSpPr>
        <p:spPr>
          <a:xfrm>
            <a:off x="5023714" y="1755648"/>
            <a:ext cx="2114093"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16" name="Text 14"/>
          <p:cNvSpPr txBox="1"/>
          <p:nvPr/>
        </p:nvSpPr>
        <p:spPr>
          <a:xfrm>
            <a:off x="5142586"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Classify</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good or rework</a:t>
            </a:r>
            <a:endParaRPr lang="en-US" sz="1050" dirty="0"/>
          </a:p>
        </p:txBody>
      </p:sp>
      <p:sp>
        <p:nvSpPr>
          <p:cNvPr id="17" name="Shape 15"/>
          <p:cNvSpPr/>
          <p:nvPr/>
        </p:nvSpPr>
        <p:spPr>
          <a:xfrm>
            <a:off x="7154266" y="2048256"/>
            <a:ext cx="114300" cy="91440"/>
          </a:xfrm>
          <a:prstGeom prst="rightArrow">
            <a:avLst/>
          </a:prstGeom>
          <a:solidFill>
            <a:srgbClr val="2FA36B"/>
          </a:solidFill>
          <a:ln/>
        </p:spPr>
        <p:txBody>
          <a:bodyPr/>
          <a:lstStyle/>
          <a:p>
            <a:endParaRPr lang="en-GB"/>
          </a:p>
        </p:txBody>
      </p:sp>
      <p:sp>
        <p:nvSpPr>
          <p:cNvPr id="18" name="Shape 16"/>
          <p:cNvSpPr/>
          <p:nvPr/>
        </p:nvSpPr>
        <p:spPr>
          <a:xfrm>
            <a:off x="7284110" y="1755648"/>
            <a:ext cx="2114093"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19" name="Text 17"/>
          <p:cNvSpPr txBox="1"/>
          <p:nvPr/>
        </p:nvSpPr>
        <p:spPr>
          <a:xfrm>
            <a:off x="7402982"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SQLite</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own record</a:t>
            </a:r>
            <a:endParaRPr lang="en-US" sz="1050" dirty="0"/>
          </a:p>
        </p:txBody>
      </p:sp>
      <p:sp>
        <p:nvSpPr>
          <p:cNvPr id="20" name="Shape 18"/>
          <p:cNvSpPr/>
          <p:nvPr/>
        </p:nvSpPr>
        <p:spPr>
          <a:xfrm>
            <a:off x="9414662" y="2048256"/>
            <a:ext cx="114300" cy="91440"/>
          </a:xfrm>
          <a:prstGeom prst="rightArrow">
            <a:avLst/>
          </a:prstGeom>
          <a:solidFill>
            <a:srgbClr val="2FA36B"/>
          </a:solidFill>
          <a:ln/>
        </p:spPr>
        <p:txBody>
          <a:bodyPr/>
          <a:lstStyle/>
          <a:p>
            <a:endParaRPr lang="en-GB"/>
          </a:p>
        </p:txBody>
      </p:sp>
      <p:sp>
        <p:nvSpPr>
          <p:cNvPr id="21" name="Shape 19"/>
          <p:cNvSpPr/>
          <p:nvPr/>
        </p:nvSpPr>
        <p:spPr>
          <a:xfrm>
            <a:off x="9544507" y="1755648"/>
            <a:ext cx="2114093" cy="676656"/>
          </a:xfrm>
          <a:prstGeom prst="roundRect">
            <a:avLst>
              <a:gd name="adj" fmla="val 12162"/>
            </a:avLst>
          </a:prstGeom>
          <a:solidFill>
            <a:srgbClr val="F1F3FC"/>
          </a:solidFill>
          <a:ln w="12700">
            <a:solidFill>
              <a:srgbClr val="DDE1F2"/>
            </a:solidFill>
            <a:prstDash val="solid"/>
          </a:ln>
        </p:spPr>
        <p:txBody>
          <a:bodyPr/>
          <a:lstStyle/>
          <a:p>
            <a:endParaRPr lang="en-GB"/>
          </a:p>
        </p:txBody>
      </p:sp>
      <p:sp>
        <p:nvSpPr>
          <p:cNvPr id="22" name="Text 20"/>
          <p:cNvSpPr txBox="1"/>
          <p:nvPr/>
        </p:nvSpPr>
        <p:spPr>
          <a:xfrm>
            <a:off x="9663379" y="1810512"/>
            <a:ext cx="1876349" cy="566928"/>
          </a:xfrm>
          <a:prstGeom prst="rect">
            <a:avLst/>
          </a:prstGeom>
          <a:noFill/>
          <a:ln/>
        </p:spPr>
        <p:txBody>
          <a:bodyPr wrap="square" lIns="0" tIns="0" rIns="0" bIns="0" rtlCol="0" anchor="ctr"/>
          <a:lstStyle/>
          <a:p>
            <a:pPr marL="0" indent="0">
              <a:lnSpc>
                <a:spcPct val="95000"/>
              </a:lnSpc>
              <a:buNone/>
            </a:pPr>
            <a:r>
              <a:rPr lang="en-US" sz="1050" b="1" dirty="0">
                <a:solidFill>
                  <a:srgbClr val="141735"/>
                </a:solidFill>
                <a:latin typeface="Calibri" pitchFamily="34" charset="0"/>
                <a:ea typeface="Calibri" pitchFamily="34" charset="-122"/>
                <a:cs typeface="Calibri" pitchFamily="34" charset="-120"/>
              </a:rPr>
              <a:t>Analysis view</a:t>
            </a:r>
            <a:endParaRPr lang="en-US" sz="1050" dirty="0"/>
          </a:p>
          <a:p>
            <a:pPr marL="0" indent="0">
              <a:lnSpc>
                <a:spcPct val="95000"/>
              </a:lnSpc>
              <a:buNone/>
            </a:pPr>
            <a:r>
              <a:rPr lang="en-US" sz="850" dirty="0">
                <a:solidFill>
                  <a:srgbClr val="72778F"/>
                </a:solidFill>
                <a:latin typeface="Calibri" pitchFamily="34" charset="0"/>
                <a:ea typeface="Calibri" pitchFamily="34" charset="-122"/>
                <a:cs typeface="Calibri" pitchFamily="34" charset="-120"/>
              </a:rPr>
              <a:t>counts &amp; history</a:t>
            </a:r>
            <a:endParaRPr lang="en-US" sz="1050" dirty="0"/>
          </a:p>
        </p:txBody>
      </p:sp>
      <p:sp>
        <p:nvSpPr>
          <p:cNvPr id="23" name="Text 21"/>
          <p:cNvSpPr txBox="1"/>
          <p:nvPr/>
        </p:nvSpPr>
        <p:spPr>
          <a:xfrm>
            <a:off x="502920" y="2651760"/>
            <a:ext cx="5623560" cy="201168"/>
          </a:xfrm>
          <a:prstGeom prst="rect">
            <a:avLst/>
          </a:prstGeom>
          <a:noFill/>
          <a:ln/>
        </p:spPr>
        <p:txBody>
          <a:bodyPr wrap="square" lIns="0" tIns="0" rIns="0" bIns="0" rtlCol="0" anchor="ctr"/>
          <a:lstStyle/>
          <a:p>
            <a:pPr marL="0" indent="0">
              <a:buNone/>
            </a:pPr>
            <a:r>
              <a:rPr lang="en-US" sz="950" b="1" kern="0" spc="140" dirty="0">
                <a:solidFill>
                  <a:srgbClr val="2FA36B"/>
                </a:solidFill>
                <a:latin typeface="Calibri" pitchFamily="34" charset="0"/>
                <a:ea typeface="Calibri" pitchFamily="34" charset="-122"/>
                <a:cs typeface="Calibri" pitchFamily="34" charset="-120"/>
              </a:rPr>
              <a:t>THE QUALITY SPLIT</a:t>
            </a:r>
            <a:endParaRPr lang="en-US" sz="950" dirty="0"/>
          </a:p>
        </p:txBody>
      </p:sp>
      <p:sp>
        <p:nvSpPr>
          <p:cNvPr id="24" name="Shape 22"/>
          <p:cNvSpPr/>
          <p:nvPr/>
        </p:nvSpPr>
        <p:spPr>
          <a:xfrm>
            <a:off x="502920" y="2871216"/>
            <a:ext cx="5623560" cy="1920240"/>
          </a:xfrm>
          <a:prstGeom prst="roundRect">
            <a:avLst>
              <a:gd name="adj" fmla="val 4286"/>
            </a:avLst>
          </a:prstGeom>
          <a:solidFill>
            <a:srgbClr val="FFFFFF"/>
          </a:solidFill>
          <a:ln w="12700">
            <a:solidFill>
              <a:srgbClr val="DDE1F2"/>
            </a:solidFill>
            <a:prstDash val="solid"/>
          </a:ln>
        </p:spPr>
        <p:txBody>
          <a:bodyPr/>
          <a:lstStyle/>
          <a:p>
            <a:endParaRPr lang="en-GB"/>
          </a:p>
        </p:txBody>
      </p:sp>
      <p:sp>
        <p:nvSpPr>
          <p:cNvPr id="25" name="Text 23"/>
          <p:cNvSpPr txBox="1"/>
          <p:nvPr/>
        </p:nvSpPr>
        <p:spPr>
          <a:xfrm>
            <a:off x="704088" y="2962656"/>
            <a:ext cx="5221224" cy="219456"/>
          </a:xfrm>
          <a:prstGeom prst="rect">
            <a:avLst/>
          </a:prstGeom>
          <a:noFill/>
          <a:ln/>
        </p:spPr>
        <p:txBody>
          <a:bodyPr wrap="square" lIns="0" tIns="0" rIns="0" bIns="0" rtlCol="0" anchor="ctr"/>
          <a:lstStyle/>
          <a:p>
            <a:pPr marL="0" indent="0">
              <a:buNone/>
            </a:pPr>
            <a:r>
              <a:rPr lang="en-US" sz="950" b="1" dirty="0">
                <a:solidFill>
                  <a:srgbClr val="72778F"/>
                </a:solidFill>
                <a:latin typeface="Calibri" pitchFamily="34" charset="0"/>
                <a:ea typeface="Calibri" pitchFamily="34" charset="-122"/>
                <a:cs typeface="Calibri" pitchFamily="34" charset="-120"/>
              </a:rPr>
              <a:t>Two series, never netted into one figure</a:t>
            </a:r>
            <a:endParaRPr lang="en-US" sz="950" dirty="0"/>
          </a:p>
        </p:txBody>
      </p:sp>
      <p:sp>
        <p:nvSpPr>
          <p:cNvPr id="26" name="Shape 24"/>
          <p:cNvSpPr/>
          <p:nvPr/>
        </p:nvSpPr>
        <p:spPr>
          <a:xfrm>
            <a:off x="731520" y="3602736"/>
            <a:ext cx="1691640" cy="658368"/>
          </a:xfrm>
          <a:prstGeom prst="roundRect">
            <a:avLst>
              <a:gd name="adj" fmla="val 12500"/>
            </a:avLst>
          </a:prstGeom>
          <a:solidFill>
            <a:srgbClr val="F1F3FC"/>
          </a:solidFill>
          <a:ln w="12700">
            <a:solidFill>
              <a:srgbClr val="DDE1F2"/>
            </a:solidFill>
            <a:prstDash val="solid"/>
          </a:ln>
        </p:spPr>
        <p:txBody>
          <a:bodyPr/>
          <a:lstStyle/>
          <a:p>
            <a:endParaRPr lang="en-GB"/>
          </a:p>
        </p:txBody>
      </p:sp>
      <p:sp>
        <p:nvSpPr>
          <p:cNvPr id="27" name="Text 25"/>
          <p:cNvSpPr txBox="1"/>
          <p:nvPr/>
        </p:nvSpPr>
        <p:spPr>
          <a:xfrm>
            <a:off x="731520" y="3602736"/>
            <a:ext cx="1691640" cy="658368"/>
          </a:xfrm>
          <a:prstGeom prst="rect">
            <a:avLst/>
          </a:prstGeom>
          <a:noFill/>
          <a:ln/>
        </p:spPr>
        <p:txBody>
          <a:bodyPr wrap="square" lIns="0" tIns="0" rIns="0" bIns="0" rtlCol="0" anchor="ctr"/>
          <a:lstStyle/>
          <a:p>
            <a:pPr marL="0" indent="0" algn="ctr">
              <a:lnSpc>
                <a:spcPct val="95000"/>
              </a:lnSpc>
              <a:buNone/>
            </a:pPr>
            <a:r>
              <a:rPr lang="en-US" sz="1000" b="1" dirty="0">
                <a:solidFill>
                  <a:srgbClr val="141735"/>
                </a:solidFill>
                <a:latin typeface="Calibri" pitchFamily="34" charset="0"/>
                <a:ea typeface="Calibri" pitchFamily="34" charset="-122"/>
                <a:cs typeface="Calibri" pitchFamily="34" charset="-120"/>
              </a:rPr>
              <a:t>Inspected</a:t>
            </a:r>
            <a:endParaRPr lang="en-US" sz="1000" dirty="0"/>
          </a:p>
          <a:p>
            <a:pPr marL="0" indent="0" algn="ctr">
              <a:lnSpc>
                <a:spcPct val="95000"/>
              </a:lnSpc>
              <a:buNone/>
            </a:pPr>
            <a:r>
              <a:rPr lang="en-US" sz="1000" b="1" dirty="0">
                <a:solidFill>
                  <a:srgbClr val="141735"/>
                </a:solidFill>
                <a:latin typeface="Calibri" pitchFamily="34" charset="0"/>
                <a:ea typeface="Calibri" pitchFamily="34" charset="-122"/>
                <a:cs typeface="Calibri" pitchFamily="34" charset="-120"/>
              </a:rPr>
              <a:t>garment</a:t>
            </a:r>
            <a:endParaRPr lang="en-US" sz="1000" dirty="0"/>
          </a:p>
        </p:txBody>
      </p:sp>
      <p:sp>
        <p:nvSpPr>
          <p:cNvPr id="28" name="Shape 26"/>
          <p:cNvSpPr/>
          <p:nvPr/>
        </p:nvSpPr>
        <p:spPr>
          <a:xfrm>
            <a:off x="2478024" y="3877056"/>
            <a:ext cx="201168" cy="109728"/>
          </a:xfrm>
          <a:prstGeom prst="rightArrow">
            <a:avLst/>
          </a:prstGeom>
          <a:solidFill>
            <a:srgbClr val="2FA36B"/>
          </a:solidFill>
          <a:ln/>
        </p:spPr>
        <p:txBody>
          <a:bodyPr/>
          <a:lstStyle/>
          <a:p>
            <a:endParaRPr lang="en-GB"/>
          </a:p>
        </p:txBody>
      </p:sp>
      <p:sp>
        <p:nvSpPr>
          <p:cNvPr id="29" name="Shape 27"/>
          <p:cNvSpPr/>
          <p:nvPr/>
        </p:nvSpPr>
        <p:spPr>
          <a:xfrm>
            <a:off x="2807208" y="3310128"/>
            <a:ext cx="1737360" cy="603504"/>
          </a:xfrm>
          <a:prstGeom prst="roundRect">
            <a:avLst>
              <a:gd name="adj" fmla="val 13636"/>
            </a:avLst>
          </a:prstGeom>
          <a:solidFill>
            <a:srgbClr val="E9F7F1"/>
          </a:solidFill>
          <a:ln w="12700">
            <a:solidFill>
              <a:srgbClr val="CFEAE0"/>
            </a:solidFill>
            <a:prstDash val="solid"/>
          </a:ln>
        </p:spPr>
        <p:txBody>
          <a:bodyPr/>
          <a:lstStyle/>
          <a:p>
            <a:endParaRPr lang="en-GB"/>
          </a:p>
        </p:txBody>
      </p:sp>
      <p:sp>
        <p:nvSpPr>
          <p:cNvPr id="30" name="Text 28"/>
          <p:cNvSpPr txBox="1"/>
          <p:nvPr/>
        </p:nvSpPr>
        <p:spPr>
          <a:xfrm>
            <a:off x="2807208" y="3346704"/>
            <a:ext cx="1737360" cy="274320"/>
          </a:xfrm>
          <a:prstGeom prst="rect">
            <a:avLst/>
          </a:prstGeom>
          <a:noFill/>
          <a:ln/>
        </p:spPr>
        <p:txBody>
          <a:bodyPr wrap="square" lIns="0" tIns="0" rIns="0" bIns="0" rtlCol="0" anchor="ctr"/>
          <a:lstStyle/>
          <a:p>
            <a:pPr marL="0" indent="0" algn="ctr">
              <a:buNone/>
            </a:pPr>
            <a:r>
              <a:rPr lang="en-US" sz="1100" b="1" dirty="0">
                <a:solidFill>
                  <a:srgbClr val="2FA36B"/>
                </a:solidFill>
                <a:latin typeface="Calibri" pitchFamily="34" charset="0"/>
                <a:ea typeface="Calibri" pitchFamily="34" charset="-122"/>
                <a:cs typeface="Calibri" pitchFamily="34" charset="-120"/>
              </a:rPr>
              <a:t>GOOD</a:t>
            </a:r>
            <a:endParaRPr lang="en-US" sz="1100" dirty="0"/>
          </a:p>
        </p:txBody>
      </p:sp>
      <p:sp>
        <p:nvSpPr>
          <p:cNvPr id="31" name="Text 29"/>
          <p:cNvSpPr txBox="1"/>
          <p:nvPr/>
        </p:nvSpPr>
        <p:spPr>
          <a:xfrm>
            <a:off x="2807208" y="3621024"/>
            <a:ext cx="1737360" cy="219456"/>
          </a:xfrm>
          <a:prstGeom prst="rect">
            <a:avLst/>
          </a:prstGeom>
          <a:noFill/>
          <a:ln/>
        </p:spPr>
        <p:txBody>
          <a:bodyPr wrap="square" lIns="0" tIns="0" rIns="0" bIns="0" rtlCol="0" anchor="ctr"/>
          <a:lstStyle/>
          <a:p>
            <a:pPr marL="0" indent="0" algn="ctr">
              <a:buNone/>
            </a:pPr>
            <a:r>
              <a:rPr lang="en-US" sz="800" dirty="0">
                <a:solidFill>
                  <a:srgbClr val="3E4257"/>
                </a:solidFill>
                <a:latin typeface="Calibri" pitchFamily="34" charset="0"/>
                <a:ea typeface="Calibri" pitchFamily="34" charset="-122"/>
                <a:cs typeface="Calibri" pitchFamily="34" charset="-120"/>
              </a:rPr>
              <a:t>accepted, passes on</a:t>
            </a:r>
            <a:endParaRPr lang="en-US" sz="800" dirty="0"/>
          </a:p>
        </p:txBody>
      </p:sp>
      <p:sp>
        <p:nvSpPr>
          <p:cNvPr id="32" name="Shape 30"/>
          <p:cNvSpPr/>
          <p:nvPr/>
        </p:nvSpPr>
        <p:spPr>
          <a:xfrm>
            <a:off x="2807208" y="4005072"/>
            <a:ext cx="1737360" cy="603504"/>
          </a:xfrm>
          <a:prstGeom prst="roundRect">
            <a:avLst>
              <a:gd name="adj" fmla="val 13636"/>
            </a:avLst>
          </a:prstGeom>
          <a:solidFill>
            <a:srgbClr val="FDF3E4"/>
          </a:solidFill>
          <a:ln w="12700">
            <a:solidFill>
              <a:srgbClr val="EBD9BC"/>
            </a:solidFill>
            <a:prstDash val="solid"/>
          </a:ln>
        </p:spPr>
        <p:txBody>
          <a:bodyPr/>
          <a:lstStyle/>
          <a:p>
            <a:endParaRPr lang="en-GB"/>
          </a:p>
        </p:txBody>
      </p:sp>
      <p:sp>
        <p:nvSpPr>
          <p:cNvPr id="33" name="Text 31"/>
          <p:cNvSpPr txBox="1"/>
          <p:nvPr/>
        </p:nvSpPr>
        <p:spPr>
          <a:xfrm>
            <a:off x="2807208" y="4041648"/>
            <a:ext cx="1737360" cy="274320"/>
          </a:xfrm>
          <a:prstGeom prst="rect">
            <a:avLst/>
          </a:prstGeom>
          <a:noFill/>
          <a:ln/>
        </p:spPr>
        <p:txBody>
          <a:bodyPr wrap="square" lIns="0" tIns="0" rIns="0" bIns="0" rtlCol="0" anchor="ctr"/>
          <a:lstStyle/>
          <a:p>
            <a:pPr marL="0" indent="0" algn="ctr">
              <a:buNone/>
            </a:pPr>
            <a:r>
              <a:rPr lang="en-US" sz="1100" b="1" dirty="0">
                <a:solidFill>
                  <a:srgbClr val="B8801A"/>
                </a:solidFill>
                <a:latin typeface="Calibri" pitchFamily="34" charset="0"/>
                <a:ea typeface="Calibri" pitchFamily="34" charset="-122"/>
                <a:cs typeface="Calibri" pitchFamily="34" charset="-120"/>
              </a:rPr>
              <a:t>REWORK</a:t>
            </a:r>
            <a:endParaRPr lang="en-US" sz="1100" dirty="0"/>
          </a:p>
        </p:txBody>
      </p:sp>
      <p:sp>
        <p:nvSpPr>
          <p:cNvPr id="34" name="Text 32"/>
          <p:cNvSpPr txBox="1"/>
          <p:nvPr/>
        </p:nvSpPr>
        <p:spPr>
          <a:xfrm>
            <a:off x="2807208" y="4315968"/>
            <a:ext cx="1737360" cy="219456"/>
          </a:xfrm>
          <a:prstGeom prst="rect">
            <a:avLst/>
          </a:prstGeom>
          <a:noFill/>
          <a:ln/>
        </p:spPr>
        <p:txBody>
          <a:bodyPr wrap="square" lIns="0" tIns="0" rIns="0" bIns="0" rtlCol="0" anchor="ctr"/>
          <a:lstStyle/>
          <a:p>
            <a:pPr marL="0" indent="0" algn="ctr">
              <a:buNone/>
            </a:pPr>
            <a:r>
              <a:rPr lang="en-US" sz="800" dirty="0">
                <a:solidFill>
                  <a:srgbClr val="3E4257"/>
                </a:solidFill>
                <a:latin typeface="Calibri" pitchFamily="34" charset="0"/>
                <a:ea typeface="Calibri" pitchFamily="34" charset="-122"/>
                <a:cs typeface="Calibri" pitchFamily="34" charset="-120"/>
              </a:rPr>
              <a:t>returns to the line</a:t>
            </a:r>
            <a:endParaRPr lang="en-US" sz="800" dirty="0"/>
          </a:p>
        </p:txBody>
      </p:sp>
      <p:sp>
        <p:nvSpPr>
          <p:cNvPr id="35" name="Shape 33"/>
          <p:cNvSpPr/>
          <p:nvPr/>
        </p:nvSpPr>
        <p:spPr>
          <a:xfrm>
            <a:off x="4690872" y="3602736"/>
            <a:ext cx="1225296" cy="658368"/>
          </a:xfrm>
          <a:prstGeom prst="roundRect">
            <a:avLst>
              <a:gd name="adj" fmla="val 12500"/>
            </a:avLst>
          </a:prstGeom>
          <a:solidFill>
            <a:srgbClr val="141735"/>
          </a:solidFill>
          <a:ln/>
        </p:spPr>
        <p:txBody>
          <a:bodyPr/>
          <a:lstStyle/>
          <a:p>
            <a:endParaRPr lang="en-GB"/>
          </a:p>
        </p:txBody>
      </p:sp>
      <p:sp>
        <p:nvSpPr>
          <p:cNvPr id="36" name="Text 34"/>
          <p:cNvSpPr txBox="1"/>
          <p:nvPr/>
        </p:nvSpPr>
        <p:spPr>
          <a:xfrm>
            <a:off x="4690872" y="3602736"/>
            <a:ext cx="1225296" cy="658368"/>
          </a:xfrm>
          <a:prstGeom prst="rect">
            <a:avLst/>
          </a:prstGeom>
          <a:noFill/>
          <a:ln/>
        </p:spPr>
        <p:txBody>
          <a:bodyPr wrap="square" lIns="0" tIns="0" rIns="0" bIns="0" rtlCol="0" anchor="ctr"/>
          <a:lstStyle/>
          <a:p>
            <a:pPr marL="0" indent="0" algn="ctr">
              <a:lnSpc>
                <a:spcPct val="95000"/>
              </a:lnSpc>
              <a:buNone/>
            </a:pPr>
            <a:r>
              <a:rPr lang="en-US" sz="950" b="1" dirty="0">
                <a:solidFill>
                  <a:srgbClr val="2FC79A"/>
                </a:solidFill>
                <a:latin typeface="Calibri" pitchFamily="34" charset="0"/>
                <a:ea typeface="Calibri" pitchFamily="34" charset="-122"/>
                <a:cs typeface="Calibri" pitchFamily="34" charset="-120"/>
              </a:rPr>
              <a:t>own</a:t>
            </a:r>
            <a:endParaRPr lang="en-US" sz="950" dirty="0"/>
          </a:p>
          <a:p>
            <a:pPr marL="0" indent="0" algn="ctr">
              <a:lnSpc>
                <a:spcPct val="95000"/>
              </a:lnSpc>
              <a:buNone/>
            </a:pPr>
            <a:r>
              <a:rPr lang="en-US" sz="950" b="1" dirty="0">
                <a:solidFill>
                  <a:srgbClr val="2FC79A"/>
                </a:solidFill>
                <a:latin typeface="Calibri" pitchFamily="34" charset="0"/>
                <a:ea typeface="Calibri" pitchFamily="34" charset="-122"/>
                <a:cs typeface="Calibri" pitchFamily="34" charset="-120"/>
              </a:rPr>
              <a:t>database</a:t>
            </a:r>
            <a:endParaRPr lang="en-US" sz="950" dirty="0"/>
          </a:p>
        </p:txBody>
      </p:sp>
      <p:sp>
        <p:nvSpPr>
          <p:cNvPr id="37" name="Shape 35"/>
          <p:cNvSpPr/>
          <p:nvPr/>
        </p:nvSpPr>
        <p:spPr>
          <a:xfrm>
            <a:off x="6355080" y="2871216"/>
            <a:ext cx="5303520" cy="566928"/>
          </a:xfrm>
          <a:prstGeom prst="roundRect">
            <a:avLst>
              <a:gd name="adj" fmla="val 14516"/>
            </a:avLst>
          </a:prstGeom>
          <a:solidFill>
            <a:srgbClr val="F1F3FC"/>
          </a:solidFill>
          <a:ln/>
        </p:spPr>
        <p:txBody>
          <a:bodyPr/>
          <a:lstStyle/>
          <a:p>
            <a:endParaRPr lang="en-GB"/>
          </a:p>
        </p:txBody>
      </p:sp>
      <p:sp>
        <p:nvSpPr>
          <p:cNvPr id="38" name="Text 36"/>
          <p:cNvSpPr txBox="1"/>
          <p:nvPr/>
        </p:nvSpPr>
        <p:spPr>
          <a:xfrm>
            <a:off x="6565392" y="2871216"/>
            <a:ext cx="4901184" cy="566928"/>
          </a:xfrm>
          <a:prstGeom prst="rect">
            <a:avLst/>
          </a:prstGeom>
          <a:noFill/>
          <a:ln/>
        </p:spPr>
        <p:txBody>
          <a:bodyPr wrap="square" lIns="0" tIns="0" rIns="0" bIns="0" rtlCol="0" anchor="ctr"/>
          <a:lstStyle/>
          <a:p>
            <a:pPr marL="0" indent="0">
              <a:buNone/>
            </a:pPr>
            <a:r>
              <a:rPr lang="en-US" sz="1100" b="1" dirty="0">
                <a:solidFill>
                  <a:srgbClr val="141735"/>
                </a:solidFill>
                <a:latin typeface="Calibri" pitchFamily="34" charset="0"/>
                <a:ea typeface="Calibri" pitchFamily="34" charset="-122"/>
                <a:cs typeface="Calibri" pitchFamily="34" charset="-120"/>
              </a:rPr>
              <a:t>Turns the output number into a quality number — how much was actually sellable.</a:t>
            </a:r>
            <a:endParaRPr lang="en-US" sz="1100" dirty="0"/>
          </a:p>
        </p:txBody>
      </p:sp>
      <p:sp>
        <p:nvSpPr>
          <p:cNvPr id="39" name="Text 37"/>
          <p:cNvSpPr txBox="1"/>
          <p:nvPr/>
        </p:nvSpPr>
        <p:spPr>
          <a:xfrm>
            <a:off x="6355080" y="3566160"/>
            <a:ext cx="2560320" cy="201168"/>
          </a:xfrm>
          <a:prstGeom prst="rect">
            <a:avLst/>
          </a:prstGeom>
          <a:noFill/>
          <a:ln/>
        </p:spPr>
        <p:txBody>
          <a:bodyPr wrap="square" lIns="0" tIns="0" rIns="0" bIns="0" rtlCol="0" anchor="ctr"/>
          <a:lstStyle/>
          <a:p>
            <a:pPr marL="0" indent="0">
              <a:buNone/>
            </a:pPr>
            <a:r>
              <a:rPr lang="en-US" sz="900" b="1" kern="0" spc="140" dirty="0">
                <a:solidFill>
                  <a:srgbClr val="2A3596"/>
                </a:solidFill>
                <a:latin typeface="Calibri" pitchFamily="34" charset="0"/>
                <a:ea typeface="Calibri" pitchFamily="34" charset="-122"/>
                <a:cs typeface="Calibri" pitchFamily="34" charset="-120"/>
              </a:rPr>
              <a:t>DEPENDENCIES</a:t>
            </a:r>
            <a:endParaRPr lang="en-US" sz="900" dirty="0"/>
          </a:p>
        </p:txBody>
      </p:sp>
      <p:sp>
        <p:nvSpPr>
          <p:cNvPr id="40" name="Text 38"/>
          <p:cNvSpPr txBox="1"/>
          <p:nvPr/>
        </p:nvSpPr>
        <p:spPr>
          <a:xfrm>
            <a:off x="6400800" y="3785616"/>
            <a:ext cx="2487168" cy="100584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Quality-station camera, or a video file for replay</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Its own YOLO checkpoint</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Consistent framing of the garment</a:t>
            </a:r>
            <a:endParaRPr lang="en-US" sz="900" dirty="0"/>
          </a:p>
        </p:txBody>
      </p:sp>
      <p:sp>
        <p:nvSpPr>
          <p:cNvPr id="41" name="Text 39"/>
          <p:cNvSpPr txBox="1"/>
          <p:nvPr/>
        </p:nvSpPr>
        <p:spPr>
          <a:xfrm>
            <a:off x="9098280" y="3566160"/>
            <a:ext cx="2560320" cy="201168"/>
          </a:xfrm>
          <a:prstGeom prst="rect">
            <a:avLst/>
          </a:prstGeom>
          <a:noFill/>
          <a:ln/>
        </p:spPr>
        <p:txBody>
          <a:bodyPr wrap="square" lIns="0" tIns="0" rIns="0" bIns="0" rtlCol="0" anchor="ctr"/>
          <a:lstStyle/>
          <a:p>
            <a:pPr marL="0" indent="0">
              <a:buNone/>
            </a:pPr>
            <a:r>
              <a:rPr lang="en-US" sz="900" b="1" kern="0" spc="140" dirty="0">
                <a:solidFill>
                  <a:srgbClr val="2A3596"/>
                </a:solidFill>
                <a:latin typeface="Calibri" pitchFamily="34" charset="0"/>
                <a:ea typeface="Calibri" pitchFamily="34" charset="-122"/>
                <a:cs typeface="Calibri" pitchFamily="34" charset="-120"/>
              </a:rPr>
              <a:t>DESIGN CHOICES</a:t>
            </a:r>
            <a:endParaRPr lang="en-US" sz="900" dirty="0"/>
          </a:p>
        </p:txBody>
      </p:sp>
      <p:sp>
        <p:nvSpPr>
          <p:cNvPr id="42" name="Text 40"/>
          <p:cNvSpPr txBox="1"/>
          <p:nvPr/>
        </p:nvSpPr>
        <p:spPr>
          <a:xfrm>
            <a:off x="9144000" y="3785616"/>
            <a:ext cx="2487168" cy="100584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Recorded video accepted, so an inspection can be audited</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Good and rework kept as two separate series</a:t>
            </a:r>
            <a:endParaRPr lang="en-US" sz="900" dirty="0"/>
          </a:p>
          <a:p>
            <a:pPr marL="342900" indent="-342900">
              <a:lnSpc>
                <a:spcPct val="100000"/>
              </a:lnSpc>
              <a:spcAft>
                <a:spcPts val="400"/>
              </a:spcAft>
              <a:buSzPct val="100000"/>
              <a:buChar char="•"/>
            </a:pPr>
            <a:r>
              <a:rPr lang="en-US" sz="900" dirty="0">
                <a:solidFill>
                  <a:srgbClr val="3E4257"/>
                </a:solidFill>
                <a:latin typeface="Calibri" pitchFamily="34" charset="0"/>
                <a:ea typeface="Calibri" pitchFamily="34" charset="-122"/>
                <a:cs typeface="Calibri" pitchFamily="34" charset="-120"/>
              </a:rPr>
              <a:t>Own database — quality records are isolated</a:t>
            </a:r>
            <a:endParaRPr lang="en-US" sz="900" dirty="0"/>
          </a:p>
        </p:txBody>
      </p:sp>
      <p:sp>
        <p:nvSpPr>
          <p:cNvPr id="43" name="Text 41"/>
          <p:cNvSpPr txBox="1"/>
          <p:nvPr/>
        </p:nvSpPr>
        <p:spPr>
          <a:xfrm>
            <a:off x="502920" y="4956048"/>
            <a:ext cx="5623560" cy="201168"/>
          </a:xfrm>
          <a:prstGeom prst="rect">
            <a:avLst/>
          </a:prstGeom>
          <a:noFill/>
          <a:ln/>
        </p:spPr>
        <p:txBody>
          <a:bodyPr wrap="square" lIns="0" tIns="0" rIns="0" bIns="0" rtlCol="0" anchor="ctr"/>
          <a:lstStyle/>
          <a:p>
            <a:pPr marL="0" indent="0">
              <a:buNone/>
            </a:pPr>
            <a:r>
              <a:rPr lang="en-US" sz="900" b="1" kern="0" spc="140" dirty="0">
                <a:solidFill>
                  <a:srgbClr val="2FA36B"/>
                </a:solidFill>
                <a:latin typeface="Calibri" pitchFamily="34" charset="0"/>
                <a:ea typeface="Calibri" pitchFamily="34" charset="-122"/>
                <a:cs typeface="Calibri" pitchFamily="34" charset="-120"/>
              </a:rPr>
              <a:t>TEST EVIDENCE</a:t>
            </a:r>
            <a:endParaRPr lang="en-US" sz="900" dirty="0"/>
          </a:p>
        </p:txBody>
      </p:sp>
      <p:sp>
        <p:nvSpPr>
          <p:cNvPr id="44" name="Shape 42"/>
          <p:cNvSpPr/>
          <p:nvPr/>
        </p:nvSpPr>
        <p:spPr>
          <a:xfrm>
            <a:off x="502920" y="5175504"/>
            <a:ext cx="5623560" cy="1005840"/>
          </a:xfrm>
          <a:prstGeom prst="roundRect">
            <a:avLst>
              <a:gd name="adj" fmla="val 8182"/>
            </a:avLst>
          </a:prstGeom>
          <a:solidFill>
            <a:srgbClr val="E9F7F1"/>
          </a:solidFill>
          <a:ln/>
        </p:spPr>
        <p:txBody>
          <a:bodyPr/>
          <a:lstStyle/>
          <a:p>
            <a:endParaRPr lang="en-GB"/>
          </a:p>
        </p:txBody>
      </p:sp>
      <p:sp>
        <p:nvSpPr>
          <p:cNvPr id="45" name="Shape 43"/>
          <p:cNvSpPr/>
          <p:nvPr/>
        </p:nvSpPr>
        <p:spPr>
          <a:xfrm>
            <a:off x="658368"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46" name="Text 44"/>
          <p:cNvSpPr txBox="1"/>
          <p:nvPr/>
        </p:nvSpPr>
        <p:spPr>
          <a:xfrm>
            <a:off x="658368" y="5340096"/>
            <a:ext cx="1691640" cy="329184"/>
          </a:xfrm>
          <a:prstGeom prst="rect">
            <a:avLst/>
          </a:prstGeom>
          <a:noFill/>
          <a:ln/>
        </p:spPr>
        <p:txBody>
          <a:bodyPr wrap="square" lIns="0" tIns="0" rIns="0" bIns="0" rtlCol="0" anchor="ctr"/>
          <a:lstStyle/>
          <a:p>
            <a:pPr marL="0" indent="0" algn="ctr">
              <a:buNone/>
            </a:pPr>
            <a:r>
              <a:rPr lang="en-US" sz="1400" b="1" dirty="0">
                <a:solidFill>
                  <a:srgbClr val="2FA36B"/>
                </a:solidFill>
                <a:latin typeface="Cambria" pitchFamily="34" charset="0"/>
                <a:ea typeface="Cambria" pitchFamily="34" charset="-122"/>
                <a:cs typeface="Cambria" pitchFamily="34" charset="-120"/>
              </a:rPr>
              <a:t>SHA-256</a:t>
            </a:r>
            <a:endParaRPr lang="en-US" sz="1400" dirty="0"/>
          </a:p>
        </p:txBody>
      </p:sp>
      <p:sp>
        <p:nvSpPr>
          <p:cNvPr id="47" name="Text 45"/>
          <p:cNvSpPr txBox="1"/>
          <p:nvPr/>
        </p:nvSpPr>
        <p:spPr>
          <a:xfrm>
            <a:off x="731520"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model and seed DB match the source</a:t>
            </a:r>
            <a:endParaRPr lang="en-US" sz="800" dirty="0"/>
          </a:p>
        </p:txBody>
      </p:sp>
      <p:sp>
        <p:nvSpPr>
          <p:cNvPr id="48" name="Shape 46"/>
          <p:cNvSpPr/>
          <p:nvPr/>
        </p:nvSpPr>
        <p:spPr>
          <a:xfrm>
            <a:off x="2478024"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49" name="Text 47"/>
          <p:cNvSpPr txBox="1"/>
          <p:nvPr/>
        </p:nvSpPr>
        <p:spPr>
          <a:xfrm>
            <a:off x="2478024" y="5340096"/>
            <a:ext cx="1691640" cy="329184"/>
          </a:xfrm>
          <a:prstGeom prst="rect">
            <a:avLst/>
          </a:prstGeom>
          <a:noFill/>
          <a:ln/>
        </p:spPr>
        <p:txBody>
          <a:bodyPr wrap="square" lIns="0" tIns="0" rIns="0" bIns="0" rtlCol="0" anchor="ctr"/>
          <a:lstStyle/>
          <a:p>
            <a:pPr marL="0" indent="0" algn="ctr">
              <a:buNone/>
            </a:pPr>
            <a:r>
              <a:rPr lang="en-US" sz="1700" b="1" dirty="0">
                <a:solidFill>
                  <a:srgbClr val="2FA36B"/>
                </a:solidFill>
                <a:latin typeface="Cambria" pitchFamily="34" charset="0"/>
                <a:ea typeface="Cambria" pitchFamily="34" charset="-122"/>
                <a:cs typeface="Cambria" pitchFamily="34" charset="-120"/>
              </a:rPr>
              <a:t>✓</a:t>
            </a:r>
            <a:endParaRPr lang="en-US" sz="1700" dirty="0"/>
          </a:p>
        </p:txBody>
      </p:sp>
      <p:sp>
        <p:nvSpPr>
          <p:cNvPr id="50" name="Text 48"/>
          <p:cNvSpPr txBox="1"/>
          <p:nvPr/>
        </p:nvSpPr>
        <p:spPr>
          <a:xfrm>
            <a:off x="2551176"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health and import checks</a:t>
            </a:r>
            <a:endParaRPr lang="en-US" sz="800" dirty="0"/>
          </a:p>
        </p:txBody>
      </p:sp>
      <p:sp>
        <p:nvSpPr>
          <p:cNvPr id="51" name="Shape 49"/>
          <p:cNvSpPr/>
          <p:nvPr/>
        </p:nvSpPr>
        <p:spPr>
          <a:xfrm>
            <a:off x="4297680" y="5303520"/>
            <a:ext cx="1691640" cy="749808"/>
          </a:xfrm>
          <a:prstGeom prst="roundRect">
            <a:avLst>
              <a:gd name="adj" fmla="val 10976"/>
            </a:avLst>
          </a:prstGeom>
          <a:solidFill>
            <a:srgbClr val="FFFFFF"/>
          </a:solidFill>
          <a:ln w="12700">
            <a:solidFill>
              <a:srgbClr val="CFEAE0"/>
            </a:solidFill>
            <a:prstDash val="solid"/>
          </a:ln>
        </p:spPr>
        <p:txBody>
          <a:bodyPr/>
          <a:lstStyle/>
          <a:p>
            <a:endParaRPr lang="en-GB"/>
          </a:p>
        </p:txBody>
      </p:sp>
      <p:sp>
        <p:nvSpPr>
          <p:cNvPr id="52" name="Text 50"/>
          <p:cNvSpPr txBox="1"/>
          <p:nvPr/>
        </p:nvSpPr>
        <p:spPr>
          <a:xfrm>
            <a:off x="4297680" y="5340096"/>
            <a:ext cx="1691640" cy="329184"/>
          </a:xfrm>
          <a:prstGeom prst="rect">
            <a:avLst/>
          </a:prstGeom>
          <a:noFill/>
          <a:ln/>
        </p:spPr>
        <p:txBody>
          <a:bodyPr wrap="square" lIns="0" tIns="0" rIns="0" bIns="0" rtlCol="0" anchor="ctr"/>
          <a:lstStyle/>
          <a:p>
            <a:pPr marL="0" indent="0" algn="ctr">
              <a:buNone/>
            </a:pPr>
            <a:r>
              <a:rPr lang="en-US" sz="1700" b="1" dirty="0">
                <a:solidFill>
                  <a:srgbClr val="2FA36B"/>
                </a:solidFill>
                <a:latin typeface="Cambria" pitchFamily="34" charset="0"/>
                <a:ea typeface="Cambria" pitchFamily="34" charset="-122"/>
                <a:cs typeface="Cambria" pitchFamily="34" charset="-120"/>
              </a:rPr>
              <a:t>2</a:t>
            </a:r>
            <a:endParaRPr lang="en-US" sz="1700" dirty="0"/>
          </a:p>
        </p:txBody>
      </p:sp>
      <p:sp>
        <p:nvSpPr>
          <p:cNvPr id="53" name="Text 51"/>
          <p:cNvSpPr txBox="1"/>
          <p:nvPr/>
        </p:nvSpPr>
        <p:spPr>
          <a:xfrm>
            <a:off x="4370832" y="5669280"/>
            <a:ext cx="1545336" cy="310896"/>
          </a:xfrm>
          <a:prstGeom prst="rect">
            <a:avLst/>
          </a:prstGeom>
          <a:noFill/>
          <a:ln/>
        </p:spPr>
        <p:txBody>
          <a:bodyPr wrap="square" lIns="0" tIns="0" rIns="0" bIns="0" rtlCol="0" anchor="ctr"/>
          <a:lstStyle/>
          <a:p>
            <a:pPr marL="0" indent="0" algn="ctr">
              <a:lnSpc>
                <a:spcPct val="95000"/>
              </a:lnSpc>
              <a:buNone/>
            </a:pPr>
            <a:r>
              <a:rPr lang="en-US" sz="800" dirty="0">
                <a:solidFill>
                  <a:srgbClr val="3E4257"/>
                </a:solidFill>
                <a:latin typeface="Calibri" pitchFamily="34" charset="0"/>
                <a:ea typeface="Calibri" pitchFamily="34" charset="-122"/>
                <a:cs typeface="Calibri" pitchFamily="34" charset="-120"/>
              </a:rPr>
              <a:t>series, never netted</a:t>
            </a:r>
            <a:endParaRPr lang="en-US" sz="800" dirty="0"/>
          </a:p>
        </p:txBody>
      </p:sp>
      <p:sp>
        <p:nvSpPr>
          <p:cNvPr id="54" name="Text 52"/>
          <p:cNvSpPr txBox="1"/>
          <p:nvPr/>
        </p:nvSpPr>
        <p:spPr>
          <a:xfrm>
            <a:off x="6355080" y="4956048"/>
            <a:ext cx="5303520" cy="201168"/>
          </a:xfrm>
          <a:prstGeom prst="rect">
            <a:avLst/>
          </a:prstGeom>
          <a:noFill/>
          <a:ln/>
        </p:spPr>
        <p:txBody>
          <a:bodyPr wrap="square" lIns="0" tIns="0" rIns="0" bIns="0" rtlCol="0" anchor="ctr"/>
          <a:lstStyle/>
          <a:p>
            <a:pPr marL="0" indent="0">
              <a:buNone/>
            </a:pPr>
            <a:r>
              <a:rPr lang="en-US" sz="900" b="1" kern="0" spc="140" dirty="0">
                <a:solidFill>
                  <a:srgbClr val="C4453F"/>
                </a:solidFill>
                <a:latin typeface="Calibri" pitchFamily="34" charset="0"/>
                <a:ea typeface="Calibri" pitchFamily="34" charset="-122"/>
                <a:cs typeface="Calibri" pitchFamily="34" charset="-120"/>
              </a:rPr>
              <a:t>LIMITATIONS</a:t>
            </a:r>
            <a:endParaRPr lang="en-US" sz="900" dirty="0"/>
          </a:p>
        </p:txBody>
      </p:sp>
      <p:sp>
        <p:nvSpPr>
          <p:cNvPr id="55" name="Shape 53"/>
          <p:cNvSpPr/>
          <p:nvPr/>
        </p:nvSpPr>
        <p:spPr>
          <a:xfrm>
            <a:off x="6355080" y="5175504"/>
            <a:ext cx="5303520" cy="1005840"/>
          </a:xfrm>
          <a:prstGeom prst="roundRect">
            <a:avLst>
              <a:gd name="adj" fmla="val 8182"/>
            </a:avLst>
          </a:prstGeom>
          <a:solidFill>
            <a:srgbClr val="FBEDEC"/>
          </a:solidFill>
          <a:ln/>
        </p:spPr>
        <p:txBody>
          <a:bodyPr/>
          <a:lstStyle/>
          <a:p>
            <a:endParaRPr lang="en-GB"/>
          </a:p>
        </p:txBody>
      </p:sp>
      <p:sp>
        <p:nvSpPr>
          <p:cNvPr id="56" name="Text 54"/>
          <p:cNvSpPr txBox="1"/>
          <p:nvPr/>
        </p:nvSpPr>
        <p:spPr>
          <a:xfrm>
            <a:off x="6565392" y="5321808"/>
            <a:ext cx="4901184" cy="786384"/>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950" dirty="0">
                <a:solidFill>
                  <a:srgbClr val="3E4257"/>
                </a:solidFill>
                <a:latin typeface="Calibri" pitchFamily="34" charset="0"/>
                <a:ea typeface="Calibri" pitchFamily="34" charset="-122"/>
                <a:cs typeface="Calibri" pitchFamily="34" charset="-120"/>
              </a:rPr>
              <a:t>Per-class detection accuracy is not yet measured — add it before the viva.</a:t>
            </a:r>
            <a:endParaRPr lang="en-US" sz="950" dirty="0"/>
          </a:p>
          <a:p>
            <a:pPr marL="342900" indent="-342900">
              <a:lnSpc>
                <a:spcPct val="100000"/>
              </a:lnSpc>
              <a:spcAft>
                <a:spcPts val="400"/>
              </a:spcAft>
              <a:buSzPct val="100000"/>
              <a:buChar char="•"/>
            </a:pPr>
            <a:r>
              <a:rPr lang="en-US" sz="950" dirty="0">
                <a:solidFill>
                  <a:srgbClr val="3E4257"/>
                </a:solidFill>
                <a:latin typeface="Calibri" pitchFamily="34" charset="0"/>
                <a:ea typeface="Calibri" pitchFamily="34" charset="-122"/>
                <a:cs typeface="Calibri" pitchFamily="34" charset="-120"/>
              </a:rPr>
              <a:t>One inspection station per application instance.</a:t>
            </a:r>
            <a:endParaRPr lang="en-US" sz="950" dirty="0"/>
          </a:p>
        </p:txBody>
      </p:sp>
      <p:sp>
        <p:nvSpPr>
          <p:cNvPr id="57" name="Text 55"/>
          <p:cNvSpPr txBox="1"/>
          <p:nvPr/>
        </p:nvSpPr>
        <p:spPr>
          <a:xfrm>
            <a:off x="502920" y="6437376"/>
            <a:ext cx="6583680" cy="237744"/>
          </a:xfrm>
          <a:prstGeom prst="rect">
            <a:avLst/>
          </a:prstGeom>
          <a:noFill/>
          <a:ln/>
        </p:spPr>
        <p:txBody>
          <a:bodyPr wrap="square" lIns="0" tIns="0" rIns="0" bIns="0" rtlCol="0" anchor="ctr"/>
          <a:lstStyle/>
          <a:p>
            <a:pPr marL="0" indent="0">
              <a:buNone/>
            </a:pPr>
            <a:r>
              <a:rPr lang="en-US" sz="900" dirty="0">
                <a:solidFill>
                  <a:srgbClr val="72778F"/>
                </a:solidFill>
                <a:latin typeface="Calibri" pitchFamily="34" charset="0"/>
                <a:ea typeface="Calibri" pitchFamily="34" charset="-122"/>
                <a:cs typeface="Calibri" pitchFamily="34" charset="-120"/>
              </a:rPr>
              <a:t>IT4010 Research Project  ·  Final Presentation &amp; Viva  ·  R26-IT-054</a:t>
            </a:r>
            <a:endParaRPr lang="en-US" sz="900" dirty="0"/>
          </a:p>
        </p:txBody>
      </p:sp>
      <p:sp>
        <p:nvSpPr>
          <p:cNvPr id="58" name="Text 56"/>
          <p:cNvSpPr txBox="1"/>
          <p:nvPr/>
        </p:nvSpPr>
        <p:spPr>
          <a:xfrm>
            <a:off x="6309360" y="6437376"/>
            <a:ext cx="4937760" cy="237744"/>
          </a:xfrm>
          <a:prstGeom prst="rect">
            <a:avLst/>
          </a:prstGeom>
          <a:noFill/>
          <a:ln/>
        </p:spPr>
        <p:txBody>
          <a:bodyPr wrap="square" lIns="0" tIns="0" rIns="0" bIns="0" rtlCol="0" anchor="ctr"/>
          <a:lstStyle/>
          <a:p>
            <a:pPr marL="0" indent="0" algn="r">
              <a:buNone/>
            </a:pPr>
            <a:r>
              <a:rPr lang="en-US" sz="900" b="1" dirty="0">
                <a:solidFill>
                  <a:srgbClr val="2A3596"/>
                </a:solidFill>
                <a:latin typeface="Calibri" pitchFamily="34" charset="0"/>
                <a:ea typeface="Calibri" pitchFamily="34" charset="-122"/>
                <a:cs typeface="Calibri" pitchFamily="34" charset="-120"/>
              </a:rPr>
              <a:t>IT22627582  ·  Pathiraja H.P.M.H.D.S.</a:t>
            </a:r>
            <a:endParaRPr lang="en-US" sz="900" dirty="0"/>
          </a:p>
        </p:txBody>
      </p:sp>
      <p:sp>
        <p:nvSpPr>
          <p:cNvPr id="59" name="Text 57"/>
          <p:cNvSpPr txBox="1"/>
          <p:nvPr/>
        </p:nvSpPr>
        <p:spPr>
          <a:xfrm>
            <a:off x="11356848" y="6437376"/>
            <a:ext cx="329184" cy="237744"/>
          </a:xfrm>
          <a:prstGeom prst="rect">
            <a:avLst/>
          </a:prstGeom>
          <a:noFill/>
          <a:ln/>
        </p:spPr>
        <p:txBody>
          <a:bodyPr wrap="square" lIns="0" tIns="0" rIns="0" bIns="0" rtlCol="0" anchor="ctr"/>
          <a:lstStyle/>
          <a:p>
            <a:pPr marL="0" indent="0" algn="r">
              <a:buNone/>
            </a:pPr>
            <a:r>
              <a:rPr lang="en-US" sz="900" b="1" dirty="0">
                <a:solidFill>
                  <a:srgbClr val="72778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1155680" cy="603504"/>
          </a:xfrm>
          <a:prstGeom prst="rect">
            <a:avLst/>
          </a:prstGeom>
          <a:noFill/>
          <a:ln/>
        </p:spPr>
        <p:txBody>
          <a:bodyPr wrap="square" lIns="0" tIns="0" rIns="0" bIns="0" rtlCol="0" anchor="ctr"/>
          <a:lstStyle/>
          <a:p>
            <a:pPr marL="0" indent="0">
              <a:buNone/>
            </a:pPr>
            <a:r>
              <a:rPr lang="en-US" sz="3100" b="1" dirty="0">
                <a:solidFill>
                  <a:srgbClr val="141735"/>
                </a:solidFill>
                <a:latin typeface="Cambria" pitchFamily="34" charset="0"/>
                <a:ea typeface="Cambria" pitchFamily="34" charset="-122"/>
                <a:cs typeface="Cambria" pitchFamily="34" charset="-120"/>
              </a:rPr>
              <a:t>Results, acceptance and what comes next</a:t>
            </a:r>
            <a:endParaRPr lang="en-US" sz="3100" dirty="0"/>
          </a:p>
        </p:txBody>
      </p:sp>
      <p:sp>
        <p:nvSpPr>
          <p:cNvPr id="3" name="Text 1"/>
          <p:cNvSpPr txBox="1"/>
          <p:nvPr/>
        </p:nvSpPr>
        <p:spPr>
          <a:xfrm>
            <a:off x="502920" y="987552"/>
            <a:ext cx="10789920" cy="274320"/>
          </a:xfrm>
          <a:prstGeom prst="rect">
            <a:avLst/>
          </a:prstGeom>
          <a:noFill/>
          <a:ln/>
        </p:spPr>
        <p:txBody>
          <a:bodyPr wrap="square" lIns="0" tIns="0" rIns="0" bIns="0" rtlCol="0" anchor="ctr"/>
          <a:lstStyle/>
          <a:p>
            <a:pPr marL="0" indent="0">
              <a:buNone/>
            </a:pPr>
            <a:r>
              <a:rPr lang="en-US" sz="1250" dirty="0">
                <a:solidFill>
                  <a:srgbClr val="72778F"/>
                </a:solidFill>
                <a:latin typeface="Calibri" pitchFamily="34" charset="0"/>
                <a:ea typeface="Calibri" pitchFamily="34" charset="-122"/>
                <a:cs typeface="Calibri" pitchFamily="34" charset="-120"/>
              </a:rPr>
              <a:t>Per-component limitations are on each component's own slide.</a:t>
            </a:r>
            <a:endParaRPr lang="en-US" sz="1250" dirty="0"/>
          </a:p>
        </p:txBody>
      </p:sp>
      <p:sp>
        <p:nvSpPr>
          <p:cNvPr id="4" name="Shape 2"/>
          <p:cNvSpPr/>
          <p:nvPr/>
        </p:nvSpPr>
        <p:spPr>
          <a:xfrm>
            <a:off x="502920" y="1481328"/>
            <a:ext cx="2651760" cy="1005840"/>
          </a:xfrm>
          <a:prstGeom prst="roundRect">
            <a:avLst>
              <a:gd name="adj" fmla="val 8182"/>
            </a:avLst>
          </a:prstGeom>
          <a:solidFill>
            <a:srgbClr val="F1F3FC"/>
          </a:solidFill>
          <a:ln/>
        </p:spPr>
        <p:txBody>
          <a:bodyPr/>
          <a:lstStyle/>
          <a:p>
            <a:endParaRPr lang="en-GB"/>
          </a:p>
        </p:txBody>
      </p:sp>
      <p:sp>
        <p:nvSpPr>
          <p:cNvPr id="5" name="Text 3"/>
          <p:cNvSpPr txBox="1"/>
          <p:nvPr/>
        </p:nvSpPr>
        <p:spPr>
          <a:xfrm>
            <a:off x="630936" y="1517904"/>
            <a:ext cx="2395728" cy="512064"/>
          </a:xfrm>
          <a:prstGeom prst="rect">
            <a:avLst/>
          </a:prstGeom>
          <a:noFill/>
          <a:ln/>
        </p:spPr>
        <p:txBody>
          <a:bodyPr wrap="square" lIns="0" tIns="0" rIns="0" bIns="0" rtlCol="0" anchor="ctr"/>
          <a:lstStyle/>
          <a:p>
            <a:pPr marL="0" indent="0" algn="ctr">
              <a:buNone/>
            </a:pPr>
            <a:r>
              <a:rPr lang="en-US" sz="2600" b="1" dirty="0">
                <a:solidFill>
                  <a:srgbClr val="7C4DD6"/>
                </a:solidFill>
                <a:latin typeface="Cambria" pitchFamily="34" charset="0"/>
                <a:ea typeface="Cambria" pitchFamily="34" charset="-122"/>
                <a:cs typeface="Cambria" pitchFamily="34" charset="-120"/>
              </a:rPr>
              <a:t>0.958</a:t>
            </a:r>
            <a:endParaRPr lang="en-US" sz="2600" dirty="0"/>
          </a:p>
        </p:txBody>
      </p:sp>
      <p:sp>
        <p:nvSpPr>
          <p:cNvPr id="6" name="Text 4"/>
          <p:cNvSpPr txBox="1"/>
          <p:nvPr/>
        </p:nvSpPr>
        <p:spPr>
          <a:xfrm>
            <a:off x="630936" y="2029968"/>
            <a:ext cx="2395728" cy="274320"/>
          </a:xfrm>
          <a:prstGeom prst="rect">
            <a:avLst/>
          </a:prstGeom>
          <a:noFill/>
          <a:ln/>
        </p:spPr>
        <p:txBody>
          <a:bodyPr wrap="square" lIns="0" tIns="0" rIns="0" bIns="0" rtlCol="0" anchor="ctr"/>
          <a:lstStyle/>
          <a:p>
            <a:pPr marL="0" indent="0" algn="ctr">
              <a:buNone/>
            </a:pPr>
            <a:r>
              <a:rPr lang="en-US" sz="950" dirty="0">
                <a:solidFill>
                  <a:srgbClr val="3E4257"/>
                </a:solidFill>
                <a:latin typeface="Calibri" pitchFamily="34" charset="0"/>
                <a:ea typeface="Calibri" pitchFamily="34" charset="-122"/>
                <a:cs typeface="Calibri" pitchFamily="34" charset="-120"/>
              </a:rPr>
              <a:t>mAP, style model</a:t>
            </a:r>
            <a:endParaRPr lang="en-US" sz="950" dirty="0"/>
          </a:p>
        </p:txBody>
      </p:sp>
      <p:sp>
        <p:nvSpPr>
          <p:cNvPr id="7" name="Shape 5"/>
          <p:cNvSpPr/>
          <p:nvPr/>
        </p:nvSpPr>
        <p:spPr>
          <a:xfrm>
            <a:off x="3337560" y="1481328"/>
            <a:ext cx="2651760" cy="1005840"/>
          </a:xfrm>
          <a:prstGeom prst="roundRect">
            <a:avLst>
              <a:gd name="adj" fmla="val 8182"/>
            </a:avLst>
          </a:prstGeom>
          <a:solidFill>
            <a:srgbClr val="F1F3FC"/>
          </a:solidFill>
          <a:ln/>
        </p:spPr>
        <p:txBody>
          <a:bodyPr/>
          <a:lstStyle/>
          <a:p>
            <a:endParaRPr lang="en-GB"/>
          </a:p>
        </p:txBody>
      </p:sp>
      <p:sp>
        <p:nvSpPr>
          <p:cNvPr id="8" name="Text 6"/>
          <p:cNvSpPr txBox="1"/>
          <p:nvPr/>
        </p:nvSpPr>
        <p:spPr>
          <a:xfrm>
            <a:off x="3465576" y="1517904"/>
            <a:ext cx="2395728" cy="512064"/>
          </a:xfrm>
          <a:prstGeom prst="rect">
            <a:avLst/>
          </a:prstGeom>
          <a:noFill/>
          <a:ln/>
        </p:spPr>
        <p:txBody>
          <a:bodyPr wrap="square" lIns="0" tIns="0" rIns="0" bIns="0" rtlCol="0" anchor="ctr"/>
          <a:lstStyle/>
          <a:p>
            <a:pPr marL="0" indent="0" algn="ctr">
              <a:buNone/>
            </a:pPr>
            <a:r>
              <a:rPr lang="en-US" sz="2100" b="1" dirty="0">
                <a:solidFill>
                  <a:srgbClr val="7C4DD6"/>
                </a:solidFill>
                <a:latin typeface="Cambria" pitchFamily="34" charset="0"/>
                <a:ea typeface="Cambria" pitchFamily="34" charset="-122"/>
                <a:cs typeface="Cambria" pitchFamily="34" charset="-120"/>
              </a:rPr>
              <a:t>107/107</a:t>
            </a:r>
            <a:endParaRPr lang="en-US" sz="2100" dirty="0"/>
          </a:p>
        </p:txBody>
      </p:sp>
      <p:sp>
        <p:nvSpPr>
          <p:cNvPr id="9" name="Text 7"/>
          <p:cNvSpPr txBox="1"/>
          <p:nvPr/>
        </p:nvSpPr>
        <p:spPr>
          <a:xfrm>
            <a:off x="3465576" y="2029968"/>
            <a:ext cx="2395728" cy="274320"/>
          </a:xfrm>
          <a:prstGeom prst="rect">
            <a:avLst/>
          </a:prstGeom>
          <a:noFill/>
          <a:ln/>
        </p:spPr>
        <p:txBody>
          <a:bodyPr wrap="square" lIns="0" tIns="0" rIns="0" bIns="0" rtlCol="0" anchor="ctr"/>
          <a:lstStyle/>
          <a:p>
            <a:pPr marL="0" indent="0" algn="ctr">
              <a:buNone/>
            </a:pPr>
            <a:r>
              <a:rPr lang="en-US" sz="950" dirty="0">
                <a:solidFill>
                  <a:srgbClr val="3E4257"/>
                </a:solidFill>
                <a:latin typeface="Calibri" pitchFamily="34" charset="0"/>
                <a:ea typeface="Calibri" pitchFamily="34" charset="-122"/>
                <a:cs typeface="Calibri" pitchFamily="34" charset="-120"/>
              </a:rPr>
              <a:t>style &amp; colour tests</a:t>
            </a:r>
            <a:endParaRPr lang="en-US" sz="950" dirty="0"/>
          </a:p>
        </p:txBody>
      </p:sp>
      <p:sp>
        <p:nvSpPr>
          <p:cNvPr id="10" name="Shape 8"/>
          <p:cNvSpPr/>
          <p:nvPr/>
        </p:nvSpPr>
        <p:spPr>
          <a:xfrm>
            <a:off x="6172200" y="1481328"/>
            <a:ext cx="2651760" cy="1005840"/>
          </a:xfrm>
          <a:prstGeom prst="roundRect">
            <a:avLst>
              <a:gd name="adj" fmla="val 8182"/>
            </a:avLst>
          </a:prstGeom>
          <a:solidFill>
            <a:srgbClr val="F1F3FC"/>
          </a:solidFill>
          <a:ln/>
        </p:spPr>
        <p:txBody>
          <a:bodyPr/>
          <a:lstStyle/>
          <a:p>
            <a:endParaRPr lang="en-GB"/>
          </a:p>
        </p:txBody>
      </p:sp>
      <p:sp>
        <p:nvSpPr>
          <p:cNvPr id="11" name="Text 9"/>
          <p:cNvSpPr txBox="1"/>
          <p:nvPr/>
        </p:nvSpPr>
        <p:spPr>
          <a:xfrm>
            <a:off x="6300216" y="1517904"/>
            <a:ext cx="2395728" cy="512064"/>
          </a:xfrm>
          <a:prstGeom prst="rect">
            <a:avLst/>
          </a:prstGeom>
          <a:noFill/>
          <a:ln/>
        </p:spPr>
        <p:txBody>
          <a:bodyPr wrap="square" lIns="0" tIns="0" rIns="0" bIns="0" rtlCol="0" anchor="ctr"/>
          <a:lstStyle/>
          <a:p>
            <a:pPr marL="0" indent="0" algn="ctr">
              <a:buNone/>
            </a:pPr>
            <a:r>
              <a:rPr lang="en-US" sz="2600" b="1" dirty="0">
                <a:solidFill>
                  <a:srgbClr val="3B4BC8"/>
                </a:solidFill>
                <a:latin typeface="Cambria" pitchFamily="34" charset="0"/>
                <a:ea typeface="Cambria" pitchFamily="34" charset="-122"/>
                <a:cs typeface="Cambria" pitchFamily="34" charset="-120"/>
              </a:rPr>
              <a:t>74</a:t>
            </a:r>
            <a:endParaRPr lang="en-US" sz="2600" dirty="0"/>
          </a:p>
        </p:txBody>
      </p:sp>
      <p:sp>
        <p:nvSpPr>
          <p:cNvPr id="12" name="Text 10"/>
          <p:cNvSpPr txBox="1"/>
          <p:nvPr/>
        </p:nvSpPr>
        <p:spPr>
          <a:xfrm>
            <a:off x="6300216" y="2029968"/>
            <a:ext cx="2395728" cy="274320"/>
          </a:xfrm>
          <a:prstGeom prst="rect">
            <a:avLst/>
          </a:prstGeom>
          <a:noFill/>
          <a:ln/>
        </p:spPr>
        <p:txBody>
          <a:bodyPr wrap="square" lIns="0" tIns="0" rIns="0" bIns="0" rtlCol="0" anchor="ctr"/>
          <a:lstStyle/>
          <a:p>
            <a:pPr marL="0" indent="0" algn="ctr">
              <a:buNone/>
            </a:pPr>
            <a:r>
              <a:rPr lang="en-US" sz="950" dirty="0">
                <a:solidFill>
                  <a:srgbClr val="3E4257"/>
                </a:solidFill>
                <a:latin typeface="Calibri" pitchFamily="34" charset="0"/>
                <a:ea typeface="Calibri" pitchFamily="34" charset="-122"/>
                <a:cs typeface="Calibri" pitchFamily="34" charset="-120"/>
              </a:rPr>
              <a:t>monitoring backend tests</a:t>
            </a:r>
            <a:endParaRPr lang="en-US" sz="950" dirty="0"/>
          </a:p>
        </p:txBody>
      </p:sp>
      <p:sp>
        <p:nvSpPr>
          <p:cNvPr id="13" name="Shape 11"/>
          <p:cNvSpPr/>
          <p:nvPr/>
        </p:nvSpPr>
        <p:spPr>
          <a:xfrm>
            <a:off x="9006840" y="1481328"/>
            <a:ext cx="2651760" cy="1005840"/>
          </a:xfrm>
          <a:prstGeom prst="roundRect">
            <a:avLst>
              <a:gd name="adj" fmla="val 8182"/>
            </a:avLst>
          </a:prstGeom>
          <a:solidFill>
            <a:srgbClr val="F1F3FC"/>
          </a:solidFill>
          <a:ln/>
        </p:spPr>
        <p:txBody>
          <a:bodyPr/>
          <a:lstStyle/>
          <a:p>
            <a:endParaRPr lang="en-GB"/>
          </a:p>
        </p:txBody>
      </p:sp>
      <p:sp>
        <p:nvSpPr>
          <p:cNvPr id="14" name="Text 12"/>
          <p:cNvSpPr txBox="1"/>
          <p:nvPr/>
        </p:nvSpPr>
        <p:spPr>
          <a:xfrm>
            <a:off x="9134856" y="1517904"/>
            <a:ext cx="2395728" cy="512064"/>
          </a:xfrm>
          <a:prstGeom prst="rect">
            <a:avLst/>
          </a:prstGeom>
          <a:noFill/>
          <a:ln/>
        </p:spPr>
        <p:txBody>
          <a:bodyPr wrap="square" lIns="0" tIns="0" rIns="0" bIns="0" rtlCol="0" anchor="ctr"/>
          <a:lstStyle/>
          <a:p>
            <a:pPr marL="0" indent="0" algn="ctr">
              <a:buNone/>
            </a:pPr>
            <a:r>
              <a:rPr lang="en-US" sz="2600" b="1" dirty="0">
                <a:solidFill>
                  <a:srgbClr val="1C7FD6"/>
                </a:solidFill>
                <a:latin typeface="Cambria" pitchFamily="34" charset="0"/>
                <a:ea typeface="Cambria" pitchFamily="34" charset="-122"/>
                <a:cs typeface="Cambria" pitchFamily="34" charset="-120"/>
              </a:rPr>
              <a:t>7</a:t>
            </a:r>
            <a:endParaRPr lang="en-US" sz="2600" dirty="0"/>
          </a:p>
        </p:txBody>
      </p:sp>
      <p:sp>
        <p:nvSpPr>
          <p:cNvPr id="15" name="Text 13"/>
          <p:cNvSpPr txBox="1"/>
          <p:nvPr/>
        </p:nvSpPr>
        <p:spPr>
          <a:xfrm>
            <a:off x="9134856" y="2029968"/>
            <a:ext cx="2395728" cy="274320"/>
          </a:xfrm>
          <a:prstGeom prst="rect">
            <a:avLst/>
          </a:prstGeom>
          <a:noFill/>
          <a:ln/>
        </p:spPr>
        <p:txBody>
          <a:bodyPr wrap="square" lIns="0" tIns="0" rIns="0" bIns="0" rtlCol="0" anchor="ctr"/>
          <a:lstStyle/>
          <a:p>
            <a:pPr marL="0" indent="0" algn="ctr">
              <a:buNone/>
            </a:pPr>
            <a:r>
              <a:rPr lang="en-US" sz="950" dirty="0">
                <a:solidFill>
                  <a:srgbClr val="3E4257"/>
                </a:solidFill>
                <a:latin typeface="Calibri" pitchFamily="34" charset="0"/>
                <a:ea typeface="Calibri" pitchFamily="34" charset="-122"/>
                <a:cs typeface="Calibri" pitchFamily="34" charset="-120"/>
              </a:rPr>
              <a:t>artifacts SHA-256 pinned</a:t>
            </a:r>
            <a:endParaRPr lang="en-US" sz="950" dirty="0"/>
          </a:p>
        </p:txBody>
      </p:sp>
      <p:sp>
        <p:nvSpPr>
          <p:cNvPr id="16" name="Text 14"/>
          <p:cNvSpPr txBox="1"/>
          <p:nvPr/>
        </p:nvSpPr>
        <p:spPr>
          <a:xfrm>
            <a:off x="502920" y="2706624"/>
            <a:ext cx="3584448" cy="201168"/>
          </a:xfrm>
          <a:prstGeom prst="rect">
            <a:avLst/>
          </a:prstGeom>
          <a:noFill/>
          <a:ln/>
        </p:spPr>
        <p:txBody>
          <a:bodyPr wrap="square" lIns="0" tIns="0" rIns="0" bIns="0" rtlCol="0" anchor="ctr"/>
          <a:lstStyle/>
          <a:p>
            <a:pPr marL="0" indent="0">
              <a:buNone/>
            </a:pPr>
            <a:r>
              <a:rPr lang="en-US" sz="900" b="1" kern="0" spc="140" dirty="0">
                <a:solidFill>
                  <a:srgbClr val="2A3596"/>
                </a:solidFill>
                <a:latin typeface="Calibri" pitchFamily="34" charset="0"/>
                <a:ea typeface="Calibri" pitchFamily="34" charset="-122"/>
                <a:cs typeface="Calibri" pitchFamily="34" charset="-120"/>
              </a:rPr>
              <a:t>USER ACCEPTANCE</a:t>
            </a:r>
            <a:endParaRPr lang="en-US" sz="900" dirty="0"/>
          </a:p>
        </p:txBody>
      </p:sp>
      <p:sp>
        <p:nvSpPr>
          <p:cNvPr id="17" name="Shape 15"/>
          <p:cNvSpPr/>
          <p:nvPr/>
        </p:nvSpPr>
        <p:spPr>
          <a:xfrm>
            <a:off x="502920" y="2926080"/>
            <a:ext cx="3584448" cy="2468880"/>
          </a:xfrm>
          <a:prstGeom prst="roundRect">
            <a:avLst>
              <a:gd name="adj" fmla="val 3333"/>
            </a:avLst>
          </a:prstGeom>
          <a:solidFill>
            <a:srgbClr val="141735"/>
          </a:solidFill>
          <a:ln/>
        </p:spPr>
        <p:txBody>
          <a:bodyPr/>
          <a:lstStyle/>
          <a:p>
            <a:endParaRPr lang="en-GB"/>
          </a:p>
        </p:txBody>
      </p:sp>
      <p:sp>
        <p:nvSpPr>
          <p:cNvPr id="19" name="Text 17"/>
          <p:cNvSpPr txBox="1"/>
          <p:nvPr/>
        </p:nvSpPr>
        <p:spPr>
          <a:xfrm>
            <a:off x="731520" y="3474720"/>
            <a:ext cx="3145536" cy="173736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C6CEF7"/>
                </a:solidFill>
                <a:latin typeface="Calibri" pitchFamily="34" charset="0"/>
                <a:ea typeface="Calibri" pitchFamily="34" charset="-122"/>
                <a:cs typeface="Calibri" pitchFamily="34" charset="-120"/>
              </a:rPr>
              <a:t>Who tested it, and where</a:t>
            </a:r>
            <a:endParaRPr lang="en-US" sz="1000" dirty="0"/>
          </a:p>
          <a:p>
            <a:pPr marL="342900" indent="-342900">
              <a:lnSpc>
                <a:spcPct val="100000"/>
              </a:lnSpc>
              <a:spcAft>
                <a:spcPts val="400"/>
              </a:spcAft>
              <a:buSzPct val="100000"/>
              <a:buChar char="•"/>
            </a:pPr>
            <a:r>
              <a:rPr lang="en-US" sz="1000" dirty="0">
                <a:solidFill>
                  <a:srgbClr val="C6CEF7"/>
                </a:solidFill>
                <a:latin typeface="Calibri" pitchFamily="34" charset="0"/>
                <a:ea typeface="Calibri" pitchFamily="34" charset="-122"/>
                <a:cs typeface="Calibri" pitchFamily="34" charset="-120"/>
              </a:rPr>
              <a:t>How many garments they ran</a:t>
            </a:r>
            <a:endParaRPr lang="en-US" sz="1000" dirty="0"/>
          </a:p>
          <a:p>
            <a:pPr marL="342900" indent="-342900">
              <a:lnSpc>
                <a:spcPct val="100000"/>
              </a:lnSpc>
              <a:spcAft>
                <a:spcPts val="400"/>
              </a:spcAft>
              <a:buSzPct val="100000"/>
              <a:buChar char="•"/>
            </a:pPr>
            <a:r>
              <a:rPr lang="en-US" sz="1000" dirty="0">
                <a:solidFill>
                  <a:srgbClr val="C6CEF7"/>
                </a:solidFill>
                <a:latin typeface="Calibri" pitchFamily="34" charset="0"/>
                <a:ea typeface="Calibri" pitchFamily="34" charset="-122"/>
                <a:cs typeface="Calibri" pitchFamily="34" charset="-120"/>
              </a:rPr>
              <a:t>One quote you can attribute</a:t>
            </a:r>
            <a:endParaRPr lang="en-US" sz="1000" dirty="0"/>
          </a:p>
          <a:p>
            <a:pPr marL="342900" indent="-342900">
              <a:lnSpc>
                <a:spcPct val="100000"/>
              </a:lnSpc>
              <a:spcAft>
                <a:spcPts val="400"/>
              </a:spcAft>
              <a:buSzPct val="100000"/>
              <a:buChar char="•"/>
            </a:pPr>
            <a:r>
              <a:rPr lang="en-US" sz="1000" dirty="0">
                <a:solidFill>
                  <a:srgbClr val="C6CEF7"/>
                </a:solidFill>
                <a:latin typeface="Calibri" pitchFamily="34" charset="0"/>
                <a:ea typeface="Calibri" pitchFamily="34" charset="-122"/>
                <a:cs typeface="Calibri" pitchFamily="34" charset="-120"/>
              </a:rPr>
              <a:t>The criteria they signed off</a:t>
            </a:r>
            <a:endParaRPr lang="en-US" sz="1000" dirty="0"/>
          </a:p>
        </p:txBody>
      </p:sp>
      <p:sp>
        <p:nvSpPr>
          <p:cNvPr id="20" name="Text 18"/>
          <p:cNvSpPr txBox="1"/>
          <p:nvPr/>
        </p:nvSpPr>
        <p:spPr>
          <a:xfrm>
            <a:off x="4288536" y="2706624"/>
            <a:ext cx="3584448" cy="201168"/>
          </a:xfrm>
          <a:prstGeom prst="rect">
            <a:avLst/>
          </a:prstGeom>
          <a:noFill/>
          <a:ln/>
        </p:spPr>
        <p:txBody>
          <a:bodyPr wrap="square" lIns="0" tIns="0" rIns="0" bIns="0" rtlCol="0" anchor="ctr"/>
          <a:lstStyle/>
          <a:p>
            <a:pPr marL="0" indent="0">
              <a:buNone/>
            </a:pPr>
            <a:r>
              <a:rPr lang="en-US" sz="900" b="1" kern="0" spc="140" dirty="0">
                <a:solidFill>
                  <a:srgbClr val="C4453F"/>
                </a:solidFill>
                <a:latin typeface="Calibri" pitchFamily="34" charset="0"/>
                <a:ea typeface="Calibri" pitchFamily="34" charset="-122"/>
                <a:cs typeface="Calibri" pitchFamily="34" charset="-120"/>
              </a:rPr>
              <a:t>SYSTEM LIMITATIONS</a:t>
            </a:r>
            <a:endParaRPr lang="en-US" sz="900" dirty="0"/>
          </a:p>
        </p:txBody>
      </p:sp>
      <p:sp>
        <p:nvSpPr>
          <p:cNvPr id="21" name="Shape 19"/>
          <p:cNvSpPr/>
          <p:nvPr/>
        </p:nvSpPr>
        <p:spPr>
          <a:xfrm>
            <a:off x="4288536" y="2926080"/>
            <a:ext cx="3584448" cy="2468880"/>
          </a:xfrm>
          <a:prstGeom prst="roundRect">
            <a:avLst>
              <a:gd name="adj" fmla="val 3333"/>
            </a:avLst>
          </a:prstGeom>
          <a:solidFill>
            <a:srgbClr val="FBEDEC"/>
          </a:solidFill>
          <a:ln/>
        </p:spPr>
        <p:txBody>
          <a:bodyPr/>
          <a:lstStyle/>
          <a:p>
            <a:endParaRPr lang="en-GB"/>
          </a:p>
        </p:txBody>
      </p:sp>
      <p:sp>
        <p:nvSpPr>
          <p:cNvPr id="22" name="Text 20"/>
          <p:cNvSpPr txBox="1"/>
          <p:nvPr/>
        </p:nvSpPr>
        <p:spPr>
          <a:xfrm>
            <a:off x="4507992" y="3108960"/>
            <a:ext cx="3163824" cy="210312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3E4257"/>
                </a:solidFill>
                <a:latin typeface="Calibri" pitchFamily="34" charset="0"/>
                <a:ea typeface="Calibri" pitchFamily="34" charset="-122"/>
                <a:cs typeface="Calibri" pitchFamily="34" charset="-120"/>
              </a:rPr>
              <a:t>One camera-heavy feature at a time</a:t>
            </a:r>
            <a:endParaRPr lang="en-US" sz="1000" dirty="0"/>
          </a:p>
          <a:p>
            <a:pPr marL="342900" indent="-342900">
              <a:lnSpc>
                <a:spcPct val="100000"/>
              </a:lnSpc>
              <a:spcAft>
                <a:spcPts val="400"/>
              </a:spcAft>
              <a:buSzPct val="100000"/>
              <a:buChar char="•"/>
            </a:pPr>
            <a:r>
              <a:rPr lang="en-US" sz="1000" dirty="0">
                <a:solidFill>
                  <a:srgbClr val="3E4257"/>
                </a:solidFill>
                <a:latin typeface="Calibri" pitchFamily="34" charset="0"/>
                <a:ea typeface="Calibri" pitchFamily="34" charset="-122"/>
                <a:cs typeface="Calibri" pitchFamily="34" charset="-120"/>
              </a:rPr>
              <a:t>Lighting, placement and hardware can only be proven by rehearsal</a:t>
            </a:r>
            <a:endParaRPr lang="en-US" sz="1000" dirty="0"/>
          </a:p>
          <a:p>
            <a:pPr marL="342900" indent="-342900">
              <a:lnSpc>
                <a:spcPct val="100000"/>
              </a:lnSpc>
              <a:spcAft>
                <a:spcPts val="400"/>
              </a:spcAft>
              <a:buSzPct val="100000"/>
              <a:buChar char="•"/>
            </a:pPr>
            <a:r>
              <a:rPr lang="en-US" sz="1000" dirty="0">
                <a:solidFill>
                  <a:srgbClr val="3E4257"/>
                </a:solidFill>
                <a:latin typeface="Calibri" pitchFamily="34" charset="0"/>
                <a:ea typeface="Calibri" pitchFamily="34" charset="-122"/>
                <a:cs typeface="Calibri" pitchFamily="34" charset="-120"/>
              </a:rPr>
              <a:t>Field accuracy vs a manual count not yet measured</a:t>
            </a:r>
            <a:endParaRPr lang="en-US" sz="1000" dirty="0"/>
          </a:p>
          <a:p>
            <a:pPr marL="342900" indent="-342900">
              <a:lnSpc>
                <a:spcPct val="100000"/>
              </a:lnSpc>
              <a:spcAft>
                <a:spcPts val="400"/>
              </a:spcAft>
              <a:buSzPct val="100000"/>
              <a:buChar char="•"/>
            </a:pPr>
            <a:r>
              <a:rPr lang="en-US" sz="1000" dirty="0">
                <a:solidFill>
                  <a:srgbClr val="3E4257"/>
                </a:solidFill>
                <a:latin typeface="Calibri" pitchFamily="34" charset="0"/>
                <a:ea typeface="Calibri" pitchFamily="34" charset="-122"/>
                <a:cs typeface="Calibri" pitchFamily="34" charset="-120"/>
              </a:rPr>
              <a:t>No code-signing credentials yet</a:t>
            </a:r>
            <a:endParaRPr lang="en-US" sz="1000" dirty="0"/>
          </a:p>
        </p:txBody>
      </p:sp>
      <p:sp>
        <p:nvSpPr>
          <p:cNvPr id="23" name="Text 21"/>
          <p:cNvSpPr txBox="1"/>
          <p:nvPr/>
        </p:nvSpPr>
        <p:spPr>
          <a:xfrm>
            <a:off x="8074152" y="2706624"/>
            <a:ext cx="3584448" cy="201168"/>
          </a:xfrm>
          <a:prstGeom prst="rect">
            <a:avLst/>
          </a:prstGeom>
          <a:noFill/>
          <a:ln/>
        </p:spPr>
        <p:txBody>
          <a:bodyPr wrap="square" lIns="0" tIns="0" rIns="0" bIns="0" rtlCol="0" anchor="ctr"/>
          <a:lstStyle/>
          <a:p>
            <a:pPr marL="0" indent="0">
              <a:buNone/>
            </a:pPr>
            <a:r>
              <a:rPr lang="en-US" sz="900" b="1" kern="0" spc="140" dirty="0">
                <a:solidFill>
                  <a:srgbClr val="2FA36B"/>
                </a:solidFill>
                <a:latin typeface="Calibri" pitchFamily="34" charset="0"/>
                <a:ea typeface="Calibri" pitchFamily="34" charset="-122"/>
                <a:cs typeface="Calibri" pitchFamily="34" charset="-120"/>
              </a:rPr>
              <a:t>FUTURE IMPROVEMENTS</a:t>
            </a:r>
            <a:endParaRPr lang="en-US" sz="900" dirty="0"/>
          </a:p>
        </p:txBody>
      </p:sp>
      <p:sp>
        <p:nvSpPr>
          <p:cNvPr id="24" name="Shape 22"/>
          <p:cNvSpPr/>
          <p:nvPr/>
        </p:nvSpPr>
        <p:spPr>
          <a:xfrm>
            <a:off x="8074152" y="2926080"/>
            <a:ext cx="3584448" cy="2468880"/>
          </a:xfrm>
          <a:prstGeom prst="roundRect">
            <a:avLst>
              <a:gd name="adj" fmla="val 3333"/>
            </a:avLst>
          </a:prstGeom>
          <a:solidFill>
            <a:srgbClr val="E9F7F1"/>
          </a:solidFill>
          <a:ln/>
        </p:spPr>
        <p:txBody>
          <a:bodyPr/>
          <a:lstStyle/>
          <a:p>
            <a:endParaRPr lang="en-GB"/>
          </a:p>
        </p:txBody>
      </p:sp>
      <p:sp>
        <p:nvSpPr>
          <p:cNvPr id="25" name="Text 23"/>
          <p:cNvSpPr txBox="1"/>
          <p:nvPr/>
        </p:nvSpPr>
        <p:spPr>
          <a:xfrm>
            <a:off x="8293608" y="3108960"/>
            <a:ext cx="3163824" cy="2103120"/>
          </a:xfrm>
          <a:prstGeom prst="rect">
            <a:avLst/>
          </a:prstGeom>
          <a:noFill/>
          <a:ln/>
        </p:spPr>
        <p:txBody>
          <a:bodyPr wrap="square" lIns="0" tIns="0" rIns="0" bIns="0" rtlCol="0" anchor="ctr"/>
          <a:lstStyle/>
          <a:p>
            <a:pPr marL="342900" indent="-342900">
              <a:lnSpc>
                <a:spcPct val="100000"/>
              </a:lnSpc>
              <a:spcAft>
                <a:spcPts val="400"/>
              </a:spcAft>
              <a:buSzPct val="100000"/>
              <a:buChar char="•"/>
            </a:pPr>
            <a:r>
              <a:rPr lang="en-US" sz="1000" dirty="0">
                <a:solidFill>
                  <a:srgbClr val="3E4257"/>
                </a:solidFill>
                <a:latin typeface="Calibri" pitchFamily="34" charset="0"/>
                <a:ea typeface="Calibri" pitchFamily="34" charset="-122"/>
                <a:cs typeface="Calibri" pitchFamily="34" charset="-120"/>
              </a:rPr>
              <a:t>Retrain on real captures — every capture stores its own crop</a:t>
            </a:r>
            <a:endParaRPr lang="en-US" sz="1000" dirty="0"/>
          </a:p>
          <a:p>
            <a:pPr marL="342900" indent="-342900">
              <a:lnSpc>
                <a:spcPct val="100000"/>
              </a:lnSpc>
              <a:spcAft>
                <a:spcPts val="400"/>
              </a:spcAft>
              <a:buSzPct val="100000"/>
              <a:buChar char="•"/>
            </a:pPr>
            <a:r>
              <a:rPr lang="en-US" sz="1000" dirty="0">
                <a:solidFill>
                  <a:srgbClr val="3E4257"/>
                </a:solidFill>
                <a:latin typeface="Calibri" pitchFamily="34" charset="0"/>
                <a:ea typeface="Calibri" pitchFamily="34" charset="-122"/>
                <a:cs typeface="Calibri" pitchFamily="34" charset="-120"/>
              </a:rPr>
              <a:t>Add a background class</a:t>
            </a:r>
            <a:endParaRPr lang="en-US" sz="1000" dirty="0"/>
          </a:p>
          <a:p>
            <a:pPr marL="342900" indent="-342900">
              <a:lnSpc>
                <a:spcPct val="100000"/>
              </a:lnSpc>
              <a:spcAft>
                <a:spcPts val="400"/>
              </a:spcAft>
              <a:buSzPct val="100000"/>
              <a:buChar char="•"/>
            </a:pPr>
            <a:r>
              <a:rPr lang="en-US" sz="1000" dirty="0">
                <a:solidFill>
                  <a:srgbClr val="3E4257"/>
                </a:solidFill>
                <a:latin typeface="Calibri" pitchFamily="34" charset="0"/>
                <a:ea typeface="Calibri" pitchFamily="34" charset="-122"/>
                <a:cs typeface="Calibri" pitchFamily="34" charset="-120"/>
              </a:rPr>
              <a:t>Configurable thresholds with guarded revalidation</a:t>
            </a:r>
            <a:endParaRPr lang="en-US" sz="1000" dirty="0"/>
          </a:p>
          <a:p>
            <a:pPr marL="342900" indent="-342900">
              <a:lnSpc>
                <a:spcPct val="100000"/>
              </a:lnSpc>
              <a:spcAft>
                <a:spcPts val="400"/>
              </a:spcAft>
              <a:buSzPct val="100000"/>
              <a:buChar char="•"/>
            </a:pPr>
            <a:r>
              <a:rPr lang="en-US" sz="1000" dirty="0">
                <a:solidFill>
                  <a:srgbClr val="3E4257"/>
                </a:solidFill>
                <a:latin typeface="Calibri" pitchFamily="34" charset="0"/>
                <a:ea typeface="Calibri" pitchFamily="34" charset="-122"/>
                <a:cs typeface="Calibri" pitchFamily="34" charset="-120"/>
              </a:rPr>
              <a:t>Plant-level reporting across lines</a:t>
            </a:r>
            <a:endParaRPr lang="en-US" sz="1000" dirty="0"/>
          </a:p>
        </p:txBody>
      </p:sp>
      <p:sp>
        <p:nvSpPr>
          <p:cNvPr id="26" name="Shape 24"/>
          <p:cNvSpPr/>
          <p:nvPr/>
        </p:nvSpPr>
        <p:spPr>
          <a:xfrm>
            <a:off x="502920" y="5577840"/>
            <a:ext cx="11155680" cy="566928"/>
          </a:xfrm>
          <a:prstGeom prst="roundRect">
            <a:avLst>
              <a:gd name="adj" fmla="val 14516"/>
            </a:avLst>
          </a:prstGeom>
          <a:solidFill>
            <a:srgbClr val="2A3596"/>
          </a:solidFill>
          <a:ln/>
        </p:spPr>
        <p:txBody>
          <a:bodyPr/>
          <a:lstStyle/>
          <a:p>
            <a:endParaRPr lang="en-GB"/>
          </a:p>
        </p:txBody>
      </p:sp>
      <p:sp>
        <p:nvSpPr>
          <p:cNvPr id="27" name="Text 25"/>
          <p:cNvSpPr txBox="1"/>
          <p:nvPr/>
        </p:nvSpPr>
        <p:spPr>
          <a:xfrm>
            <a:off x="804672" y="5577840"/>
            <a:ext cx="10607040" cy="566928"/>
          </a:xfrm>
          <a:prstGeom prst="rect">
            <a:avLst/>
          </a:prstGeom>
          <a:noFill/>
          <a:ln/>
        </p:spPr>
        <p:txBody>
          <a:bodyPr wrap="square" lIns="0" tIns="0" rIns="0" bIns="0" rtlCol="0" anchor="ctr"/>
          <a:lstStyle/>
          <a:p>
            <a:pPr marL="0" indent="0">
              <a:buNone/>
            </a:pPr>
            <a:r>
              <a:rPr lang="en-US" sz="950" b="1" kern="0" spc="140" dirty="0">
                <a:solidFill>
                  <a:srgbClr val="2FC79A"/>
                </a:solidFill>
                <a:latin typeface="Calibri" pitchFamily="34" charset="0"/>
                <a:ea typeface="Calibri" pitchFamily="34" charset="-122"/>
                <a:cs typeface="Calibri" pitchFamily="34" charset="-120"/>
              </a:rPr>
              <a:t>NEXT    </a:t>
            </a:r>
            <a:r>
              <a:rPr lang="en-US" sz="1200" dirty="0">
                <a:solidFill>
                  <a:srgbClr val="FFFFFF"/>
                </a:solidFill>
                <a:latin typeface="Calibri" pitchFamily="34" charset="0"/>
                <a:ea typeface="Calibri" pitchFamily="34" charset="-122"/>
                <a:cs typeface="Calibri" pitchFamily="34" charset="-120"/>
              </a:rPr>
              <a:t>hardware rehearsal   →   F1 and field accuracy measured   →   signed installer   →   single-line pilot</a:t>
            </a:r>
            <a:endParaRPr lang="en-US" sz="950" dirty="0"/>
          </a:p>
        </p:txBody>
      </p:sp>
      <p:sp>
        <p:nvSpPr>
          <p:cNvPr id="28" name="Text 26"/>
          <p:cNvSpPr txBox="1"/>
          <p:nvPr/>
        </p:nvSpPr>
        <p:spPr>
          <a:xfrm>
            <a:off x="502920" y="6437376"/>
            <a:ext cx="6583680" cy="237744"/>
          </a:xfrm>
          <a:prstGeom prst="rect">
            <a:avLst/>
          </a:prstGeom>
          <a:noFill/>
          <a:ln/>
        </p:spPr>
        <p:txBody>
          <a:bodyPr wrap="square" lIns="0" tIns="0" rIns="0" bIns="0" rtlCol="0" anchor="ctr"/>
          <a:lstStyle/>
          <a:p>
            <a:pPr marL="0" indent="0">
              <a:buNone/>
            </a:pPr>
            <a:r>
              <a:rPr lang="en-US" sz="900" dirty="0">
                <a:solidFill>
                  <a:srgbClr val="72778F"/>
                </a:solidFill>
                <a:latin typeface="Calibri" pitchFamily="34" charset="0"/>
                <a:ea typeface="Calibri" pitchFamily="34" charset="-122"/>
                <a:cs typeface="Calibri" pitchFamily="34" charset="-120"/>
              </a:rPr>
              <a:t>IT4010 Research Project  ·  Final Presentation &amp; Viva  ·  R26-IT-054</a:t>
            </a:r>
            <a:endParaRPr lang="en-US" sz="900" dirty="0"/>
          </a:p>
        </p:txBody>
      </p:sp>
      <p:sp>
        <p:nvSpPr>
          <p:cNvPr id="29" name="Text 27"/>
          <p:cNvSpPr txBox="1"/>
          <p:nvPr/>
        </p:nvSpPr>
        <p:spPr>
          <a:xfrm>
            <a:off x="11356848" y="6437376"/>
            <a:ext cx="329184" cy="237744"/>
          </a:xfrm>
          <a:prstGeom prst="rect">
            <a:avLst/>
          </a:prstGeom>
          <a:noFill/>
          <a:ln/>
        </p:spPr>
        <p:txBody>
          <a:bodyPr wrap="square" lIns="0" tIns="0" rIns="0" bIns="0" rtlCol="0" anchor="ctr"/>
          <a:lstStyle/>
          <a:p>
            <a:pPr marL="0" indent="0" algn="r">
              <a:buNone/>
            </a:pPr>
            <a:r>
              <a:rPr lang="en-US" sz="900" b="1" dirty="0">
                <a:solidFill>
                  <a:srgbClr val="72778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TotalTime>
  <Words>1816</Words>
  <Application>Microsoft Office PowerPoint</Application>
  <PresentationFormat>Widescreen</PresentationFormat>
  <Paragraphs>311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Vision System for Real-Time Garment Tracking</dc:title>
  <dc:subject>PptxGenJS Presentation</dc:subject>
  <dc:creator>R26-IT-054</dc:creator>
  <cp:lastModifiedBy>yasas jayaweera</cp:lastModifiedBy>
  <cp:revision>12</cp:revision>
  <dcterms:created xsi:type="dcterms:W3CDTF">2026-10-18T17:12:30Z</dcterms:created>
  <dcterms:modified xsi:type="dcterms:W3CDTF">2026-10-19T22:19:07Z</dcterms:modified>
</cp:coreProperties>
</file>