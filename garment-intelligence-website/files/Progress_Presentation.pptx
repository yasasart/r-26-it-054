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&amp; SUPERVISOR FEEDBACK — POST-PROPOSAL REVIEW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Proposal Comments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3931920" cy="1645920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42416"/>
            <a:ext cx="45720" cy="1645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170432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170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116128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Workload Division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" y="1499616"/>
            <a:ext cx="36393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Nuwandha handles Sewing Operator Area — dual-signal piece counting + IoT rework/downtime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member handles Quality Checker Area — counting good and rework pieces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98848" y="1042416"/>
            <a:ext cx="3931920" cy="1645920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98848" y="1042416"/>
            <a:ext cx="45720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170432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70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16128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 Size Dataset for Feature 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45152" y="1499616"/>
            <a:ext cx="36393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size-labelled garment dataset covering UK, US, and EUR international sizing standards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because the target factory produces clothing for multiple international markets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25496"/>
            <a:ext cx="3931920" cy="1645920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25496"/>
            <a:ext cx="45720" cy="16459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2953512"/>
            <a:ext cx="274320" cy="27432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294436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Datasets for Feature 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" y="3282696"/>
            <a:ext cx="36393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distinct labelled video datasets: Sewing Operator Workflow + Quality Checker Workflow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independent model development for Feature 1's action-recognition component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98848" y="2825496"/>
            <a:ext cx="3931920" cy="1645920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98848" y="2825496"/>
            <a:ext cx="45720" cy="1645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953512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94436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Prediction with Percentage (Feature 3)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45152" y="3282696"/>
            <a:ext cx="363931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must return all detected garment colours with individual confidence percentages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single dominant-colour output — provides richer inspection data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CHALLENGE AND HOW OUR SYSTEM ADDRESSES 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The Global Solution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3977640" cy="3840480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42416"/>
            <a:ext cx="45720" cy="3840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APPAREL MANUFACTURING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21208" y="1499616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4447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piece counting is slow and prone to human error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" y="206654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0116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per-operator cycle time or performance monitoring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" y="2633472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57860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defects are discovered too late in the production batch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" y="3200400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14553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 size verification is manual and inconsistent across batches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" y="3767328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71246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and style checking relies entirely on human visual judgment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00600" y="1042416"/>
            <a:ext cx="3977640" cy="3840480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42416"/>
            <a:ext cx="45720" cy="3840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2624" y="1115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AI-POWERED SOLUTIONS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74336" y="1499616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1444752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Dual-signal AI piece counting — YOLOv8 garment detection + Pose wrist tracking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74336" y="206654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20116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cycle time analysis and KPI dashboard per operator session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74336" y="2633472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2578608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inspection with instant PASS / REWORK / MISMATCH classification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74336" y="320040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93792" y="3145536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Pixel-calibrated garment size measurement — no physical contact required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74336" y="376732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93792" y="371246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+ CNN hybrid colour and style recognition with percentage confidence output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EXISTING RESEARCH FALLS SHORT — AND WHAT WE CONTRIBUTE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Research Gap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3977640" cy="3840480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42416"/>
            <a:ext cx="3977640" cy="347472"/>
          </a:xfrm>
          <a:prstGeom prst="rect">
            <a:avLst/>
          </a:prstGeom>
          <a:solidFill>
            <a:srgbClr val="F97316">
              <a:alpha val="22000"/>
            </a:srgbClr>
          </a:solidFill>
          <a:ln w="762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88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" y="15361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77824" y="155448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 AI monitoring solution exists for Sri Lankan apparel manufacturing environments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28600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77824" y="2304288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automated piece counting with false-count prevention in sewing lines is unsolved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0358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77824" y="3054096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colour, style, and size detection in a single garment pipeline does not exist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378561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7824" y="3803904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quality checking generates no structured, traceable, or machine-readable data records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1097280"/>
            <a:ext cx="0" cy="3566160"/>
          </a:xfrm>
          <a:prstGeom prst="line">
            <a:avLst/>
          </a:prstGeom>
          <a:noFill/>
          <a:ln w="12700">
            <a:solidFill>
              <a:srgbClr val="2D4060"/>
            </a:solidFill>
            <a:prstDash val="sysDash"/>
          </a:ln>
        </p:spPr>
      </p:sp>
      <p:sp>
        <p:nvSpPr>
          <p:cNvPr id="16" name="Text 14"/>
          <p:cNvSpPr/>
          <p:nvPr/>
        </p:nvSpPr>
        <p:spPr>
          <a:xfrm>
            <a:off x="4251960" y="26974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042416"/>
            <a:ext cx="3977640" cy="3840480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042416"/>
            <a:ext cx="3977640" cy="347472"/>
          </a:xfrm>
          <a:prstGeom prst="rect">
            <a:avLst/>
          </a:prstGeom>
          <a:solidFill>
            <a:srgbClr val="3B82F6">
              <a:alpha val="22000"/>
            </a:srgbClr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088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NOVELTIES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0328" y="153619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21808" y="155448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Dual-Signal Counting: YOLOv8 garment + Pose wrist tracking eliminates false piece counts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0328" y="228600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21808" y="2304288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IoT-integrated ESP32 for real-time operator-triggered rework and downtime event capture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10328" y="3035808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321808" y="3054096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+ CNN hybrid detects multiple garment colours with confidence percentage per colour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0328" y="3785616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21808" y="3803904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px/cm pipeline measures garment width and height without physical contact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&amp; USER PERSONAS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 — Sewing Team Leader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3749040" cy="3822192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42416"/>
            <a:ext cx="45720" cy="38221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243584"/>
            <a:ext cx="1280160" cy="1280160"/>
          </a:xfrm>
          <a:prstGeom prst="ellipse">
            <a:avLst/>
          </a:prstGeom>
          <a:solidFill>
            <a:srgbClr val="22C55E">
              <a:alpha val="18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243584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30352" y="2697480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 Team Leader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0352" y="3054096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Floor — Sewing Line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3346704"/>
            <a:ext cx="3291840" cy="0"/>
          </a:xfrm>
          <a:prstGeom prst="line">
            <a:avLst/>
          </a:prstGeom>
          <a:noFill/>
          <a:ln w="9525">
            <a:solidFill>
              <a:srgbClr val="2D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438144"/>
            <a:ext cx="3419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piece count and cycle time per operator station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042416"/>
            <a:ext cx="4572000" cy="1170432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042416"/>
            <a:ext cx="45720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1338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80560" y="1380744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track individual operator speed without disrupting workflow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counting stops production flow and causes target shortfalls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 when shift target is at risk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2331720"/>
            <a:ext cx="4572000" cy="1170432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2331720"/>
            <a:ext cx="45720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4231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80560" y="2670048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piece count and cycle time per operator station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 on rework and downtime events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progress tracking with projected completion 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3621024"/>
            <a:ext cx="4572000" cy="1170432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3621024"/>
            <a:ext cx="45720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71246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INTERACTION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80560" y="3959352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live sewing dashboard on factory floor monitor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KPI tiles: piece count, cycle time, shift 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event feed for rework and downtime incidents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&amp; USER PERSONAS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 — Production Manager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3749040" cy="3822192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42416"/>
            <a:ext cx="45720" cy="38221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243584"/>
            <a:ext cx="1280160" cy="1280160"/>
          </a:xfrm>
          <a:prstGeom prst="ellipse">
            <a:avLst/>
          </a:prstGeom>
          <a:solidFill>
            <a:srgbClr val="3B82F6">
              <a:alpha val="18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243584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30352" y="2697480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Manager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0352" y="3054096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Management — Floor Office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3346704"/>
            <a:ext cx="3291840" cy="0"/>
          </a:xfrm>
          <a:prstGeom prst="line">
            <a:avLst/>
          </a:prstGeom>
          <a:noFill/>
          <a:ln w="9525">
            <a:solidFill>
              <a:srgbClr val="2D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438144"/>
            <a:ext cx="3419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quality metrics dashboard: PASS / REWORK / MISMATCH rates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042416"/>
            <a:ext cx="4572000" cy="1170432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042416"/>
            <a:ext cx="45720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1338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80560" y="1380744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defects are discovered at end of batch — too late to prevent waste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data on garment size accuracy across the production 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and style compliance verified by eye with no historical records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2331720"/>
            <a:ext cx="4572000" cy="1170432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2331720"/>
            <a:ext cx="45720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4231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80560" y="2670048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quality metrics dashboard: PASS / REWORK / MISMATCH rates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 size and colour compliance reports per production run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inspection logs for audit and compliance purposes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3621024"/>
            <a:ext cx="4572000" cy="1170432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3621024"/>
            <a:ext cx="45720" cy="1170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71246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INTERACTION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80560" y="3959352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Accesses quality inspection dashboard from the floor office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inspection logs and size distribution charts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session reports for quality compliance records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&amp; USER PERSONAS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 — Team Supervisor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3749040" cy="3822192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42416"/>
            <a:ext cx="45720" cy="38221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243584"/>
            <a:ext cx="1280160" cy="1280160"/>
          </a:xfrm>
          <a:prstGeom prst="ellipse">
            <a:avLst/>
          </a:prstGeom>
          <a:solidFill>
            <a:srgbClr val="A855F7">
              <a:alpha val="18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243584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30352" y="2697480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Supervisor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0352" y="3054096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— University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3346704"/>
            <a:ext cx="3291840" cy="0"/>
          </a:xfrm>
          <a:prstGeom prst="line">
            <a:avLst/>
          </a:prstGeom>
          <a:noFill/>
          <a:ln w="9525">
            <a:solidFill>
              <a:srgbClr val="2D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438144"/>
            <a:ext cx="3419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novelty demonstrated through a working live prototype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042416"/>
            <a:ext cx="4572000" cy="1170432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042416"/>
            <a:ext cx="45720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1338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80560" y="1380744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clear and verifiable evidence of technical novelty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must demonstrate all four features cohesively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and dataset quality must meet academic rigour standards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2331720"/>
            <a:ext cx="4572000" cy="1170432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2331720"/>
            <a:ext cx="45720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4231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480560" y="2670048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novelty demonstrated through a working live prototype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Technically sound system architecture with documented methodology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quality and annotation process rigorously documented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3621024"/>
            <a:ext cx="4572000" cy="1170432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3621024"/>
            <a:ext cx="45720" cy="1170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71246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INTERACTION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80560" y="3959352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progress presentations and technical demonstrations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system architecture, AI pipeline, and research novelty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dataset building process and model development plan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FEATURES CONNECT FROM HARDWARE INPUT TO END USER OUTPUT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INPUT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88920" y="102412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720840" y="10241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366760" y="1024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2103120" cy="1051560"/>
          </a:xfrm>
          <a:prstGeom prst="rect">
            <a:avLst/>
          </a:prstGeom>
          <a:solidFill>
            <a:srgbClr val="162030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80160"/>
            <a:ext cx="45720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716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 Camera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627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· 30fps · 1080p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zone monitoring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280160"/>
            <a:ext cx="2103120" cy="164592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468880"/>
            <a:ext cx="2103120" cy="914400"/>
          </a:xfrm>
          <a:prstGeom prst="rect">
            <a:avLst/>
          </a:prstGeom>
          <a:solidFill>
            <a:srgbClr val="162030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468880"/>
            <a:ext cx="45720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60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  (ESP32)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816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· Rework switch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switch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3511296"/>
            <a:ext cx="2103120" cy="868680"/>
          </a:xfrm>
          <a:prstGeom prst="rect">
            <a:avLst/>
          </a:prstGeom>
          <a:solidFill>
            <a:srgbClr val="162030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11296"/>
            <a:ext cx="45720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027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Camera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mount · Calibrated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table view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23160" y="1810512"/>
            <a:ext cx="338328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23160" y="2926080"/>
            <a:ext cx="338328" cy="0"/>
          </a:xfrm>
          <a:prstGeom prst="line">
            <a:avLst/>
          </a:prstGeom>
          <a:noFill/>
          <a:ln w="1524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28346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23160" y="3950208"/>
            <a:ext cx="338328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33472" y="3858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88920" y="1280160"/>
            <a:ext cx="3611880" cy="1024128"/>
          </a:xfrm>
          <a:prstGeom prst="rect">
            <a:avLst/>
          </a:prstGeom>
          <a:solidFill>
            <a:srgbClr val="162030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88920" y="1280160"/>
            <a:ext cx="3611880" cy="182880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137160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Sewing Operator Area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0" y="1627632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Object Detection + YOLOv8-Pose Estimation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Dual-Signal Piece Count + Cycle Time Analysis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1792224"/>
            <a:ext cx="292608" cy="0"/>
          </a:xfrm>
          <a:prstGeom prst="line">
            <a:avLst/>
          </a:prstGeom>
          <a:noFill/>
          <a:ln w="15240">
            <a:solidFill>
              <a:srgbClr val="4A6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5392" y="1700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88920" y="2487168"/>
            <a:ext cx="3611880" cy="1024128"/>
          </a:xfrm>
          <a:prstGeom prst="rect">
            <a:avLst/>
          </a:prstGeom>
          <a:solidFill>
            <a:srgbClr val="162030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88920" y="2487168"/>
            <a:ext cx="3611880" cy="182880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257860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— Colour &amp; Style Recognition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26080" y="2834640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Colour Analysis + CNN Classification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Colour % Breakdown + Style Label (Polo / T-Shirt…)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2999232"/>
            <a:ext cx="292608" cy="0"/>
          </a:xfrm>
          <a:prstGeom prst="line">
            <a:avLst/>
          </a:prstGeom>
          <a:noFill/>
          <a:ln w="15240">
            <a:solidFill>
              <a:srgbClr val="4A62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2907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88920" y="3657600"/>
            <a:ext cx="3611880" cy="1024128"/>
          </a:xfrm>
          <a:prstGeom prst="rect">
            <a:avLst/>
          </a:prstGeom>
          <a:solidFill>
            <a:srgbClr val="162030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88920" y="3657600"/>
            <a:ext cx="3611880" cy="182880"/>
          </a:xfrm>
          <a:prstGeom prst="rect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26080" y="374904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— Size Measurement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926080" y="4005072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px/cm Pipeline + Size Thresholds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Width (cm) + Height (cm) + Size Label (S/M/L/XL)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0" y="4169664"/>
            <a:ext cx="292608" cy="0"/>
          </a:xfrm>
          <a:prstGeom prst="line">
            <a:avLst/>
          </a:prstGeom>
          <a:noFill/>
          <a:ln w="15240">
            <a:solidFill>
              <a:srgbClr val="4A62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4078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720840" y="1280160"/>
            <a:ext cx="1463040" cy="2487168"/>
          </a:xfrm>
          <a:prstGeom prst="rect">
            <a:avLst/>
          </a:prstGeom>
          <a:solidFill>
            <a:srgbClr val="162030"/>
          </a:solidFill>
          <a:ln w="1016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20840" y="1280160"/>
            <a:ext cx="1463040" cy="201168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21424" y="1591056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155448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 KPIs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21424" y="2002536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0" y="19659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View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21424" y="2414016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23774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Results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21424" y="2825496"/>
            <a:ext cx="64008" cy="64008"/>
          </a:xfrm>
          <a:prstGeom prst="ellipse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9440" y="278892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21424" y="3236976"/>
            <a:ext cx="64008" cy="64008"/>
          </a:xfrm>
          <a:prstGeom prst="ellipse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9440" y="320040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Status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183880" y="2523744"/>
            <a:ext cx="173736" cy="0"/>
          </a:xfrm>
          <a:prstGeom prst="line">
            <a:avLst/>
          </a:prstGeom>
          <a:noFill/>
          <a:ln w="15240">
            <a:solidFill>
              <a:srgbClr val="4A62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29600" y="2432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366760" y="1554480"/>
            <a:ext cx="640080" cy="640080"/>
          </a:xfrm>
          <a:prstGeom prst="ellipse">
            <a:avLst/>
          </a:prstGeom>
          <a:solidFill>
            <a:srgbClr val="22C55E">
              <a:alpha val="18000"/>
            </a:srgbClr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39328" y="164592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8366760" y="2377440"/>
            <a:ext cx="640080" cy="640080"/>
          </a:xfrm>
          <a:prstGeom prst="ellipse">
            <a:avLst/>
          </a:prstGeom>
          <a:solidFill>
            <a:srgbClr val="3B82F6">
              <a:alpha val="18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39328" y="246888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366760" y="3200400"/>
            <a:ext cx="640080" cy="640080"/>
          </a:xfrm>
          <a:prstGeom prst="ellipse">
            <a:avLst/>
          </a:prstGeom>
          <a:solidFill>
            <a:srgbClr val="A855F7">
              <a:alpha val="18000"/>
            </a:srgbClr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39328" y="329184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20040" y="4617720"/>
            <a:ext cx="4480560" cy="384048"/>
          </a:xfrm>
          <a:prstGeom prst="rect">
            <a:avLst/>
          </a:prstGeom>
          <a:solidFill>
            <a:srgbClr val="1E2D42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57200" y="4663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Pipeline: Raw video footage → video_info.csv  &amp;  state_segments.csv → Model Training → Deployed Inference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 OPERATOR AREA — GARMENT PIECE COUNTING &amp; IOT INTEGRATION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AI-Powered Piece Counting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FLOW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3977640" cy="502920"/>
          </a:xfrm>
          <a:prstGeom prst="rect">
            <a:avLst/>
          </a:prstGeom>
          <a:solidFill>
            <a:srgbClr val="162030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457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624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56362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object detection on output zone region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48840" y="180136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3977640" cy="502920"/>
          </a:xfrm>
          <a:prstGeom prst="rect">
            <a:avLst/>
          </a:prstGeom>
          <a:solidFill>
            <a:srgbClr val="162030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92808"/>
            <a:ext cx="4572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568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 Detection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1579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garment placement in the output zone area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48840" y="239572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487168"/>
            <a:ext cx="3977640" cy="502920"/>
          </a:xfrm>
          <a:prstGeom prst="rect">
            <a:avLst/>
          </a:prstGeom>
          <a:solidFill>
            <a:srgbClr val="162030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87168"/>
            <a:ext cx="4572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5511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Dual-Signal Validation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27523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SIG-A: stationary ≥1.5s  |  SIG-B: wrist withdraw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48840" y="299008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81528"/>
            <a:ext cx="3977640" cy="502920"/>
          </a:xfrm>
          <a:prstGeom prst="rect">
            <a:avLst/>
          </a:prstGeom>
          <a:solidFill>
            <a:srgbClr val="162030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81528"/>
            <a:ext cx="457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1455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Count + Cycle 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334670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counter and record cycle duration in ms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48840" y="358444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675888"/>
            <a:ext cx="3977640" cy="502920"/>
          </a:xfrm>
          <a:prstGeom prst="rect">
            <a:avLst/>
          </a:prstGeom>
          <a:solidFill>
            <a:srgbClr val="162030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675888"/>
            <a:ext cx="457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739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Event Capture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39410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records operator-triggered rework / downtime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148840" y="417880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270248"/>
            <a:ext cx="3977640" cy="502920"/>
          </a:xfrm>
          <a:prstGeom prst="rect">
            <a:avLst/>
          </a:prstGeom>
          <a:solidFill>
            <a:srgbClr val="162030"/>
          </a:solidFill>
          <a:ln w="10160">
            <a:solidFill>
              <a:srgbClr val="A855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270248"/>
            <a:ext cx="45720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3342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453542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display: count, cycle, shift progress, events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17720" y="105156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NOVELTY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17720" y="1298448"/>
            <a:ext cx="4160520" cy="1417320"/>
          </a:xfrm>
          <a:prstGeom prst="rect">
            <a:avLst/>
          </a:prstGeom>
          <a:solidFill>
            <a:srgbClr val="162030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1298448"/>
            <a:ext cx="45720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1389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Dual-Signal Counting Architecture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91456" y="1700784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SIG-A: YOLOv8 detects garment stationary in output zone ≥1.5 seconds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SIG-B: YOLOv8-Pose detects wrist entered then withdrew from zone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fires ONLY when both signals agree within a 3-second window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2834640"/>
            <a:ext cx="4160520" cy="1097280"/>
          </a:xfrm>
          <a:prstGeom prst="rect">
            <a:avLst/>
          </a:prstGeom>
          <a:solidFill>
            <a:srgbClr val="162030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2834640"/>
            <a:ext cx="45720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2926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Count Prevention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91456" y="32186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pass-through only → SIG-A fails — no garment is stationary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 drape only → SIG-B fails — no wrist withdrawal detected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placement → Both signals fire → count is recorded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17720" y="4059936"/>
            <a:ext cx="4160520" cy="731520"/>
          </a:xfrm>
          <a:prstGeom prst="rect">
            <a:avLst/>
          </a:prstGeom>
          <a:solidFill>
            <a:srgbClr val="162030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17720" y="4059936"/>
            <a:ext cx="45720" cy="731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91456" y="4133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 — ESP32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91456" y="4389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operator-triggered rework and downtime event capture via wireless ESP32 device with two physical switches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HOW THE COUNTING STRATEGY EVOLVED THROUGH REAL-WORLD OBSERVATION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the Counting Approach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3611880" cy="3840480"/>
          </a:xfrm>
          <a:prstGeom prst="rect">
            <a:avLst/>
          </a:prstGeom>
          <a:solidFill>
            <a:srgbClr val="162030"/>
          </a:solidFill>
          <a:ln w="10160">
            <a:solidFill>
              <a:srgbClr val="F9731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42416"/>
            <a:ext cx="45720" cy="3840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155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CONCEPT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310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was to define a fixed Output Zone in the workstation camera view. When the operator's hand or finished garment entered that zone, the system would increment the piece counter.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0352" y="2286000"/>
            <a:ext cx="841248" cy="438912"/>
          </a:xfrm>
          <a:prstGeom prst="rect">
            <a:avLst/>
          </a:prstGeom>
          <a:solidFill>
            <a:srgbClr val="1E2D42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286000"/>
            <a:ext cx="841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371600" y="2505456"/>
            <a:ext cx="310896" cy="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24140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19072" y="2103120"/>
            <a:ext cx="1170432" cy="804672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ysDash"/>
          </a:ln>
        </p:spPr>
      </p:sp>
      <p:sp>
        <p:nvSpPr>
          <p:cNvPr id="13" name="Text 11"/>
          <p:cNvSpPr/>
          <p:nvPr/>
        </p:nvSpPr>
        <p:spPr>
          <a:xfrm>
            <a:off x="1719072" y="2103120"/>
            <a:ext cx="11704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889504" y="2505456"/>
            <a:ext cx="310896" cy="0"/>
          </a:xfrm>
          <a:prstGeom prst="line">
            <a:avLst/>
          </a:prstGeom>
          <a:noFill/>
          <a:ln w="1524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54096" y="24140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36976" y="2231136"/>
            <a:ext cx="594360" cy="512064"/>
          </a:xfrm>
          <a:prstGeom prst="ellipse">
            <a:avLst/>
          </a:prstGeom>
          <a:solidFill>
            <a:srgbClr val="22C55E">
              <a:alpha val="18000"/>
            </a:srgbClr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36976" y="2231136"/>
            <a:ext cx="594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or garment enters zone  →  counter +1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12064" y="3346704"/>
            <a:ext cx="3310128" cy="1371600"/>
          </a:xfrm>
          <a:prstGeom prst="rect">
            <a:avLst/>
          </a:prstGeom>
          <a:solidFill>
            <a:srgbClr val="F97316">
              <a:alpha val="8000"/>
            </a:srgbClr>
          </a:solidFill>
          <a:ln w="8890">
            <a:solidFill>
              <a:srgbClr val="F97316"/>
            </a:solidFill>
            <a:prstDash val="sysDash"/>
          </a:ln>
        </p:spPr>
      </p:sp>
      <p:sp>
        <p:nvSpPr>
          <p:cNvPr id="20" name="Text 18"/>
          <p:cNvSpPr/>
          <p:nvPr/>
        </p:nvSpPr>
        <p:spPr>
          <a:xfrm>
            <a:off x="640080" y="3438144"/>
            <a:ext cx="30540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
</a:t>
            </a:r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only worked under controlled, ideal conditions. Real factory environments are far more variable in layout, operator behaviour, and garment handling.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60520" y="1042416"/>
            <a:ext cx="4617720" cy="3840480"/>
          </a:xfrm>
          <a:prstGeom prst="rect">
            <a:avLst/>
          </a:prstGeom>
          <a:solidFill>
            <a:srgbClr val="162030"/>
          </a:solidFill>
          <a:ln w="1016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60520" y="1042416"/>
            <a:ext cx="45720" cy="3840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111556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 CHANGED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43400" y="1371600"/>
            <a:ext cx="4251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factory visit and reviewing real video footage, it became clear this approach is not reliable in practical factory conditions: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15968" y="2048256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5424" y="2002536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operators have a clear output zone, but others do not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15968" y="2523744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35424" y="2478024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garments are placed in different directions — right, left, front, or into a bucket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15968" y="2999232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35424" y="2953512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Garment pieces can pile up in one place, causing zone-based counting errors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15968" y="3474720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35424" y="3429000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posture changes naturally — the sewing area can be blocked by head or body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15968" y="3950208"/>
            <a:ext cx="82296" cy="822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35424" y="3904488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may pause or rest, which can create false counter increments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STATE-BASED VISION MODEL FOR RELIABLE PIECE COUNTING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State-Based Counting Approach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STATE RECOGNITION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316736"/>
            <a:ext cx="3840480" cy="658368"/>
          </a:xfrm>
          <a:prstGeom prst="rect">
            <a:avLst/>
          </a:prstGeom>
          <a:solidFill>
            <a:srgbClr val="162030"/>
          </a:solidFill>
          <a:ln w="10160">
            <a:solidFill>
              <a:srgbClr val="8FA8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16736"/>
            <a:ext cx="45720" cy="658368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481328"/>
            <a:ext cx="1426464" cy="274320"/>
          </a:xfrm>
          <a:prstGeom prst="rect">
            <a:avLst/>
          </a:prstGeom>
          <a:solidFill>
            <a:srgbClr val="8FA8C8">
              <a:alpha val="20000"/>
            </a:srgbClr>
          </a:solidFill>
          <a:ln w="7620">
            <a:solidFill>
              <a:srgbClr val="8F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813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idle_setup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066544" y="149961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setting up — preparing to sew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029968"/>
            <a:ext cx="0" cy="128016"/>
          </a:xfrm>
          <a:prstGeom prst="line">
            <a:avLst/>
          </a:prstGeom>
          <a:noFill/>
          <a:ln w="12700">
            <a:solidFill>
              <a:srgbClr val="2D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20116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231136"/>
            <a:ext cx="3840480" cy="658368"/>
          </a:xfrm>
          <a:prstGeom prst="rect">
            <a:avLst/>
          </a:prstGeom>
          <a:solidFill>
            <a:srgbClr val="3B82F6">
              <a:alpha val="12000"/>
            </a:srgbClr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31136"/>
            <a:ext cx="4572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395728"/>
            <a:ext cx="1426464" cy="274320"/>
          </a:xfrm>
          <a:prstGeom prst="rect">
            <a:avLst/>
          </a:prstGeom>
          <a:solidFill>
            <a:srgbClr val="3B82F6">
              <a:alpha val="20000"/>
            </a:srgbClr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3957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66544" y="241401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operating the sewing machine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89504"/>
            <a:ext cx="3840480" cy="237744"/>
          </a:xfrm>
          <a:prstGeom prst="rect">
            <a:avLst/>
          </a:prstGeom>
          <a:solidFill>
            <a:srgbClr val="22C55E">
              <a:alpha val="18000"/>
            </a:srgbClr>
          </a:solidFill>
          <a:ln w="10160">
            <a:solidFill>
              <a:srgbClr val="22C55E"/>
            </a:solidFill>
            <a:prstDash val="sysDash"/>
          </a:ln>
        </p:spPr>
      </p:sp>
      <p:sp>
        <p:nvSpPr>
          <p:cNvPr id="18" name="Text 16"/>
          <p:cNvSpPr/>
          <p:nvPr/>
        </p:nvSpPr>
        <p:spPr>
          <a:xfrm>
            <a:off x="475488" y="29260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PIECE COUNTED  +  CYCLE TIME RECORDED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145536"/>
            <a:ext cx="3840480" cy="658368"/>
          </a:xfrm>
          <a:prstGeom prst="rect">
            <a:avLst/>
          </a:prstGeom>
          <a:solidFill>
            <a:srgbClr val="22C55E">
              <a:alpha val="12000"/>
            </a:srgbClr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45536"/>
            <a:ext cx="45720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310128"/>
            <a:ext cx="1426464" cy="274320"/>
          </a:xfrm>
          <a:prstGeom prst="rect">
            <a:avLst/>
          </a:prstGeom>
          <a:solidFill>
            <a:srgbClr val="22C55E">
              <a:alpha val="20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3101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put_aside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66544" y="332841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Placing completed garment piece aside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0" y="3858768"/>
            <a:ext cx="0" cy="128016"/>
          </a:xfrm>
          <a:prstGeom prst="line">
            <a:avLst/>
          </a:prstGeom>
          <a:noFill/>
          <a:ln w="12700">
            <a:solidFill>
              <a:srgbClr val="2D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38404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4059936"/>
            <a:ext cx="3840480" cy="658368"/>
          </a:xfrm>
          <a:prstGeom prst="rect">
            <a:avLst/>
          </a:prstGeom>
          <a:solidFill>
            <a:srgbClr val="162030"/>
          </a:solidFill>
          <a:ln w="10160">
            <a:solidFill>
              <a:srgbClr val="8FA8C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59936"/>
            <a:ext cx="45720" cy="658368"/>
          </a:xfrm>
          <a:prstGeom prst="rect">
            <a:avLst/>
          </a:prstGeom>
          <a:solidFill>
            <a:srgbClr val="8FA8C8"/>
          </a:solidFill>
          <a:ln w="12700">
            <a:solidFill>
              <a:srgbClr val="8FA8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4224528"/>
            <a:ext cx="1426464" cy="274320"/>
          </a:xfrm>
          <a:prstGeom prst="rect">
            <a:avLst/>
          </a:prstGeom>
          <a:solidFill>
            <a:srgbClr val="8FA8C8">
              <a:alpha val="20000"/>
            </a:srgbClr>
          </a:solidFill>
          <a:ln w="7620">
            <a:solidFill>
              <a:srgbClr val="8FA8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22452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rest_pause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066544" y="424281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rest or pause in the workflow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07408" y="105156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DIRECTION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407408" y="1298448"/>
            <a:ext cx="4370832" cy="1719072"/>
          </a:xfrm>
          <a:prstGeom prst="rect">
            <a:avLst/>
          </a:prstGeom>
          <a:solidFill>
            <a:srgbClr val="162030"/>
          </a:solidFill>
          <a:ln w="1016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07408" y="1298448"/>
            <a:ext cx="45720" cy="17190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0288" y="13898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by State Transition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90288" y="1719072"/>
            <a:ext cx="4005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increments ONLY when the system identifies a valid sewing → put_aside state transition. This is far more reliable than monitoring a fixed spatial zone, and works consistently across all operators and factory layouts.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07408" y="3163824"/>
            <a:ext cx="4370832" cy="1609344"/>
          </a:xfrm>
          <a:prstGeom prst="rect">
            <a:avLst/>
          </a:prstGeom>
          <a:solidFill>
            <a:srgbClr val="162030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07408" y="3163824"/>
            <a:ext cx="45720" cy="16093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90288" y="32552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 in Real Factories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90288" y="3566160"/>
            <a:ext cx="40050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regardless of operator layout, output direction, or garment piling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Unaffected by posture changes or partial body occlusions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per piece is automatically calculated from sewing → put_aside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supports the state_segments.csv dataset annotation structure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SEWING OPERATOR AREA · PROGRESS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Training Dataset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042416"/>
            <a:ext cx="8412480" cy="512064"/>
          </a:xfrm>
          <a:prstGeom prst="rect">
            <a:avLst/>
          </a:prstGeom>
          <a:solidFill>
            <a:srgbClr val="1E2D42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133856"/>
            <a:ext cx="8065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sewing workstation video footage was systematically reviewed and renamed with a consistent format. Two structured CSV files were produced to form the dataset foundation for model development.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682496"/>
            <a:ext cx="4069080" cy="3054096"/>
          </a:xfrm>
          <a:prstGeom prst="rect">
            <a:avLst/>
          </a:prstGeom>
          <a:solidFill>
            <a:srgbClr val="162030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82496"/>
            <a:ext cx="45720" cy="30540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82496"/>
            <a:ext cx="4069080" cy="329184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7465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video_info.csv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metadata &amp; quality assessment file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0352" y="2450592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414016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ID, Operator ID, Duration, FPS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2734056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69748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Visibility: head, arms, shoulders, sewing machine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3017520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98094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zone visibility · Lighting condition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" y="3300984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26440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Occlusion level · Placement direction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" y="3584448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547872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completed pieces · Difficulty level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0352" y="3867912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831336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on practical issues in the footage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3776" y="4096512"/>
            <a:ext cx="3785616" cy="548640"/>
          </a:xfrm>
          <a:prstGeom prst="rect">
            <a:avLst/>
          </a:prstGeom>
          <a:solidFill>
            <a:srgbClr val="3B82F6">
              <a:alpha val="12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4133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Assess dataset quality, identify easy/medium/hard videos, and select pilot footage for the first model development stage.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1682496"/>
            <a:ext cx="4069080" cy="3054096"/>
          </a:xfrm>
          <a:prstGeom prst="rect">
            <a:avLst/>
          </a:prstGeom>
          <a:solidFill>
            <a:srgbClr val="162030"/>
          </a:solidFill>
          <a:ln w="1016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682496"/>
            <a:ext cx="45720" cy="30540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9160" y="1682496"/>
            <a:ext cx="4069080" cy="329184"/>
          </a:xfrm>
          <a:prstGeom prst="rect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17465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state_segments.csv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73752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state annotation file per video segment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73752" y="2377440"/>
            <a:ext cx="896112" cy="256032"/>
          </a:xfrm>
          <a:prstGeom prst="rect">
            <a:avLst/>
          </a:prstGeom>
          <a:solidFill>
            <a:srgbClr val="8FA8C8">
              <a:alpha val="20000"/>
            </a:srgbClr>
          </a:solidFill>
          <a:ln w="6350">
            <a:solidFill>
              <a:srgbClr val="8FA8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237744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idle_setup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33872" y="2377440"/>
            <a:ext cx="896112" cy="256032"/>
          </a:xfrm>
          <a:prstGeom prst="rect">
            <a:avLst/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237744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793992" y="2377440"/>
            <a:ext cx="896112" cy="256032"/>
          </a:xfrm>
          <a:prstGeom prst="rect">
            <a:avLst/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237744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put_aside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754112" y="2377440"/>
            <a:ext cx="896112" cy="256032"/>
          </a:xfrm>
          <a:prstGeom prst="rect">
            <a:avLst/>
          </a:prstGeom>
          <a:solidFill>
            <a:srgbClr val="EAB308">
              <a:alpha val="20000"/>
            </a:srgbClr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54112" y="237744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rest_pause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73752" y="2761488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0056" y="2724912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ID, Segment ID, state label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73752" y="3035808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9232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frame + End frame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73752" y="3310128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0056" y="3273552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time + End time (HH:MM:SS)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73752" y="3584448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0056" y="3547872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 · Visibility status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73752" y="3858768"/>
            <a:ext cx="64008" cy="640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0056" y="3822192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on annotation decisions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37176" y="4096512"/>
            <a:ext cx="3785616" cy="548640"/>
          </a:xfrm>
          <a:prstGeom prst="rect">
            <a:avLst/>
          </a:prstGeom>
          <a:solidFill>
            <a:srgbClr val="14B8A6">
              <a:alpha val="12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46904" y="4133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Convert raw operator video behaviour into structured training labels — enabling the state-recognition model to learn piece completion events and calculate cycle time.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5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R-26-IT-054 — CURRENT IMPLEMENTATION STATUS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47472" y="1042416"/>
            <a:ext cx="2651760" cy="3749040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42416"/>
            <a:ext cx="45720" cy="3749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1338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STACK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46120" y="1042416"/>
            <a:ext cx="2651760" cy="3749040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042416"/>
            <a:ext cx="45720" cy="3749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1338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EVIDENCE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144768" y="1042416"/>
            <a:ext cx="2651760" cy="3749040"/>
          </a:xfrm>
          <a:prstGeom prst="rect">
            <a:avLst/>
          </a:prstGeom>
          <a:solidFill>
            <a:srgbClr val="162030"/>
          </a:solidFill>
          <a:ln w="10160">
            <a:solidFill>
              <a:srgbClr val="2D4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44768" y="1042416"/>
            <a:ext cx="45720" cy="37490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1338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3776" y="1444752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1499616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" y="168249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 Router · SSR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3776" y="1965960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202082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" y="220370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type safety throughout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3776" y="2487168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25420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" y="2724912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dark theme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3776" y="3008376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306324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" y="3246120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 management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3776" y="3529584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" y="358444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" y="3767328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production charts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93776" y="4050792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" y="4105656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" y="428853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+ dark theme support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92424" y="1444752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11296" y="160934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75888" y="149961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Setup Wizard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75888" y="168249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✓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92424" y="1965960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11296" y="2130552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75888" y="2020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Sewing Live Dashboard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75888" y="2203704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✓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92424" y="2487168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11296" y="265176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75888" y="254203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Dashboard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75888" y="27249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✓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92424" y="3008376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11296" y="317296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306324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Dual-Signal Simulation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75888" y="324612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✓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392424" y="3529584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11296" y="3694176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75888" y="358444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Devices Pages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75888" y="3767328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✓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392424" y="4050792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11296" y="421538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75888" y="410565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Control Panel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675888" y="4288536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✓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91072" y="1444752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1499616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00800" y="168249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 endpoints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291072" y="1965960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202082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Camera Feed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400800" y="220370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MJPEG stream integration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291072" y="2487168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0" y="25420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WebSocket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00800" y="2724912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ESP32 event stream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91072" y="3008376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0" y="306324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Inference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400800" y="3246120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 pipeline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291072" y="3529584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0" y="358444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PDF Export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0" y="3767328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report generation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291072" y="4050792"/>
            <a:ext cx="2359152" cy="438912"/>
          </a:xfrm>
          <a:prstGeom prst="rect">
            <a:avLst/>
          </a:prstGeom>
          <a:solidFill>
            <a:srgbClr val="1E2D42"/>
          </a:solidFill>
          <a:ln w="7620">
            <a:solidFill>
              <a:srgbClr val="2D406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0800" y="4105656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Wizard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400800" y="428853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px/cm setup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Vision System — Progress Presentation</dc:title>
  <dc:subject>PptxGenJS Presentation</dc:subject>
  <dc:creator>Nuwandha Dharmarathna</dc:creator>
  <cp:lastModifiedBy>Nuwandha Dharmarathna</cp:lastModifiedBy>
  <cp:revision>1</cp:revision>
  <dcterms:created xsi:type="dcterms:W3CDTF">2026-05-08T11:51:24Z</dcterms:created>
  <dcterms:modified xsi:type="dcterms:W3CDTF">2026-05-08T11:51:24Z</dcterms:modified>
</cp:coreProperties>
</file>