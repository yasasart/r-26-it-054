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Calibri (MS)" charset="1" panose="020F0502020204030204"/>
      <p:regular r:id="rId34"/>
    </p:embeddedFont>
    <p:embeddedFont>
      <p:font typeface="Georgia Bold" charset="1" panose="02040802050405020203"/>
      <p:regular r:id="rId35"/>
    </p:embeddedFont>
    <p:embeddedFont>
      <p:font typeface="Calibri (MS) Bold" charset="1" panose="020F0702030404030204"/>
      <p:regular r:id="rId36"/>
    </p:embeddedFont>
    <p:embeddedFont>
      <p:font typeface="Calibri (MS) Italics" charset="1" panose="020F05020202040A0204"/>
      <p:regular r:id="rId37"/>
    </p:embeddedFont>
    <p:embeddedFont>
      <p:font typeface="Canva Sans Bold" charset="1" panose="020B0803030501040103"/>
      <p:regular r:id="rId38"/>
    </p:embeddedFont>
    <p:embeddedFont>
      <p:font typeface="Canva Sans" charset="1" panose="020B05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9.fntdata"/><Relationship Id="rId21" Type="http://schemas.openxmlformats.org/officeDocument/2006/relationships/slide" Target="slides/slide16.xml"/><Relationship Id="rId34" Type="http://schemas.openxmlformats.org/officeDocument/2006/relationships/font" Target="fonts/font34.fntdata"/><Relationship Id="rId42" Type="http://schemas.openxmlformats.org/officeDocument/2006/relationships/customXml" Target="../customXml/item3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37.fntdata"/><Relationship Id="rId6" Type="http://schemas.openxmlformats.org/officeDocument/2006/relationships/slide" Target="slides/slide1.xml"/><Relationship Id="rId40" Type="http://schemas.openxmlformats.org/officeDocument/2006/relationships/customXml" Target="../customXml/item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36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35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38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83" t="0" r="-10483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5720"/>
            <a:ext cx="18288000" cy="10378440"/>
          </a:xfrm>
          <a:custGeom>
            <a:avLst/>
            <a:gdLst/>
            <a:ahLst/>
            <a:cxnLst/>
            <a:rect r="r" b="b" t="t" l="l"/>
            <a:pathLst>
              <a:path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PANEL &amp; SUPERVISOR FEEDBACK — POST-PROPOSAL REVIEW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Addressing Proposal Comments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7881623" cy="3346199"/>
            <a:chOff x="0" y="0"/>
            <a:chExt cx="10508831" cy="44615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1048512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08742" cy="4461510"/>
            </a:xfrm>
            <a:custGeom>
              <a:avLst/>
              <a:gdLst/>
              <a:ahLst/>
              <a:cxnLst/>
              <a:rect r="r" b="b" t="t" l="l"/>
              <a:pathLst>
                <a:path h="4461510" w="10508742">
                  <a:moveTo>
                    <a:pt x="11811" y="0"/>
                  </a:moveTo>
                  <a:lnTo>
                    <a:pt x="10496931" y="0"/>
                  </a:lnTo>
                  <a:cubicBezTo>
                    <a:pt x="10503535" y="0"/>
                    <a:pt x="10508742" y="5334"/>
                    <a:pt x="10508742" y="11811"/>
                  </a:cubicBezTo>
                  <a:lnTo>
                    <a:pt x="10508742" y="4449699"/>
                  </a:lnTo>
                  <a:cubicBezTo>
                    <a:pt x="10508742" y="4456303"/>
                    <a:pt x="10503408" y="4461510"/>
                    <a:pt x="10496931" y="4461510"/>
                  </a:cubicBezTo>
                  <a:lnTo>
                    <a:pt x="11811" y="4461510"/>
                  </a:lnTo>
                  <a:cubicBezTo>
                    <a:pt x="5207" y="4461510"/>
                    <a:pt x="0" y="4456176"/>
                    <a:pt x="0" y="444969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449699"/>
                  </a:lnTo>
                  <a:lnTo>
                    <a:pt x="11811" y="4449699"/>
                  </a:lnTo>
                  <a:lnTo>
                    <a:pt x="11811" y="4437888"/>
                  </a:lnTo>
                  <a:lnTo>
                    <a:pt x="10496931" y="4437888"/>
                  </a:lnTo>
                  <a:lnTo>
                    <a:pt x="10496931" y="4449699"/>
                  </a:lnTo>
                  <a:lnTo>
                    <a:pt x="10485120" y="4449699"/>
                  </a:lnTo>
                  <a:lnTo>
                    <a:pt x="10485120" y="11811"/>
                  </a:lnTo>
                  <a:lnTo>
                    <a:pt x="10496931" y="11811"/>
                  </a:lnTo>
                  <a:lnTo>
                    <a:pt x="104969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5399" y="2108711"/>
            <a:ext cx="125987" cy="3353819"/>
            <a:chOff x="0" y="0"/>
            <a:chExt cx="167983" cy="44717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34112" cy="4437888"/>
            </a:xfrm>
            <a:custGeom>
              <a:avLst/>
              <a:gdLst/>
              <a:ahLst/>
              <a:cxnLst/>
              <a:rect r="r" b="b" t="t" l="l"/>
              <a:pathLst>
                <a:path h="443788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894" cy="4471670"/>
            </a:xfrm>
            <a:custGeom>
              <a:avLst/>
              <a:gdLst/>
              <a:ahLst/>
              <a:cxnLst/>
              <a:rect r="r" b="b" t="t" l="l"/>
              <a:pathLst>
                <a:path h="447167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4454779"/>
                  </a:lnTo>
                  <a:cubicBezTo>
                    <a:pt x="167894" y="4464177"/>
                    <a:pt x="160274" y="4471670"/>
                    <a:pt x="15100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151003" y="4437888"/>
                  </a:lnTo>
                  <a:lnTo>
                    <a:pt x="151003" y="4454779"/>
                  </a:lnTo>
                  <a:lnTo>
                    <a:pt x="134112" y="445477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74855" y="2346455"/>
            <a:ext cx="610619" cy="610619"/>
            <a:chOff x="0" y="0"/>
            <a:chExt cx="814159" cy="8141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87552" y="2359152"/>
            <a:ext cx="585216" cy="585216"/>
            <a:chOff x="0" y="0"/>
            <a:chExt cx="780288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8028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28800" y="2377440"/>
            <a:ext cx="6547104" cy="475488"/>
            <a:chOff x="0" y="0"/>
            <a:chExt cx="8729472" cy="633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29472" cy="633984"/>
            </a:xfrm>
            <a:custGeom>
              <a:avLst/>
              <a:gdLst/>
              <a:ahLst/>
              <a:cxnLst/>
              <a:rect r="r" b="b" t="t" l="l"/>
              <a:pathLst>
                <a:path h="633984" w="8729472">
                  <a:moveTo>
                    <a:pt x="0" y="0"/>
                  </a:moveTo>
                  <a:lnTo>
                    <a:pt x="8729472" y="0"/>
                  </a:lnTo>
                  <a:lnTo>
                    <a:pt x="87294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93" r="0" b="-2182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29472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 2 Workload Division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97280" y="2988183"/>
            <a:ext cx="7278624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2</a:t>
            </a: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only handles Sewing Operator Area — dual-signal piece counting and IoT part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Second member handles Quality Checker Area — counting good and rework pieces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952233" y="2112521"/>
            <a:ext cx="7881623" cy="3346199"/>
            <a:chOff x="0" y="0"/>
            <a:chExt cx="10508831" cy="44615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1811" y="11811"/>
              <a:ext cx="1048512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CCFBF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08742" cy="4461510"/>
            </a:xfrm>
            <a:custGeom>
              <a:avLst/>
              <a:gdLst/>
              <a:ahLst/>
              <a:cxnLst/>
              <a:rect r="r" b="b" t="t" l="l"/>
              <a:pathLst>
                <a:path h="4461510" w="10508742">
                  <a:moveTo>
                    <a:pt x="11811" y="0"/>
                  </a:moveTo>
                  <a:lnTo>
                    <a:pt x="10496931" y="0"/>
                  </a:lnTo>
                  <a:cubicBezTo>
                    <a:pt x="10503535" y="0"/>
                    <a:pt x="10508742" y="5334"/>
                    <a:pt x="10508742" y="11811"/>
                  </a:cubicBezTo>
                  <a:lnTo>
                    <a:pt x="10508742" y="4449699"/>
                  </a:lnTo>
                  <a:cubicBezTo>
                    <a:pt x="10508742" y="4456303"/>
                    <a:pt x="10503408" y="4461510"/>
                    <a:pt x="10496931" y="4461510"/>
                  </a:cubicBezTo>
                  <a:lnTo>
                    <a:pt x="11811" y="4461510"/>
                  </a:lnTo>
                  <a:cubicBezTo>
                    <a:pt x="5207" y="4461510"/>
                    <a:pt x="0" y="4456176"/>
                    <a:pt x="0" y="444969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449699"/>
                  </a:lnTo>
                  <a:lnTo>
                    <a:pt x="11811" y="4449699"/>
                  </a:lnTo>
                  <a:lnTo>
                    <a:pt x="11811" y="4437888"/>
                  </a:lnTo>
                  <a:lnTo>
                    <a:pt x="10496931" y="4437888"/>
                  </a:lnTo>
                  <a:lnTo>
                    <a:pt x="10496931" y="4449699"/>
                  </a:lnTo>
                  <a:lnTo>
                    <a:pt x="10485120" y="4449699"/>
                  </a:lnTo>
                  <a:lnTo>
                    <a:pt x="10485120" y="11811"/>
                  </a:lnTo>
                  <a:lnTo>
                    <a:pt x="10496931" y="11811"/>
                  </a:lnTo>
                  <a:lnTo>
                    <a:pt x="104969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948423" y="2108711"/>
            <a:ext cx="125987" cy="3353819"/>
            <a:chOff x="0" y="0"/>
            <a:chExt cx="167983" cy="44717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" cy="4437888"/>
            </a:xfrm>
            <a:custGeom>
              <a:avLst/>
              <a:gdLst/>
              <a:ahLst/>
              <a:cxnLst/>
              <a:rect r="r" b="b" t="t" l="l"/>
              <a:pathLst>
                <a:path h="443788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7894" cy="4471670"/>
            </a:xfrm>
            <a:custGeom>
              <a:avLst/>
              <a:gdLst/>
              <a:ahLst/>
              <a:cxnLst/>
              <a:rect r="r" b="b" t="t" l="l"/>
              <a:pathLst>
                <a:path h="447167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4454779"/>
                  </a:lnTo>
                  <a:cubicBezTo>
                    <a:pt x="167894" y="4464177"/>
                    <a:pt x="160274" y="4471670"/>
                    <a:pt x="15100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151003" y="4437888"/>
                  </a:lnTo>
                  <a:lnTo>
                    <a:pt x="151003" y="4454779"/>
                  </a:lnTo>
                  <a:lnTo>
                    <a:pt x="134112" y="445477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67879" y="2346455"/>
            <a:ext cx="610619" cy="610619"/>
            <a:chOff x="0" y="0"/>
            <a:chExt cx="814159" cy="8141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80576" y="2359152"/>
            <a:ext cx="585216" cy="585216"/>
            <a:chOff x="0" y="0"/>
            <a:chExt cx="780288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8028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21824" y="2377440"/>
            <a:ext cx="6547104" cy="475488"/>
            <a:chOff x="0" y="0"/>
            <a:chExt cx="872947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29472" cy="633984"/>
            </a:xfrm>
            <a:custGeom>
              <a:avLst/>
              <a:gdLst/>
              <a:ahLst/>
              <a:cxnLst/>
              <a:rect r="r" b="b" t="t" l="l"/>
              <a:pathLst>
                <a:path h="633984" w="8729472">
                  <a:moveTo>
                    <a:pt x="0" y="0"/>
                  </a:moveTo>
                  <a:lnTo>
                    <a:pt x="8729472" y="0"/>
                  </a:lnTo>
                  <a:lnTo>
                    <a:pt x="87294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93" r="0" b="-21829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729472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Garment Size Dataset for Feature 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290304" y="2988183"/>
            <a:ext cx="7278624" cy="227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 size-labelled dataset covering UK, US, and EUR international sizing standards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Required because the factory produces clothing for multiple international markets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59209" y="5696969"/>
            <a:ext cx="7881623" cy="3346199"/>
            <a:chOff x="0" y="0"/>
            <a:chExt cx="10508831" cy="44615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1811" y="11811"/>
              <a:ext cx="1048512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08742" cy="4461510"/>
            </a:xfrm>
            <a:custGeom>
              <a:avLst/>
              <a:gdLst/>
              <a:ahLst/>
              <a:cxnLst/>
              <a:rect r="r" b="b" t="t" l="l"/>
              <a:pathLst>
                <a:path h="4461510" w="10508742">
                  <a:moveTo>
                    <a:pt x="11811" y="0"/>
                  </a:moveTo>
                  <a:lnTo>
                    <a:pt x="10496931" y="0"/>
                  </a:lnTo>
                  <a:cubicBezTo>
                    <a:pt x="10503535" y="0"/>
                    <a:pt x="10508742" y="5334"/>
                    <a:pt x="10508742" y="11811"/>
                  </a:cubicBezTo>
                  <a:lnTo>
                    <a:pt x="10508742" y="4449699"/>
                  </a:lnTo>
                  <a:cubicBezTo>
                    <a:pt x="10508742" y="4456303"/>
                    <a:pt x="10503408" y="4461510"/>
                    <a:pt x="10496931" y="4461510"/>
                  </a:cubicBezTo>
                  <a:lnTo>
                    <a:pt x="11811" y="4461510"/>
                  </a:lnTo>
                  <a:cubicBezTo>
                    <a:pt x="5207" y="4461510"/>
                    <a:pt x="0" y="4456176"/>
                    <a:pt x="0" y="444969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449699"/>
                  </a:lnTo>
                  <a:lnTo>
                    <a:pt x="11811" y="4449699"/>
                  </a:lnTo>
                  <a:lnTo>
                    <a:pt x="11811" y="4437888"/>
                  </a:lnTo>
                  <a:lnTo>
                    <a:pt x="10496931" y="4437888"/>
                  </a:lnTo>
                  <a:lnTo>
                    <a:pt x="10496931" y="4449699"/>
                  </a:lnTo>
                  <a:lnTo>
                    <a:pt x="10485120" y="4449699"/>
                  </a:lnTo>
                  <a:lnTo>
                    <a:pt x="10485120" y="11811"/>
                  </a:lnTo>
                  <a:lnTo>
                    <a:pt x="10496931" y="11811"/>
                  </a:lnTo>
                  <a:lnTo>
                    <a:pt x="104969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55399" y="5693159"/>
            <a:ext cx="125987" cy="3353819"/>
            <a:chOff x="0" y="0"/>
            <a:chExt cx="167983" cy="447175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34112" cy="4437888"/>
            </a:xfrm>
            <a:custGeom>
              <a:avLst/>
              <a:gdLst/>
              <a:ahLst/>
              <a:cxnLst/>
              <a:rect r="r" b="b" t="t" l="l"/>
              <a:pathLst>
                <a:path h="443788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92400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7894" cy="4471670"/>
            </a:xfrm>
            <a:custGeom>
              <a:avLst/>
              <a:gdLst/>
              <a:ahLst/>
              <a:cxnLst/>
              <a:rect r="r" b="b" t="t" l="l"/>
              <a:pathLst>
                <a:path h="447167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4454779"/>
                  </a:lnTo>
                  <a:cubicBezTo>
                    <a:pt x="167894" y="4464177"/>
                    <a:pt x="160274" y="4471670"/>
                    <a:pt x="15100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151003" y="4437888"/>
                  </a:lnTo>
                  <a:lnTo>
                    <a:pt x="151003" y="4454779"/>
                  </a:lnTo>
                  <a:lnTo>
                    <a:pt x="134112" y="445477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400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4855" y="5930903"/>
            <a:ext cx="610619" cy="610619"/>
            <a:chOff x="0" y="0"/>
            <a:chExt cx="814159" cy="8141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92400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92400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7552" y="5943600"/>
            <a:ext cx="585216" cy="585216"/>
            <a:chOff x="0" y="0"/>
            <a:chExt cx="780288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8028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828800" y="5961888"/>
            <a:ext cx="6547104" cy="475488"/>
            <a:chOff x="0" y="0"/>
            <a:chExt cx="8729472" cy="6339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29472" cy="633984"/>
            </a:xfrm>
            <a:custGeom>
              <a:avLst/>
              <a:gdLst/>
              <a:ahLst/>
              <a:cxnLst/>
              <a:rect r="r" b="b" t="t" l="l"/>
              <a:pathLst>
                <a:path h="633984" w="8729472">
                  <a:moveTo>
                    <a:pt x="0" y="0"/>
                  </a:moveTo>
                  <a:lnTo>
                    <a:pt x="8729472" y="0"/>
                  </a:lnTo>
                  <a:lnTo>
                    <a:pt x="87294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93" r="0" b="-21829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729472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Separate Datasets for Feature 1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97280" y="6767048"/>
            <a:ext cx="7278624" cy="227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two distinct labelled video datasets: Sewing Operator Workflow + Quality Checker Workflow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independent model development for Feature 1's action-recognition component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952233" y="5696969"/>
            <a:ext cx="7881623" cy="3346199"/>
            <a:chOff x="0" y="0"/>
            <a:chExt cx="10508831" cy="44615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1811" y="11811"/>
              <a:ext cx="1048512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508742" cy="4461510"/>
            </a:xfrm>
            <a:custGeom>
              <a:avLst/>
              <a:gdLst/>
              <a:ahLst/>
              <a:cxnLst/>
              <a:rect r="r" b="b" t="t" l="l"/>
              <a:pathLst>
                <a:path h="4461510" w="10508742">
                  <a:moveTo>
                    <a:pt x="11811" y="0"/>
                  </a:moveTo>
                  <a:lnTo>
                    <a:pt x="10496931" y="0"/>
                  </a:lnTo>
                  <a:cubicBezTo>
                    <a:pt x="10503535" y="0"/>
                    <a:pt x="10508742" y="5334"/>
                    <a:pt x="10508742" y="11811"/>
                  </a:cubicBezTo>
                  <a:lnTo>
                    <a:pt x="10508742" y="4449699"/>
                  </a:lnTo>
                  <a:cubicBezTo>
                    <a:pt x="10508742" y="4456303"/>
                    <a:pt x="10503408" y="4461510"/>
                    <a:pt x="10496931" y="4461510"/>
                  </a:cubicBezTo>
                  <a:lnTo>
                    <a:pt x="11811" y="4461510"/>
                  </a:lnTo>
                  <a:cubicBezTo>
                    <a:pt x="5207" y="4461510"/>
                    <a:pt x="0" y="4456176"/>
                    <a:pt x="0" y="444969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449699"/>
                  </a:lnTo>
                  <a:lnTo>
                    <a:pt x="11811" y="4449699"/>
                  </a:lnTo>
                  <a:lnTo>
                    <a:pt x="11811" y="4437888"/>
                  </a:lnTo>
                  <a:lnTo>
                    <a:pt x="10496931" y="4437888"/>
                  </a:lnTo>
                  <a:lnTo>
                    <a:pt x="10496931" y="4449699"/>
                  </a:lnTo>
                  <a:lnTo>
                    <a:pt x="10485120" y="4449699"/>
                  </a:lnTo>
                  <a:lnTo>
                    <a:pt x="10485120" y="11811"/>
                  </a:lnTo>
                  <a:lnTo>
                    <a:pt x="10496931" y="11811"/>
                  </a:lnTo>
                  <a:lnTo>
                    <a:pt x="104969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948423" y="5693159"/>
            <a:ext cx="125987" cy="3353819"/>
            <a:chOff x="0" y="0"/>
            <a:chExt cx="167983" cy="447175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34112" cy="4437888"/>
            </a:xfrm>
            <a:custGeom>
              <a:avLst/>
              <a:gdLst/>
              <a:ahLst/>
              <a:cxnLst/>
              <a:rect r="r" b="b" t="t" l="l"/>
              <a:pathLst>
                <a:path h="443788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7894" cy="4471670"/>
            </a:xfrm>
            <a:custGeom>
              <a:avLst/>
              <a:gdLst/>
              <a:ahLst/>
              <a:cxnLst/>
              <a:rect r="r" b="b" t="t" l="l"/>
              <a:pathLst>
                <a:path h="447167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4454779"/>
                  </a:lnTo>
                  <a:cubicBezTo>
                    <a:pt x="167894" y="4464177"/>
                    <a:pt x="160274" y="4471670"/>
                    <a:pt x="151003" y="4471670"/>
                  </a:cubicBezTo>
                  <a:lnTo>
                    <a:pt x="16891" y="4471670"/>
                  </a:lnTo>
                  <a:cubicBezTo>
                    <a:pt x="7493" y="4471670"/>
                    <a:pt x="0" y="4464050"/>
                    <a:pt x="0" y="4454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54779"/>
                  </a:lnTo>
                  <a:lnTo>
                    <a:pt x="16891" y="4454779"/>
                  </a:lnTo>
                  <a:lnTo>
                    <a:pt x="16891" y="4437888"/>
                  </a:lnTo>
                  <a:lnTo>
                    <a:pt x="151003" y="4437888"/>
                  </a:lnTo>
                  <a:lnTo>
                    <a:pt x="151003" y="4454779"/>
                  </a:lnTo>
                  <a:lnTo>
                    <a:pt x="134112" y="445477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167879" y="5930903"/>
            <a:ext cx="610619" cy="610619"/>
            <a:chOff x="0" y="0"/>
            <a:chExt cx="814159" cy="81415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80576" y="5943600"/>
            <a:ext cx="585216" cy="585216"/>
            <a:chOff x="0" y="0"/>
            <a:chExt cx="780288" cy="7802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78028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021824" y="5961888"/>
            <a:ext cx="6547104" cy="814685"/>
            <a:chOff x="0" y="0"/>
            <a:chExt cx="8729472" cy="108624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29472" cy="1086247"/>
            </a:xfrm>
            <a:custGeom>
              <a:avLst/>
              <a:gdLst/>
              <a:ahLst/>
              <a:cxnLst/>
              <a:rect r="r" b="b" t="t" l="l"/>
              <a:pathLst>
                <a:path h="1086247" w="8729472">
                  <a:moveTo>
                    <a:pt x="0" y="0"/>
                  </a:moveTo>
                  <a:lnTo>
                    <a:pt x="8729472" y="0"/>
                  </a:lnTo>
                  <a:lnTo>
                    <a:pt x="8729472" y="1086247"/>
                  </a:lnTo>
                  <a:lnTo>
                    <a:pt x="0" y="10862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406" r="0" b="-8577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8729472" cy="1086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Colour Prediction with Percentage (Feature 3)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290304" y="6767048"/>
            <a:ext cx="7278624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Model must return all detected garment colours with individual confidence percentages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Replaces single dominant-colour output — provides richer inspection data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CHALLENGE AND HOW OUR SYSTEM ADDRESSES 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Statement &amp; The Global Solution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7973063" cy="7332983"/>
            <a:chOff x="0" y="0"/>
            <a:chExt cx="10630751" cy="977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1060704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0662" cy="9777222"/>
            </a:xfrm>
            <a:custGeom>
              <a:avLst/>
              <a:gdLst/>
              <a:ahLst/>
              <a:cxnLst/>
              <a:rect r="r" b="b" t="t" l="l"/>
              <a:pathLst>
                <a:path h="9777222" w="10630662">
                  <a:moveTo>
                    <a:pt x="11811" y="0"/>
                  </a:moveTo>
                  <a:lnTo>
                    <a:pt x="10618851" y="0"/>
                  </a:lnTo>
                  <a:cubicBezTo>
                    <a:pt x="10625455" y="0"/>
                    <a:pt x="10630662" y="5334"/>
                    <a:pt x="10630662" y="11811"/>
                  </a:cubicBezTo>
                  <a:lnTo>
                    <a:pt x="10630662" y="9765411"/>
                  </a:lnTo>
                  <a:cubicBezTo>
                    <a:pt x="10630662" y="9772015"/>
                    <a:pt x="10625328" y="9777222"/>
                    <a:pt x="10618851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10618851" y="9753600"/>
                  </a:lnTo>
                  <a:lnTo>
                    <a:pt x="10618851" y="9765411"/>
                  </a:lnTo>
                  <a:lnTo>
                    <a:pt x="10607040" y="9765411"/>
                  </a:lnTo>
                  <a:lnTo>
                    <a:pt x="10607040" y="11811"/>
                  </a:lnTo>
                  <a:lnTo>
                    <a:pt x="10618851" y="11811"/>
                  </a:lnTo>
                  <a:lnTo>
                    <a:pt x="10618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5399" y="2108711"/>
            <a:ext cx="125987" cy="7340603"/>
            <a:chOff x="0" y="0"/>
            <a:chExt cx="167983" cy="9787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34112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991B1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894" cy="9787382"/>
            </a:xfrm>
            <a:custGeom>
              <a:avLst/>
              <a:gdLst/>
              <a:ahLst/>
              <a:cxnLst/>
              <a:rect r="r" b="b" t="t" l="l"/>
              <a:pathLst>
                <a:path h="9787382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9770491"/>
                  </a:lnTo>
                  <a:cubicBezTo>
                    <a:pt x="167894" y="9779889"/>
                    <a:pt x="160274" y="9787382"/>
                    <a:pt x="151003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51003" y="9753600"/>
                  </a:lnTo>
                  <a:lnTo>
                    <a:pt x="151003" y="9770491"/>
                  </a:lnTo>
                  <a:lnTo>
                    <a:pt x="134112" y="9770491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3856" y="2340864"/>
            <a:ext cx="7315200" cy="365760"/>
            <a:chOff x="0" y="0"/>
            <a:chExt cx="975360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753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IN APPAREL MANUFACTURING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33856" y="2805303"/>
            <a:ext cx="7315200" cy="608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piece counting is slow and prone to human error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No real-time per-operator cycle time or performance monitoring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Quality defects are discovered too late in the production batch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Garment size verification is manual and inconsistent across batches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Colour and style checking relies entirely on human visual judgment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3010" y="5230368"/>
            <a:ext cx="1024128" cy="1097280"/>
            <a:chOff x="0" y="0"/>
            <a:chExt cx="1365504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55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468" t="0" r="-874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136550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10601" y="2112521"/>
            <a:ext cx="7881623" cy="7332983"/>
            <a:chOff x="0" y="0"/>
            <a:chExt cx="10508831" cy="97773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1811" y="11811"/>
              <a:ext cx="1048512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08742" cy="9777222"/>
            </a:xfrm>
            <a:custGeom>
              <a:avLst/>
              <a:gdLst/>
              <a:ahLst/>
              <a:cxnLst/>
              <a:rect r="r" b="b" t="t" l="l"/>
              <a:pathLst>
                <a:path h="9777222" w="10508742">
                  <a:moveTo>
                    <a:pt x="11811" y="0"/>
                  </a:moveTo>
                  <a:lnTo>
                    <a:pt x="10496931" y="0"/>
                  </a:lnTo>
                  <a:cubicBezTo>
                    <a:pt x="10503535" y="0"/>
                    <a:pt x="10508742" y="5334"/>
                    <a:pt x="10508742" y="11811"/>
                  </a:cubicBezTo>
                  <a:lnTo>
                    <a:pt x="10508742" y="9765411"/>
                  </a:lnTo>
                  <a:cubicBezTo>
                    <a:pt x="10508742" y="9772015"/>
                    <a:pt x="10503408" y="9777222"/>
                    <a:pt x="10496931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10496931" y="9753600"/>
                  </a:lnTo>
                  <a:lnTo>
                    <a:pt x="10496931" y="9765411"/>
                  </a:lnTo>
                  <a:lnTo>
                    <a:pt x="10485120" y="9765411"/>
                  </a:lnTo>
                  <a:lnTo>
                    <a:pt x="10485120" y="11811"/>
                  </a:lnTo>
                  <a:lnTo>
                    <a:pt x="10496931" y="11811"/>
                  </a:lnTo>
                  <a:lnTo>
                    <a:pt x="104969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6791" y="2108711"/>
            <a:ext cx="125987" cy="7340603"/>
            <a:chOff x="0" y="0"/>
            <a:chExt cx="167983" cy="9787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34112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7894" cy="9787382"/>
            </a:xfrm>
            <a:custGeom>
              <a:avLst/>
              <a:gdLst/>
              <a:ahLst/>
              <a:cxnLst/>
              <a:rect r="r" b="b" t="t" l="l"/>
              <a:pathLst>
                <a:path h="9787382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9770491"/>
                  </a:lnTo>
                  <a:cubicBezTo>
                    <a:pt x="167894" y="9779889"/>
                    <a:pt x="160274" y="9787382"/>
                    <a:pt x="151003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51003" y="9753600"/>
                  </a:lnTo>
                  <a:lnTo>
                    <a:pt x="151003" y="9770491"/>
                  </a:lnTo>
                  <a:lnTo>
                    <a:pt x="134112" y="9770491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985248" y="2340864"/>
            <a:ext cx="7132320" cy="365760"/>
            <a:chOff x="0" y="0"/>
            <a:chExt cx="950976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509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AI-POWERED SOLUTIONS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985248" y="2805303"/>
            <a:ext cx="7242048" cy="608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Dual-signal AI piece counting — YOLOv8 garment detection + Pose wrist tracking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cycle time analysis and KPI dashboard per operator session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quality inspection with instant PASS / REWORK / MISMATCH classification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Pixel-calibrated garment size measurement — no physical contact required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HSV + CNN hybrid colour and style recognition with percentage confidence output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WHERE EXISTING RESEARCH FALLS SHORT — AND WHAT WE CONTRIBUTE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Novelty &amp; Research Gap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7973063" cy="7332983"/>
            <a:chOff x="0" y="0"/>
            <a:chExt cx="10630751" cy="977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1060704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EDD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0662" cy="9777222"/>
            </a:xfrm>
            <a:custGeom>
              <a:avLst/>
              <a:gdLst/>
              <a:ahLst/>
              <a:cxnLst/>
              <a:rect r="r" b="b" t="t" l="l"/>
              <a:pathLst>
                <a:path h="9777222" w="10630662">
                  <a:moveTo>
                    <a:pt x="11811" y="0"/>
                  </a:moveTo>
                  <a:lnTo>
                    <a:pt x="10618851" y="0"/>
                  </a:lnTo>
                  <a:cubicBezTo>
                    <a:pt x="10625455" y="0"/>
                    <a:pt x="10630662" y="5334"/>
                    <a:pt x="10630662" y="11811"/>
                  </a:cubicBezTo>
                  <a:lnTo>
                    <a:pt x="10630662" y="9765411"/>
                  </a:lnTo>
                  <a:cubicBezTo>
                    <a:pt x="10630662" y="9772015"/>
                    <a:pt x="10625328" y="9777222"/>
                    <a:pt x="10618851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10618851" y="9753600"/>
                  </a:lnTo>
                  <a:lnTo>
                    <a:pt x="10618851" y="9765411"/>
                  </a:lnTo>
                  <a:lnTo>
                    <a:pt x="10607040" y="9765411"/>
                  </a:lnTo>
                  <a:lnTo>
                    <a:pt x="10607040" y="11811"/>
                  </a:lnTo>
                  <a:lnTo>
                    <a:pt x="10618851" y="11811"/>
                  </a:lnTo>
                  <a:lnTo>
                    <a:pt x="10618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9A341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5399" y="2108711"/>
            <a:ext cx="7980683" cy="683771"/>
            <a:chOff x="0" y="0"/>
            <a:chExt cx="10640911" cy="9116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0607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9A3412">
                <a:alpha val="3137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40822" cy="911608"/>
            </a:xfrm>
            <a:custGeom>
              <a:avLst/>
              <a:gdLst/>
              <a:ahLst/>
              <a:cxnLst/>
              <a:rect r="r" b="b" t="t" l="l"/>
              <a:pathLst>
                <a:path h="911608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894715"/>
                  </a:lnTo>
                  <a:cubicBezTo>
                    <a:pt x="10640822" y="904113"/>
                    <a:pt x="10633202" y="911606"/>
                    <a:pt x="1062393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623931" y="877824"/>
                  </a:lnTo>
                  <a:lnTo>
                    <a:pt x="10623931" y="894715"/>
                  </a:lnTo>
                  <a:lnTo>
                    <a:pt x="10607040" y="894715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A341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0704" y="2267712"/>
            <a:ext cx="7315200" cy="365760"/>
            <a:chOff x="0" y="0"/>
            <a:chExt cx="975360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753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9A34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GAPS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" y="3072384"/>
            <a:ext cx="877824" cy="658368"/>
            <a:chOff x="0" y="0"/>
            <a:chExt cx="1170432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9A34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38528" y="3061335"/>
            <a:ext cx="5742432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No integrated AI monitoring solution exists for Sri Lankan apparel manufacturing environments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0976" y="4608576"/>
            <a:ext cx="877824" cy="658368"/>
            <a:chOff x="0" y="0"/>
            <a:chExt cx="1170432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9A34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938528" y="4597527"/>
            <a:ext cx="5742432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automated piece counting with false-count prevention in sewing lines is unsolved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0976" y="6144768"/>
            <a:ext cx="877824" cy="658368"/>
            <a:chOff x="0" y="0"/>
            <a:chExt cx="1170432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9A34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938528" y="6133719"/>
            <a:ext cx="5742432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Combined colour, style, and size detection in a single garment pipeline does not exist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0976" y="7680960"/>
            <a:ext cx="877824" cy="658368"/>
            <a:chOff x="0" y="0"/>
            <a:chExt cx="1170432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9A34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938528" y="7669911"/>
            <a:ext cx="5742432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quality checking generates no structured, traceable, or machine-readable data records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966711" y="2657351"/>
            <a:ext cx="25403" cy="6609083"/>
            <a:chOff x="0" y="0"/>
            <a:chExt cx="33871" cy="8812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16891"/>
              <a:ext cx="33909" cy="8737727"/>
            </a:xfrm>
            <a:custGeom>
              <a:avLst/>
              <a:gdLst/>
              <a:ahLst/>
              <a:cxnLst/>
              <a:rect r="r" b="b" t="t" l="l"/>
              <a:pathLst>
                <a:path h="8737727" w="33909">
                  <a:moveTo>
                    <a:pt x="33909" y="135509"/>
                  </a:moveTo>
                  <a:lnTo>
                    <a:pt x="33909" y="203200"/>
                  </a:lnTo>
                  <a:lnTo>
                    <a:pt x="0" y="203200"/>
                  </a:lnTo>
                  <a:lnTo>
                    <a:pt x="0" y="135509"/>
                  </a:lnTo>
                  <a:close/>
                  <a:moveTo>
                    <a:pt x="0" y="271018"/>
                  </a:moveTo>
                  <a:lnTo>
                    <a:pt x="0" y="338709"/>
                  </a:lnTo>
                  <a:lnTo>
                    <a:pt x="0" y="271018"/>
                  </a:lnTo>
                  <a:close/>
                  <a:moveTo>
                    <a:pt x="0" y="406527"/>
                  </a:moveTo>
                  <a:lnTo>
                    <a:pt x="0" y="474218"/>
                  </a:lnTo>
                  <a:lnTo>
                    <a:pt x="0" y="406400"/>
                  </a:lnTo>
                  <a:close/>
                  <a:moveTo>
                    <a:pt x="33909" y="541909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541909"/>
                  </a:lnTo>
                  <a:close/>
                  <a:moveTo>
                    <a:pt x="0" y="677418"/>
                  </a:moveTo>
                  <a:lnTo>
                    <a:pt x="0" y="745109"/>
                  </a:lnTo>
                  <a:lnTo>
                    <a:pt x="0" y="677418"/>
                  </a:lnTo>
                  <a:close/>
                  <a:moveTo>
                    <a:pt x="0" y="812927"/>
                  </a:moveTo>
                  <a:lnTo>
                    <a:pt x="0" y="880618"/>
                  </a:lnTo>
                  <a:lnTo>
                    <a:pt x="0" y="812800"/>
                  </a:lnTo>
                  <a:close/>
                  <a:moveTo>
                    <a:pt x="33909" y="948309"/>
                  </a:moveTo>
                  <a:lnTo>
                    <a:pt x="33909" y="1016000"/>
                  </a:lnTo>
                  <a:lnTo>
                    <a:pt x="0" y="1016000"/>
                  </a:lnTo>
                  <a:lnTo>
                    <a:pt x="0" y="948309"/>
                  </a:lnTo>
                  <a:close/>
                  <a:moveTo>
                    <a:pt x="0" y="1083818"/>
                  </a:moveTo>
                  <a:lnTo>
                    <a:pt x="0" y="1151509"/>
                  </a:lnTo>
                  <a:lnTo>
                    <a:pt x="0" y="1083818"/>
                  </a:lnTo>
                  <a:close/>
                  <a:moveTo>
                    <a:pt x="0" y="1219327"/>
                  </a:moveTo>
                  <a:lnTo>
                    <a:pt x="0" y="1287018"/>
                  </a:lnTo>
                  <a:lnTo>
                    <a:pt x="0" y="1219200"/>
                  </a:lnTo>
                  <a:close/>
                  <a:moveTo>
                    <a:pt x="0" y="1354709"/>
                  </a:moveTo>
                  <a:lnTo>
                    <a:pt x="0" y="1422400"/>
                  </a:lnTo>
                  <a:lnTo>
                    <a:pt x="0" y="1354709"/>
                  </a:lnTo>
                  <a:close/>
                  <a:moveTo>
                    <a:pt x="0" y="1490218"/>
                  </a:moveTo>
                  <a:lnTo>
                    <a:pt x="0" y="1557909"/>
                  </a:lnTo>
                  <a:lnTo>
                    <a:pt x="0" y="1490218"/>
                  </a:lnTo>
                  <a:close/>
                  <a:moveTo>
                    <a:pt x="0" y="1625727"/>
                  </a:moveTo>
                  <a:lnTo>
                    <a:pt x="0" y="1693418"/>
                  </a:lnTo>
                  <a:lnTo>
                    <a:pt x="0" y="1625727"/>
                  </a:lnTo>
                  <a:close/>
                  <a:moveTo>
                    <a:pt x="0" y="1761236"/>
                  </a:moveTo>
                  <a:lnTo>
                    <a:pt x="0" y="1828927"/>
                  </a:lnTo>
                  <a:lnTo>
                    <a:pt x="0" y="1761109"/>
                  </a:lnTo>
                  <a:close/>
                  <a:moveTo>
                    <a:pt x="0" y="1896618"/>
                  </a:moveTo>
                  <a:lnTo>
                    <a:pt x="0" y="1964309"/>
                  </a:lnTo>
                  <a:lnTo>
                    <a:pt x="0" y="1896618"/>
                  </a:lnTo>
                  <a:close/>
                  <a:moveTo>
                    <a:pt x="0" y="2032127"/>
                  </a:moveTo>
                  <a:lnTo>
                    <a:pt x="0" y="2099818"/>
                  </a:lnTo>
                  <a:lnTo>
                    <a:pt x="0" y="2032127"/>
                  </a:lnTo>
                  <a:close/>
                  <a:moveTo>
                    <a:pt x="0" y="2167636"/>
                  </a:moveTo>
                  <a:lnTo>
                    <a:pt x="0" y="2235327"/>
                  </a:lnTo>
                  <a:lnTo>
                    <a:pt x="0" y="2167509"/>
                  </a:lnTo>
                  <a:close/>
                  <a:moveTo>
                    <a:pt x="0" y="2303018"/>
                  </a:moveTo>
                  <a:lnTo>
                    <a:pt x="0" y="2370709"/>
                  </a:lnTo>
                  <a:lnTo>
                    <a:pt x="0" y="2303018"/>
                  </a:lnTo>
                  <a:close/>
                  <a:moveTo>
                    <a:pt x="0" y="2438527"/>
                  </a:moveTo>
                  <a:lnTo>
                    <a:pt x="0" y="2506218"/>
                  </a:lnTo>
                  <a:lnTo>
                    <a:pt x="0" y="2438527"/>
                  </a:lnTo>
                  <a:close/>
                  <a:moveTo>
                    <a:pt x="0" y="2574036"/>
                  </a:moveTo>
                  <a:lnTo>
                    <a:pt x="0" y="2641727"/>
                  </a:lnTo>
                  <a:lnTo>
                    <a:pt x="0" y="2573909"/>
                  </a:lnTo>
                  <a:close/>
                  <a:moveTo>
                    <a:pt x="0" y="2709418"/>
                  </a:moveTo>
                  <a:lnTo>
                    <a:pt x="0" y="2777109"/>
                  </a:lnTo>
                  <a:lnTo>
                    <a:pt x="0" y="2709418"/>
                  </a:lnTo>
                  <a:close/>
                  <a:moveTo>
                    <a:pt x="0" y="2844927"/>
                  </a:moveTo>
                  <a:lnTo>
                    <a:pt x="0" y="2912618"/>
                  </a:lnTo>
                  <a:lnTo>
                    <a:pt x="0" y="2844927"/>
                  </a:lnTo>
                  <a:close/>
                  <a:moveTo>
                    <a:pt x="0" y="2980436"/>
                  </a:moveTo>
                  <a:lnTo>
                    <a:pt x="0" y="3048127"/>
                  </a:lnTo>
                  <a:lnTo>
                    <a:pt x="0" y="2980309"/>
                  </a:lnTo>
                  <a:close/>
                  <a:moveTo>
                    <a:pt x="0" y="3115818"/>
                  </a:moveTo>
                  <a:lnTo>
                    <a:pt x="0" y="3183509"/>
                  </a:lnTo>
                  <a:lnTo>
                    <a:pt x="0" y="3115818"/>
                  </a:lnTo>
                  <a:close/>
                  <a:moveTo>
                    <a:pt x="0" y="3251327"/>
                  </a:moveTo>
                  <a:lnTo>
                    <a:pt x="0" y="3319018"/>
                  </a:lnTo>
                  <a:lnTo>
                    <a:pt x="0" y="3251327"/>
                  </a:lnTo>
                  <a:close/>
                  <a:moveTo>
                    <a:pt x="0" y="3386836"/>
                  </a:moveTo>
                  <a:lnTo>
                    <a:pt x="0" y="3454527"/>
                  </a:lnTo>
                  <a:lnTo>
                    <a:pt x="0" y="3386709"/>
                  </a:lnTo>
                  <a:close/>
                  <a:moveTo>
                    <a:pt x="0" y="3522218"/>
                  </a:moveTo>
                  <a:lnTo>
                    <a:pt x="0" y="3589909"/>
                  </a:lnTo>
                  <a:lnTo>
                    <a:pt x="0" y="3522218"/>
                  </a:lnTo>
                  <a:close/>
                  <a:moveTo>
                    <a:pt x="0" y="3657727"/>
                  </a:moveTo>
                  <a:lnTo>
                    <a:pt x="0" y="3725418"/>
                  </a:lnTo>
                  <a:lnTo>
                    <a:pt x="0" y="3657727"/>
                  </a:lnTo>
                  <a:close/>
                  <a:moveTo>
                    <a:pt x="0" y="3793236"/>
                  </a:moveTo>
                  <a:lnTo>
                    <a:pt x="0" y="3860927"/>
                  </a:lnTo>
                  <a:lnTo>
                    <a:pt x="0" y="3793109"/>
                  </a:lnTo>
                  <a:close/>
                  <a:moveTo>
                    <a:pt x="0" y="3928618"/>
                  </a:moveTo>
                  <a:lnTo>
                    <a:pt x="0" y="3996309"/>
                  </a:lnTo>
                  <a:lnTo>
                    <a:pt x="0" y="3928618"/>
                  </a:lnTo>
                  <a:close/>
                  <a:moveTo>
                    <a:pt x="0" y="4064127"/>
                  </a:moveTo>
                  <a:lnTo>
                    <a:pt x="0" y="4131818"/>
                  </a:lnTo>
                  <a:lnTo>
                    <a:pt x="0" y="4064127"/>
                  </a:lnTo>
                  <a:close/>
                  <a:moveTo>
                    <a:pt x="0" y="4199636"/>
                  </a:moveTo>
                  <a:lnTo>
                    <a:pt x="0" y="4267327"/>
                  </a:lnTo>
                  <a:lnTo>
                    <a:pt x="0" y="4199509"/>
                  </a:lnTo>
                  <a:close/>
                  <a:moveTo>
                    <a:pt x="0" y="4335018"/>
                  </a:moveTo>
                  <a:lnTo>
                    <a:pt x="0" y="4402709"/>
                  </a:lnTo>
                  <a:lnTo>
                    <a:pt x="0" y="4335018"/>
                  </a:lnTo>
                  <a:close/>
                  <a:moveTo>
                    <a:pt x="0" y="4470527"/>
                  </a:moveTo>
                  <a:lnTo>
                    <a:pt x="0" y="4538218"/>
                  </a:lnTo>
                  <a:lnTo>
                    <a:pt x="0" y="4470527"/>
                  </a:lnTo>
                  <a:close/>
                  <a:moveTo>
                    <a:pt x="0" y="4606036"/>
                  </a:moveTo>
                  <a:lnTo>
                    <a:pt x="0" y="4673727"/>
                  </a:lnTo>
                  <a:lnTo>
                    <a:pt x="0" y="4605909"/>
                  </a:lnTo>
                  <a:close/>
                  <a:moveTo>
                    <a:pt x="0" y="4741418"/>
                  </a:moveTo>
                  <a:lnTo>
                    <a:pt x="0" y="4809109"/>
                  </a:lnTo>
                  <a:lnTo>
                    <a:pt x="0" y="4741418"/>
                  </a:lnTo>
                  <a:close/>
                  <a:moveTo>
                    <a:pt x="0" y="4876927"/>
                  </a:moveTo>
                  <a:lnTo>
                    <a:pt x="0" y="4944618"/>
                  </a:lnTo>
                  <a:lnTo>
                    <a:pt x="0" y="4876927"/>
                  </a:lnTo>
                  <a:close/>
                  <a:moveTo>
                    <a:pt x="0" y="5012436"/>
                  </a:moveTo>
                  <a:lnTo>
                    <a:pt x="0" y="5080127"/>
                  </a:lnTo>
                  <a:lnTo>
                    <a:pt x="0" y="5012309"/>
                  </a:lnTo>
                  <a:close/>
                  <a:moveTo>
                    <a:pt x="0" y="5147818"/>
                  </a:moveTo>
                  <a:lnTo>
                    <a:pt x="0" y="5215509"/>
                  </a:lnTo>
                  <a:lnTo>
                    <a:pt x="0" y="5147818"/>
                  </a:lnTo>
                  <a:close/>
                  <a:moveTo>
                    <a:pt x="0" y="5283327"/>
                  </a:moveTo>
                  <a:lnTo>
                    <a:pt x="0" y="5351018"/>
                  </a:lnTo>
                  <a:lnTo>
                    <a:pt x="0" y="5283327"/>
                  </a:lnTo>
                  <a:close/>
                  <a:moveTo>
                    <a:pt x="0" y="5418836"/>
                  </a:moveTo>
                  <a:lnTo>
                    <a:pt x="0" y="5486527"/>
                  </a:lnTo>
                  <a:lnTo>
                    <a:pt x="0" y="5418709"/>
                  </a:lnTo>
                  <a:close/>
                  <a:moveTo>
                    <a:pt x="0" y="5554218"/>
                  </a:moveTo>
                  <a:lnTo>
                    <a:pt x="0" y="5621909"/>
                  </a:lnTo>
                  <a:lnTo>
                    <a:pt x="0" y="5554218"/>
                  </a:lnTo>
                  <a:close/>
                  <a:moveTo>
                    <a:pt x="0" y="5689727"/>
                  </a:moveTo>
                  <a:lnTo>
                    <a:pt x="0" y="5757418"/>
                  </a:lnTo>
                  <a:lnTo>
                    <a:pt x="0" y="5689727"/>
                  </a:lnTo>
                  <a:close/>
                  <a:moveTo>
                    <a:pt x="0" y="5825236"/>
                  </a:moveTo>
                  <a:lnTo>
                    <a:pt x="0" y="5892927"/>
                  </a:lnTo>
                  <a:lnTo>
                    <a:pt x="0" y="5825109"/>
                  </a:lnTo>
                  <a:close/>
                  <a:moveTo>
                    <a:pt x="0" y="5960618"/>
                  </a:moveTo>
                  <a:lnTo>
                    <a:pt x="0" y="6028309"/>
                  </a:lnTo>
                  <a:lnTo>
                    <a:pt x="0" y="5960618"/>
                  </a:lnTo>
                  <a:close/>
                  <a:moveTo>
                    <a:pt x="0" y="6096127"/>
                  </a:moveTo>
                  <a:lnTo>
                    <a:pt x="0" y="6163818"/>
                  </a:lnTo>
                  <a:lnTo>
                    <a:pt x="0" y="6096127"/>
                  </a:lnTo>
                  <a:close/>
                  <a:moveTo>
                    <a:pt x="0" y="6231636"/>
                  </a:moveTo>
                  <a:lnTo>
                    <a:pt x="0" y="6299327"/>
                  </a:lnTo>
                  <a:lnTo>
                    <a:pt x="0" y="6231509"/>
                  </a:lnTo>
                  <a:close/>
                  <a:moveTo>
                    <a:pt x="0" y="6367018"/>
                  </a:moveTo>
                  <a:lnTo>
                    <a:pt x="0" y="6434709"/>
                  </a:lnTo>
                  <a:lnTo>
                    <a:pt x="0" y="6367018"/>
                  </a:lnTo>
                  <a:close/>
                  <a:moveTo>
                    <a:pt x="0" y="6502527"/>
                  </a:moveTo>
                  <a:lnTo>
                    <a:pt x="0" y="6570218"/>
                  </a:lnTo>
                  <a:lnTo>
                    <a:pt x="0" y="6502527"/>
                  </a:lnTo>
                  <a:close/>
                  <a:moveTo>
                    <a:pt x="0" y="6638036"/>
                  </a:moveTo>
                  <a:lnTo>
                    <a:pt x="0" y="6705727"/>
                  </a:lnTo>
                  <a:lnTo>
                    <a:pt x="0" y="6637909"/>
                  </a:lnTo>
                  <a:close/>
                  <a:moveTo>
                    <a:pt x="0" y="6773418"/>
                  </a:moveTo>
                  <a:lnTo>
                    <a:pt x="0" y="6841109"/>
                  </a:lnTo>
                  <a:lnTo>
                    <a:pt x="0" y="6773418"/>
                  </a:lnTo>
                  <a:close/>
                  <a:moveTo>
                    <a:pt x="0" y="6908927"/>
                  </a:moveTo>
                  <a:lnTo>
                    <a:pt x="0" y="6976618"/>
                  </a:lnTo>
                  <a:lnTo>
                    <a:pt x="0" y="6908927"/>
                  </a:lnTo>
                  <a:close/>
                  <a:moveTo>
                    <a:pt x="0" y="7044436"/>
                  </a:moveTo>
                  <a:lnTo>
                    <a:pt x="0" y="7112127"/>
                  </a:lnTo>
                  <a:lnTo>
                    <a:pt x="0" y="7044309"/>
                  </a:lnTo>
                  <a:close/>
                  <a:moveTo>
                    <a:pt x="0" y="7179818"/>
                  </a:moveTo>
                  <a:lnTo>
                    <a:pt x="0" y="7247509"/>
                  </a:lnTo>
                  <a:lnTo>
                    <a:pt x="0" y="7179818"/>
                  </a:lnTo>
                  <a:close/>
                  <a:moveTo>
                    <a:pt x="0" y="7315327"/>
                  </a:moveTo>
                  <a:lnTo>
                    <a:pt x="0" y="7383018"/>
                  </a:lnTo>
                  <a:lnTo>
                    <a:pt x="0" y="7315327"/>
                  </a:lnTo>
                  <a:close/>
                  <a:moveTo>
                    <a:pt x="0" y="7450836"/>
                  </a:moveTo>
                  <a:lnTo>
                    <a:pt x="0" y="7518527"/>
                  </a:lnTo>
                  <a:lnTo>
                    <a:pt x="0" y="7450709"/>
                  </a:lnTo>
                  <a:close/>
                  <a:moveTo>
                    <a:pt x="0" y="7586218"/>
                  </a:moveTo>
                  <a:lnTo>
                    <a:pt x="0" y="7653909"/>
                  </a:lnTo>
                  <a:lnTo>
                    <a:pt x="0" y="7586218"/>
                  </a:lnTo>
                  <a:close/>
                  <a:moveTo>
                    <a:pt x="0" y="7721727"/>
                  </a:moveTo>
                  <a:lnTo>
                    <a:pt x="0" y="7789418"/>
                  </a:lnTo>
                  <a:lnTo>
                    <a:pt x="0" y="7721727"/>
                  </a:lnTo>
                  <a:close/>
                  <a:moveTo>
                    <a:pt x="0" y="7857236"/>
                  </a:moveTo>
                  <a:lnTo>
                    <a:pt x="0" y="7924927"/>
                  </a:lnTo>
                  <a:lnTo>
                    <a:pt x="0" y="7857109"/>
                  </a:lnTo>
                  <a:close/>
                  <a:moveTo>
                    <a:pt x="0" y="7992618"/>
                  </a:moveTo>
                  <a:lnTo>
                    <a:pt x="0" y="8060309"/>
                  </a:lnTo>
                  <a:lnTo>
                    <a:pt x="0" y="7992618"/>
                  </a:lnTo>
                  <a:close/>
                  <a:moveTo>
                    <a:pt x="0" y="8128127"/>
                  </a:moveTo>
                  <a:lnTo>
                    <a:pt x="0" y="8195818"/>
                  </a:lnTo>
                  <a:lnTo>
                    <a:pt x="0" y="8128127"/>
                  </a:lnTo>
                  <a:close/>
                  <a:moveTo>
                    <a:pt x="0" y="8263636"/>
                  </a:moveTo>
                  <a:lnTo>
                    <a:pt x="0" y="8331327"/>
                  </a:lnTo>
                  <a:lnTo>
                    <a:pt x="0" y="8263509"/>
                  </a:lnTo>
                  <a:close/>
                  <a:moveTo>
                    <a:pt x="0" y="8399018"/>
                  </a:moveTo>
                  <a:lnTo>
                    <a:pt x="0" y="8466709"/>
                  </a:lnTo>
                  <a:lnTo>
                    <a:pt x="0" y="8399018"/>
                  </a:lnTo>
                  <a:close/>
                  <a:moveTo>
                    <a:pt x="0" y="8534527"/>
                  </a:moveTo>
                  <a:lnTo>
                    <a:pt x="0" y="8602218"/>
                  </a:lnTo>
                  <a:lnTo>
                    <a:pt x="0" y="8534527"/>
                  </a:lnTo>
                  <a:close/>
                  <a:moveTo>
                    <a:pt x="0" y="8670036"/>
                  </a:moveTo>
                  <a:lnTo>
                    <a:pt x="0" y="8737727"/>
                  </a:lnTo>
                  <a:lnTo>
                    <a:pt x="0" y="8669909"/>
                  </a:lnTo>
                  <a:close/>
                  <a:moveTo>
                    <a:pt x="0" y="0"/>
                  </a:moveTo>
                  <a:lnTo>
                    <a:pt x="0" y="678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558784" y="5504688"/>
            <a:ext cx="1170432" cy="658368"/>
            <a:chOff x="0" y="0"/>
            <a:chExt cx="1560576" cy="8778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60576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56057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47556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74025" y="2112521"/>
            <a:ext cx="7954775" cy="7332983"/>
            <a:chOff x="0" y="0"/>
            <a:chExt cx="10606367" cy="97773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1811" y="11811"/>
              <a:ext cx="10582656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06278" cy="9777222"/>
            </a:xfrm>
            <a:custGeom>
              <a:avLst/>
              <a:gdLst/>
              <a:ahLst/>
              <a:cxnLst/>
              <a:rect r="r" b="b" t="t" l="l"/>
              <a:pathLst>
                <a:path h="9777222" w="10606278">
                  <a:moveTo>
                    <a:pt x="11811" y="0"/>
                  </a:moveTo>
                  <a:lnTo>
                    <a:pt x="10594467" y="0"/>
                  </a:lnTo>
                  <a:cubicBezTo>
                    <a:pt x="10601072" y="0"/>
                    <a:pt x="10606278" y="5334"/>
                    <a:pt x="10606278" y="11811"/>
                  </a:cubicBezTo>
                  <a:lnTo>
                    <a:pt x="10606278" y="9765411"/>
                  </a:lnTo>
                  <a:cubicBezTo>
                    <a:pt x="10606278" y="9772015"/>
                    <a:pt x="10600944" y="9777222"/>
                    <a:pt x="10594467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10594467" y="9753600"/>
                  </a:lnTo>
                  <a:lnTo>
                    <a:pt x="10594467" y="9765411"/>
                  </a:lnTo>
                  <a:lnTo>
                    <a:pt x="10582656" y="9765411"/>
                  </a:lnTo>
                  <a:lnTo>
                    <a:pt x="10582656" y="11811"/>
                  </a:lnTo>
                  <a:lnTo>
                    <a:pt x="10594467" y="11811"/>
                  </a:lnTo>
                  <a:lnTo>
                    <a:pt x="10594467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70215" y="2108711"/>
            <a:ext cx="7962395" cy="683771"/>
            <a:chOff x="0" y="0"/>
            <a:chExt cx="10616527" cy="9116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0582656" cy="877824"/>
            </a:xfrm>
            <a:custGeom>
              <a:avLst/>
              <a:gdLst/>
              <a:ahLst/>
              <a:cxnLst/>
              <a:rect r="r" b="b" t="t" l="l"/>
              <a:pathLst>
                <a:path h="877824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D4ED8">
                <a:alpha val="3137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16438" cy="911608"/>
            </a:xfrm>
            <a:custGeom>
              <a:avLst/>
              <a:gdLst/>
              <a:ahLst/>
              <a:cxnLst/>
              <a:rect r="r" b="b" t="t" l="l"/>
              <a:pathLst>
                <a:path h="911608" w="10616438">
                  <a:moveTo>
                    <a:pt x="16891" y="0"/>
                  </a:moveTo>
                  <a:lnTo>
                    <a:pt x="10599547" y="0"/>
                  </a:lnTo>
                  <a:cubicBezTo>
                    <a:pt x="10608945" y="0"/>
                    <a:pt x="10616438" y="7620"/>
                    <a:pt x="10616438" y="16891"/>
                  </a:cubicBezTo>
                  <a:lnTo>
                    <a:pt x="10616438" y="894715"/>
                  </a:lnTo>
                  <a:cubicBezTo>
                    <a:pt x="10616438" y="904113"/>
                    <a:pt x="10608818" y="911606"/>
                    <a:pt x="10599547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599547" y="877824"/>
                  </a:lnTo>
                  <a:lnTo>
                    <a:pt x="10599547" y="894715"/>
                  </a:lnTo>
                  <a:lnTo>
                    <a:pt x="10582656" y="894715"/>
                  </a:lnTo>
                  <a:lnTo>
                    <a:pt x="10582656" y="16891"/>
                  </a:lnTo>
                  <a:lnTo>
                    <a:pt x="10599547" y="16891"/>
                  </a:lnTo>
                  <a:lnTo>
                    <a:pt x="10599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75520" y="2267712"/>
            <a:ext cx="7315200" cy="365760"/>
            <a:chOff x="0" y="0"/>
            <a:chExt cx="9753600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753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NOVELTIES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65792" y="3072384"/>
            <a:ext cx="877824" cy="658368"/>
            <a:chOff x="0" y="0"/>
            <a:chExt cx="1170432" cy="8778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753344" y="3061335"/>
            <a:ext cx="6437376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Dual-Signal Counting: YOLOv8 garment + Pose wrist tracking eliminates false piece counts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765792" y="4608576"/>
            <a:ext cx="877824" cy="658368"/>
            <a:chOff x="0" y="0"/>
            <a:chExt cx="1170432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753344" y="4597527"/>
            <a:ext cx="6437376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IoT-integrated ESP32 for real-time operator-triggered rework and downtime event capture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765792" y="6144768"/>
            <a:ext cx="877824" cy="658368"/>
            <a:chOff x="0" y="0"/>
            <a:chExt cx="1170432" cy="8778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753344" y="6133719"/>
            <a:ext cx="6437376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HSV + CNN hybrid detects multiple garment colours with confidence percentage per colour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765792" y="7680960"/>
            <a:ext cx="877824" cy="658368"/>
            <a:chOff x="0" y="0"/>
            <a:chExt cx="1170432" cy="8778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70432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1170432" cy="944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753344" y="7669911"/>
            <a:ext cx="6437376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Calibrated px/cm pipeline measures garment width and height without physical contact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STAKEHOLDERS &amp; USER PERSONAS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User Persona — Sewing Team Leader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6199127" cy="7332983"/>
            <a:chOff x="0" y="0"/>
            <a:chExt cx="8265503" cy="977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8241792" cy="9753600"/>
            </a:xfrm>
            <a:custGeom>
              <a:avLst/>
              <a:gdLst/>
              <a:ahLst/>
              <a:cxnLst/>
              <a:rect r="r" b="b" t="t" l="l"/>
              <a:pathLst>
                <a:path h="9753600" w="8241792">
                  <a:moveTo>
                    <a:pt x="0" y="0"/>
                  </a:moveTo>
                  <a:lnTo>
                    <a:pt x="8241792" y="0"/>
                  </a:lnTo>
                  <a:lnTo>
                    <a:pt x="8241792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65414" cy="9777222"/>
            </a:xfrm>
            <a:custGeom>
              <a:avLst/>
              <a:gdLst/>
              <a:ahLst/>
              <a:cxnLst/>
              <a:rect r="r" b="b" t="t" l="l"/>
              <a:pathLst>
                <a:path h="9777222" w="8265414">
                  <a:moveTo>
                    <a:pt x="11811" y="0"/>
                  </a:moveTo>
                  <a:lnTo>
                    <a:pt x="8253603" y="0"/>
                  </a:lnTo>
                  <a:cubicBezTo>
                    <a:pt x="8260207" y="0"/>
                    <a:pt x="8265414" y="5334"/>
                    <a:pt x="8265414" y="11811"/>
                  </a:cubicBezTo>
                  <a:lnTo>
                    <a:pt x="8265414" y="9765411"/>
                  </a:lnTo>
                  <a:cubicBezTo>
                    <a:pt x="8265414" y="9772015"/>
                    <a:pt x="8260080" y="9777222"/>
                    <a:pt x="8253603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8253603" y="9753600"/>
                  </a:lnTo>
                  <a:lnTo>
                    <a:pt x="8253603" y="9765411"/>
                  </a:lnTo>
                  <a:lnTo>
                    <a:pt x="8241792" y="9765411"/>
                  </a:lnTo>
                  <a:lnTo>
                    <a:pt x="8241792" y="11811"/>
                  </a:lnTo>
                  <a:lnTo>
                    <a:pt x="8253603" y="11811"/>
                  </a:lnTo>
                  <a:lnTo>
                    <a:pt x="825360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5230368"/>
            <a:ext cx="5705856" cy="621792"/>
            <a:chOff x="0" y="0"/>
            <a:chExt cx="7607808" cy="829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07808" cy="829056"/>
            </a:xfrm>
            <a:custGeom>
              <a:avLst/>
              <a:gdLst/>
              <a:ahLst/>
              <a:cxnLst/>
              <a:rect r="r" b="b" t="t" l="l"/>
              <a:pathLst>
                <a:path h="829056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803" r="0" b="-1288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607808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Sewing Team Leader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5907024"/>
            <a:ext cx="5705856" cy="402336"/>
            <a:chOff x="0" y="0"/>
            <a:chExt cx="7607808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07808" cy="536448"/>
            </a:xfrm>
            <a:custGeom>
              <a:avLst/>
              <a:gdLst/>
              <a:ahLst/>
              <a:cxnLst/>
              <a:rect r="r" b="b" t="t" l="l"/>
              <a:pathLst>
                <a:path h="536448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333" r="0" b="-2263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0780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 Floor — Sewing Line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4331" y="6464427"/>
            <a:ext cx="5432298" cy="19050"/>
            <a:chOff x="0" y="0"/>
            <a:chExt cx="7243064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0"/>
              <a:ext cx="7217664" cy="25400"/>
            </a:xfrm>
            <a:custGeom>
              <a:avLst/>
              <a:gdLst/>
              <a:ahLst/>
              <a:cxnLst/>
              <a:rect r="r" b="b" t="t" l="l"/>
              <a:pathLst>
                <a:path h="25400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342889" y="2112521"/>
            <a:ext cx="10259063" cy="2285495"/>
            <a:chOff x="0" y="0"/>
            <a:chExt cx="13678751" cy="30473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339079" y="2108711"/>
            <a:ext cx="125987" cy="2293115"/>
            <a:chOff x="0" y="0"/>
            <a:chExt cx="167983" cy="30574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991B1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17536" y="2304288"/>
            <a:ext cx="9729216" cy="365760"/>
            <a:chOff x="0" y="0"/>
            <a:chExt cx="12972288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42889" y="4581401"/>
            <a:ext cx="10259063" cy="2285495"/>
            <a:chOff x="0" y="0"/>
            <a:chExt cx="13678751" cy="30473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339079" y="4577591"/>
            <a:ext cx="125987" cy="2293115"/>
            <a:chOff x="0" y="0"/>
            <a:chExt cx="167983" cy="30574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717536" y="4773168"/>
            <a:ext cx="9729216" cy="365760"/>
            <a:chOff x="0" y="0"/>
            <a:chExt cx="12972288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342889" y="7050281"/>
            <a:ext cx="10259063" cy="2285495"/>
            <a:chOff x="0" y="0"/>
            <a:chExt cx="13678751" cy="30473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339079" y="7046471"/>
            <a:ext cx="125987" cy="2293115"/>
            <a:chOff x="0" y="0"/>
            <a:chExt cx="167983" cy="305748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717536" y="7242048"/>
            <a:ext cx="9729216" cy="365760"/>
            <a:chOff x="0" y="0"/>
            <a:chExt cx="12972288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INTERACTION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464118" y="2386203"/>
            <a:ext cx="2752725" cy="275272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060704" y="6647307"/>
            <a:ext cx="5632704" cy="260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66534"/>
                </a:solidFill>
                <a:latin typeface="Georgia Bold"/>
                <a:ea typeface="Georgia Bold"/>
                <a:cs typeface="Georgia Bold"/>
                <a:sym typeface="Georgia Bold"/>
              </a:rPr>
              <a:t>Primary Goal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piece count and cycle time per operator station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17536" y="271386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track individual operator speed without disrupting workflow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counting stops production flow and causes target shortfalls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No early warning when shift target is at risk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17536" y="518274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piece count and cycle time per operator station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alerts on rework and downtime events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Shift progress tracking with projected completion time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17536" y="765162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Views live sewing dashboard on factory floor monitor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Monitors KPI tiles: piece count, cycle time, shift %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Receives event feed for rework and downtime incidents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STAKEHOLDERS &amp; USER PERSONAS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User Persona — Production Manager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6199127" cy="7332983"/>
            <a:chOff x="0" y="0"/>
            <a:chExt cx="8265503" cy="977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8241792" cy="9753600"/>
            </a:xfrm>
            <a:custGeom>
              <a:avLst/>
              <a:gdLst/>
              <a:ahLst/>
              <a:cxnLst/>
              <a:rect r="r" b="b" t="t" l="l"/>
              <a:pathLst>
                <a:path h="9753600" w="8241792">
                  <a:moveTo>
                    <a:pt x="0" y="0"/>
                  </a:moveTo>
                  <a:lnTo>
                    <a:pt x="8241792" y="0"/>
                  </a:lnTo>
                  <a:lnTo>
                    <a:pt x="8241792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65414" cy="9777222"/>
            </a:xfrm>
            <a:custGeom>
              <a:avLst/>
              <a:gdLst/>
              <a:ahLst/>
              <a:cxnLst/>
              <a:rect r="r" b="b" t="t" l="l"/>
              <a:pathLst>
                <a:path h="9777222" w="8265414">
                  <a:moveTo>
                    <a:pt x="11811" y="0"/>
                  </a:moveTo>
                  <a:lnTo>
                    <a:pt x="8253603" y="0"/>
                  </a:lnTo>
                  <a:cubicBezTo>
                    <a:pt x="8260207" y="0"/>
                    <a:pt x="8265414" y="5334"/>
                    <a:pt x="8265414" y="11811"/>
                  </a:cubicBezTo>
                  <a:lnTo>
                    <a:pt x="8265414" y="9765411"/>
                  </a:lnTo>
                  <a:cubicBezTo>
                    <a:pt x="8265414" y="9772015"/>
                    <a:pt x="8260080" y="9777222"/>
                    <a:pt x="8253603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8253603" y="9753600"/>
                  </a:lnTo>
                  <a:lnTo>
                    <a:pt x="8253603" y="9765411"/>
                  </a:lnTo>
                  <a:lnTo>
                    <a:pt x="8241792" y="9765411"/>
                  </a:lnTo>
                  <a:lnTo>
                    <a:pt x="8241792" y="11811"/>
                  </a:lnTo>
                  <a:lnTo>
                    <a:pt x="8253603" y="11811"/>
                  </a:lnTo>
                  <a:lnTo>
                    <a:pt x="825360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5230368"/>
            <a:ext cx="5705856" cy="621792"/>
            <a:chOff x="0" y="0"/>
            <a:chExt cx="7607808" cy="829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07808" cy="829056"/>
            </a:xfrm>
            <a:custGeom>
              <a:avLst/>
              <a:gdLst/>
              <a:ahLst/>
              <a:cxnLst/>
              <a:rect r="r" b="b" t="t" l="l"/>
              <a:pathLst>
                <a:path h="829056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803" r="0" b="-1288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607808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Production Manager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5907024"/>
            <a:ext cx="5705856" cy="402336"/>
            <a:chOff x="0" y="0"/>
            <a:chExt cx="7607808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07808" cy="536448"/>
            </a:xfrm>
            <a:custGeom>
              <a:avLst/>
              <a:gdLst/>
              <a:ahLst/>
              <a:cxnLst/>
              <a:rect r="r" b="b" t="t" l="l"/>
              <a:pathLst>
                <a:path h="536448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333" r="0" b="-2263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0780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Factory Management — Floor Office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4331" y="6464427"/>
            <a:ext cx="5432298" cy="19050"/>
            <a:chOff x="0" y="0"/>
            <a:chExt cx="7243064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0"/>
              <a:ext cx="7217664" cy="25400"/>
            </a:xfrm>
            <a:custGeom>
              <a:avLst/>
              <a:gdLst/>
              <a:ahLst/>
              <a:cxnLst/>
              <a:rect r="r" b="b" t="t" l="l"/>
              <a:pathLst>
                <a:path h="25400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342889" y="2112521"/>
            <a:ext cx="10259063" cy="2285495"/>
            <a:chOff x="0" y="0"/>
            <a:chExt cx="13678751" cy="30473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339079" y="2108711"/>
            <a:ext cx="125987" cy="2293115"/>
            <a:chOff x="0" y="0"/>
            <a:chExt cx="167983" cy="30574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991B1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17536" y="2304288"/>
            <a:ext cx="9729216" cy="365760"/>
            <a:chOff x="0" y="0"/>
            <a:chExt cx="12972288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42889" y="4581401"/>
            <a:ext cx="10259063" cy="2285495"/>
            <a:chOff x="0" y="0"/>
            <a:chExt cx="13678751" cy="30473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339079" y="4577591"/>
            <a:ext cx="125987" cy="2293115"/>
            <a:chOff x="0" y="0"/>
            <a:chExt cx="167983" cy="30574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717536" y="4773168"/>
            <a:ext cx="9729216" cy="365760"/>
            <a:chOff x="0" y="0"/>
            <a:chExt cx="12972288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342889" y="7050281"/>
            <a:ext cx="10259063" cy="2285495"/>
            <a:chOff x="0" y="0"/>
            <a:chExt cx="13678751" cy="30473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339079" y="7046471"/>
            <a:ext cx="125987" cy="2293115"/>
            <a:chOff x="0" y="0"/>
            <a:chExt cx="167983" cy="305748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717536" y="7242048"/>
            <a:ext cx="9729216" cy="365760"/>
            <a:chOff x="0" y="0"/>
            <a:chExt cx="12972288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INTERACTION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464118" y="2386203"/>
            <a:ext cx="2752725" cy="275272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060704" y="6647307"/>
            <a:ext cx="5632704" cy="260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D4ED8"/>
                </a:solidFill>
                <a:latin typeface="Georgia Bold"/>
                <a:ea typeface="Georgia Bold"/>
                <a:cs typeface="Georgia Bold"/>
                <a:sym typeface="Georgia Bold"/>
              </a:rPr>
              <a:t>Primary Goal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Live quality metrics dashboard: PASS / REWORK / MISMATCH rates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17536" y="271386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Quality defects are discovered at end of batch — too late to prevent waste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No structured data on garment size accuracy across the production line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Colour and style compliance verified by eye with no historical records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17536" y="518274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Live quality metrics dashboard: PASS / REWORK / MISMATCH rates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Garment size and colour compliance reports per production run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Session-level inspection logs for audit and compliance purposes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17536" y="765162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Accesses quality inspection dashboard from the floor office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Reviews inspection logs and size distribution charts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Downloads session reports for quality compliance records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STAKEHOLDERS &amp; USER PERSONAS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User Persona — Team Supervisor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6199127" cy="7332983"/>
            <a:chOff x="0" y="0"/>
            <a:chExt cx="8265503" cy="977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8241792" cy="9753600"/>
            </a:xfrm>
            <a:custGeom>
              <a:avLst/>
              <a:gdLst/>
              <a:ahLst/>
              <a:cxnLst/>
              <a:rect r="r" b="b" t="t" l="l"/>
              <a:pathLst>
                <a:path h="9753600" w="8241792">
                  <a:moveTo>
                    <a:pt x="0" y="0"/>
                  </a:moveTo>
                  <a:lnTo>
                    <a:pt x="8241792" y="0"/>
                  </a:lnTo>
                  <a:lnTo>
                    <a:pt x="8241792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3E8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65414" cy="9777222"/>
            </a:xfrm>
            <a:custGeom>
              <a:avLst/>
              <a:gdLst/>
              <a:ahLst/>
              <a:cxnLst/>
              <a:rect r="r" b="b" t="t" l="l"/>
              <a:pathLst>
                <a:path h="9777222" w="8265414">
                  <a:moveTo>
                    <a:pt x="11811" y="0"/>
                  </a:moveTo>
                  <a:lnTo>
                    <a:pt x="8253603" y="0"/>
                  </a:lnTo>
                  <a:cubicBezTo>
                    <a:pt x="8260207" y="0"/>
                    <a:pt x="8265414" y="5334"/>
                    <a:pt x="8265414" y="11811"/>
                  </a:cubicBezTo>
                  <a:lnTo>
                    <a:pt x="8265414" y="9765411"/>
                  </a:lnTo>
                  <a:cubicBezTo>
                    <a:pt x="8265414" y="9772015"/>
                    <a:pt x="8260080" y="9777222"/>
                    <a:pt x="8253603" y="9777222"/>
                  </a:cubicBezTo>
                  <a:lnTo>
                    <a:pt x="11811" y="9777222"/>
                  </a:lnTo>
                  <a:cubicBezTo>
                    <a:pt x="5207" y="9777222"/>
                    <a:pt x="0" y="9771888"/>
                    <a:pt x="0" y="97654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765411"/>
                  </a:lnTo>
                  <a:lnTo>
                    <a:pt x="11811" y="9765411"/>
                  </a:lnTo>
                  <a:lnTo>
                    <a:pt x="11811" y="9753600"/>
                  </a:lnTo>
                  <a:lnTo>
                    <a:pt x="8253603" y="9753600"/>
                  </a:lnTo>
                  <a:lnTo>
                    <a:pt x="8253603" y="9765411"/>
                  </a:lnTo>
                  <a:lnTo>
                    <a:pt x="8241792" y="9765411"/>
                  </a:lnTo>
                  <a:lnTo>
                    <a:pt x="8241792" y="11811"/>
                  </a:lnTo>
                  <a:lnTo>
                    <a:pt x="8253603" y="11811"/>
                  </a:lnTo>
                  <a:lnTo>
                    <a:pt x="825360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5230368"/>
            <a:ext cx="5705856" cy="621792"/>
            <a:chOff x="0" y="0"/>
            <a:chExt cx="7607808" cy="829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07808" cy="829056"/>
            </a:xfrm>
            <a:custGeom>
              <a:avLst/>
              <a:gdLst/>
              <a:ahLst/>
              <a:cxnLst/>
              <a:rect r="r" b="b" t="t" l="l"/>
              <a:pathLst>
                <a:path h="829056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803" r="0" b="-1288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607808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Team Supervisor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5907024"/>
            <a:ext cx="5705856" cy="402336"/>
            <a:chOff x="0" y="0"/>
            <a:chExt cx="7607808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07808" cy="536448"/>
            </a:xfrm>
            <a:custGeom>
              <a:avLst/>
              <a:gdLst/>
              <a:ahLst/>
              <a:cxnLst/>
              <a:rect r="r" b="b" t="t" l="l"/>
              <a:pathLst>
                <a:path h="536448" w="7607808">
                  <a:moveTo>
                    <a:pt x="0" y="0"/>
                  </a:moveTo>
                  <a:lnTo>
                    <a:pt x="7607808" y="0"/>
                  </a:lnTo>
                  <a:lnTo>
                    <a:pt x="760780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333" r="0" b="-2263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0780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Academic Research — University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4331" y="6464427"/>
            <a:ext cx="5432298" cy="19050"/>
            <a:chOff x="0" y="0"/>
            <a:chExt cx="7243064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0"/>
              <a:ext cx="7217664" cy="25400"/>
            </a:xfrm>
            <a:custGeom>
              <a:avLst/>
              <a:gdLst/>
              <a:ahLst/>
              <a:cxnLst/>
              <a:rect r="r" b="b" t="t" l="l"/>
              <a:pathLst>
                <a:path h="25400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60704" y="6647307"/>
            <a:ext cx="5632704" cy="260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6B21A8"/>
                </a:solidFill>
                <a:latin typeface="Georgia Bold"/>
                <a:ea typeface="Georgia Bold"/>
                <a:cs typeface="Georgia Bold"/>
                <a:sym typeface="Georgia Bold"/>
              </a:rPr>
              <a:t>Primary Goal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novelty demonstrated through a working live prototype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342889" y="2112521"/>
            <a:ext cx="10259063" cy="2285495"/>
            <a:chOff x="0" y="0"/>
            <a:chExt cx="13678751" cy="30473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339079" y="2108711"/>
            <a:ext cx="125987" cy="2293115"/>
            <a:chOff x="0" y="0"/>
            <a:chExt cx="167983" cy="30574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991B1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17536" y="2304288"/>
            <a:ext cx="9729216" cy="365760"/>
            <a:chOff x="0" y="0"/>
            <a:chExt cx="12972288" cy="487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717536" y="2713863"/>
            <a:ext cx="96926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Requires clear and verifiable evidence of technical novelty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prototype must demonstrate all four features cohesively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Methodology and dataset quality must meet academic rigour standards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342889" y="4581401"/>
            <a:ext cx="10259063" cy="2285495"/>
            <a:chOff x="0" y="0"/>
            <a:chExt cx="13678751" cy="3047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39079" y="4577591"/>
            <a:ext cx="125987" cy="2293115"/>
            <a:chOff x="0" y="0"/>
            <a:chExt cx="167983" cy="30574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717536" y="4773168"/>
            <a:ext cx="9729216" cy="365760"/>
            <a:chOff x="0" y="0"/>
            <a:chExt cx="12972288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GOALS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717536" y="518274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novelty demonstrated through a working live prototype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Technically sound system architecture with documented methodology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quality and annotation process rigorously documented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342889" y="7050281"/>
            <a:ext cx="10259063" cy="2285495"/>
            <a:chOff x="0" y="0"/>
            <a:chExt cx="13678751" cy="30473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1811" y="11811"/>
              <a:ext cx="13655040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F3E8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678661" cy="3047238"/>
            </a:xfrm>
            <a:custGeom>
              <a:avLst/>
              <a:gdLst/>
              <a:ahLst/>
              <a:cxnLst/>
              <a:rect r="r" b="b" t="t" l="l"/>
              <a:pathLst>
                <a:path h="3047238" w="13678661">
                  <a:moveTo>
                    <a:pt x="11811" y="0"/>
                  </a:moveTo>
                  <a:lnTo>
                    <a:pt x="13666851" y="0"/>
                  </a:lnTo>
                  <a:cubicBezTo>
                    <a:pt x="13673454" y="0"/>
                    <a:pt x="13678661" y="5334"/>
                    <a:pt x="13678661" y="11811"/>
                  </a:cubicBezTo>
                  <a:lnTo>
                    <a:pt x="13678661" y="3035427"/>
                  </a:lnTo>
                  <a:cubicBezTo>
                    <a:pt x="13678661" y="3042031"/>
                    <a:pt x="13673328" y="3047238"/>
                    <a:pt x="13666851" y="3047238"/>
                  </a:cubicBezTo>
                  <a:lnTo>
                    <a:pt x="11811" y="3047238"/>
                  </a:lnTo>
                  <a:cubicBezTo>
                    <a:pt x="5207" y="3047238"/>
                    <a:pt x="0" y="3041904"/>
                    <a:pt x="0" y="303542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035427"/>
                  </a:lnTo>
                  <a:lnTo>
                    <a:pt x="11811" y="3035427"/>
                  </a:lnTo>
                  <a:lnTo>
                    <a:pt x="11811" y="3023616"/>
                  </a:lnTo>
                  <a:lnTo>
                    <a:pt x="13666851" y="3023616"/>
                  </a:lnTo>
                  <a:lnTo>
                    <a:pt x="13666851" y="3035427"/>
                  </a:lnTo>
                  <a:lnTo>
                    <a:pt x="13655039" y="3035427"/>
                  </a:lnTo>
                  <a:lnTo>
                    <a:pt x="13655039" y="11811"/>
                  </a:lnTo>
                  <a:lnTo>
                    <a:pt x="13666851" y="11811"/>
                  </a:lnTo>
                  <a:lnTo>
                    <a:pt x="1366685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339079" y="7046471"/>
            <a:ext cx="125987" cy="2293115"/>
            <a:chOff x="0" y="0"/>
            <a:chExt cx="167983" cy="305748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34112" cy="3023616"/>
            </a:xfrm>
            <a:custGeom>
              <a:avLst/>
              <a:gdLst/>
              <a:ahLst/>
              <a:cxnLst/>
              <a:rect r="r" b="b" t="t" l="l"/>
              <a:pathLst>
                <a:path h="302361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023616"/>
                  </a:lnTo>
                  <a:lnTo>
                    <a:pt x="0" y="3023616"/>
                  </a:lnTo>
                  <a:close/>
                </a:path>
              </a:pathLst>
            </a:custGeom>
            <a:solidFill>
              <a:srgbClr val="6B21A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7894" cy="3057398"/>
            </a:xfrm>
            <a:custGeom>
              <a:avLst/>
              <a:gdLst/>
              <a:ahLst/>
              <a:cxnLst/>
              <a:rect r="r" b="b" t="t" l="l"/>
              <a:pathLst>
                <a:path h="305739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040507"/>
                  </a:lnTo>
                  <a:cubicBezTo>
                    <a:pt x="167894" y="3049905"/>
                    <a:pt x="160274" y="3057398"/>
                    <a:pt x="151003" y="3057398"/>
                  </a:cubicBezTo>
                  <a:lnTo>
                    <a:pt x="16891" y="3057398"/>
                  </a:lnTo>
                  <a:cubicBezTo>
                    <a:pt x="7493" y="3057398"/>
                    <a:pt x="0" y="3049778"/>
                    <a:pt x="0" y="30405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40507"/>
                  </a:lnTo>
                  <a:lnTo>
                    <a:pt x="16891" y="3040507"/>
                  </a:lnTo>
                  <a:lnTo>
                    <a:pt x="16891" y="3023616"/>
                  </a:lnTo>
                  <a:lnTo>
                    <a:pt x="151003" y="3023616"/>
                  </a:lnTo>
                  <a:lnTo>
                    <a:pt x="151003" y="3040507"/>
                  </a:lnTo>
                  <a:lnTo>
                    <a:pt x="134112" y="304050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717536" y="7242048"/>
            <a:ext cx="9729216" cy="365760"/>
            <a:chOff x="0" y="0"/>
            <a:chExt cx="12972288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972288" cy="487680"/>
            </a:xfrm>
            <a:custGeom>
              <a:avLst/>
              <a:gdLst/>
              <a:ahLst/>
              <a:cxnLst/>
              <a:rect r="r" b="b" t="t" l="l"/>
              <a:pathLst>
                <a:path h="487680" w="12972288">
                  <a:moveTo>
                    <a:pt x="0" y="0"/>
                  </a:moveTo>
                  <a:lnTo>
                    <a:pt x="12972288" y="0"/>
                  </a:lnTo>
                  <a:lnTo>
                    <a:pt x="129722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301" r="0" b="-4683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29722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6B21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INTERACTION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7717536" y="7651623"/>
            <a:ext cx="96926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Reviews progress presentations and technical demonstrations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Assesses system architecture, AI pipeline, and research novelty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Evaluates dataset building process and model development plan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464118" y="2386203"/>
            <a:ext cx="2752725" cy="275272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Architecture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9747504"/>
            <a:ext cx="14630400" cy="329184"/>
            <a:chOff x="0" y="0"/>
            <a:chExt cx="19507200" cy="43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00" cy="438912"/>
            </a:xfrm>
            <a:custGeom>
              <a:avLst/>
              <a:gdLst/>
              <a:ahLst/>
              <a:cxnLst/>
              <a:rect r="r" b="b" t="t" l="l"/>
              <a:pathLst>
                <a:path h="43891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1" r="0" b="-8160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5072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Vision System — R26-IT-054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190951" y="1188720"/>
            <a:ext cx="13906097" cy="8558784"/>
          </a:xfrm>
          <a:custGeom>
            <a:avLst/>
            <a:gdLst/>
            <a:ahLst/>
            <a:cxnLst/>
            <a:rect r="r" b="b" t="t" l="l"/>
            <a:pathLst>
              <a:path h="8558784" w="13906097">
                <a:moveTo>
                  <a:pt x="0" y="0"/>
                </a:moveTo>
                <a:lnTo>
                  <a:pt x="13906098" y="0"/>
                </a:lnTo>
                <a:lnTo>
                  <a:pt x="13906098" y="8558784"/>
                </a:lnTo>
                <a:lnTo>
                  <a:pt x="0" y="8558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721" r="-1319" b="-272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349740"/>
          </a:xfrm>
          <a:custGeom>
            <a:avLst/>
            <a:gdLst/>
            <a:ahLst/>
            <a:cxnLst/>
            <a:rect r="r" b="b" t="t" l="l"/>
            <a:pathLst>
              <a:path h="9349740" w="18288000">
                <a:moveTo>
                  <a:pt x="0" y="0"/>
                </a:moveTo>
                <a:lnTo>
                  <a:pt x="18288000" y="0"/>
                </a:lnTo>
                <a:lnTo>
                  <a:pt x="18288000" y="9349740"/>
                </a:lnTo>
                <a:lnTo>
                  <a:pt x="0" y="9349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692640"/>
          </a:xfrm>
          <a:custGeom>
            <a:avLst/>
            <a:gdLst/>
            <a:ahLst/>
            <a:cxnLst/>
            <a:rect r="r" b="b" t="t" l="l"/>
            <a:pathLst>
              <a:path h="9692640" w="18288000">
                <a:moveTo>
                  <a:pt x="0" y="0"/>
                </a:moveTo>
                <a:lnTo>
                  <a:pt x="18288000" y="0"/>
                </a:lnTo>
                <a:lnTo>
                  <a:pt x="18288000" y="9692640"/>
                </a:lnTo>
                <a:lnTo>
                  <a:pt x="0" y="969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F65">
                <a:alpha val="100000"/>
              </a:srgbClr>
            </a:gs>
            <a:gs pos="100000">
              <a:srgbClr val="6895F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8321040"/>
          </a:xfrm>
          <a:custGeom>
            <a:avLst/>
            <a:gdLst/>
            <a:ahLst/>
            <a:cxnLst/>
            <a:rect r="r" b="b" t="t" l="l"/>
            <a:pathLst>
              <a:path h="8321040" w="18288000">
                <a:moveTo>
                  <a:pt x="0" y="0"/>
                </a:moveTo>
                <a:lnTo>
                  <a:pt x="18288000" y="0"/>
                </a:lnTo>
                <a:lnTo>
                  <a:pt x="18288000" y="8321040"/>
                </a:lnTo>
                <a:lnTo>
                  <a:pt x="0" y="832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624060"/>
          </a:xfrm>
          <a:custGeom>
            <a:avLst/>
            <a:gdLst/>
            <a:ahLst/>
            <a:cxnLst/>
            <a:rect r="r" b="b" t="t" l="l"/>
            <a:pathLst>
              <a:path h="9624060" w="18288000">
                <a:moveTo>
                  <a:pt x="0" y="0"/>
                </a:moveTo>
                <a:lnTo>
                  <a:pt x="18288000" y="0"/>
                </a:lnTo>
                <a:lnTo>
                  <a:pt x="18288000" y="9624060"/>
                </a:lnTo>
                <a:lnTo>
                  <a:pt x="0" y="9624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26-IT-054  ·  FEATURE 2  ·  IT21255892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2374212"/>
            <a:chOff x="0" y="0"/>
            <a:chExt cx="22433280" cy="3165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3165616"/>
            </a:xfrm>
            <a:custGeom>
              <a:avLst/>
              <a:gdLst/>
              <a:ahLst/>
              <a:cxnLst/>
              <a:rect r="r" b="b" t="t" l="l"/>
              <a:pathLst>
                <a:path h="31656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165616"/>
                  </a:lnTo>
                  <a:lnTo>
                    <a:pt x="0" y="31656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047" r="0" b="-63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33280" cy="3184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 2 </a:t>
              </a:r>
            </a:p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Vision-Based Piece Counting and Cycle Time Estimation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8" y="3322480"/>
            <a:ext cx="16772125" cy="47625"/>
            <a:chOff x="0" y="0"/>
            <a:chExt cx="22362833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63411"/>
            </a:xfrm>
            <a:custGeom>
              <a:avLst/>
              <a:gdLst/>
              <a:ahLst/>
              <a:cxnLst/>
              <a:rect r="r" b="b" t="t" l="l"/>
              <a:pathLst>
                <a:path h="6341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63411"/>
                  </a:lnTo>
                  <a:lnTo>
                    <a:pt x="0" y="6341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8468" y="3638159"/>
            <a:ext cx="6838581" cy="4182046"/>
            <a:chOff x="0" y="0"/>
            <a:chExt cx="9118109" cy="55760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608" y="6873"/>
              <a:ext cx="9086775" cy="5562263"/>
            </a:xfrm>
            <a:custGeom>
              <a:avLst/>
              <a:gdLst/>
              <a:ahLst/>
              <a:cxnLst/>
              <a:rect r="r" b="b" t="t" l="l"/>
              <a:pathLst>
                <a:path h="5562263" w="9086775">
                  <a:moveTo>
                    <a:pt x="0" y="0"/>
                  </a:moveTo>
                  <a:lnTo>
                    <a:pt x="9086775" y="0"/>
                  </a:lnTo>
                  <a:lnTo>
                    <a:pt x="9086775" y="5562263"/>
                  </a:lnTo>
                  <a:lnTo>
                    <a:pt x="0" y="5562263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17991" cy="5576009"/>
            </a:xfrm>
            <a:custGeom>
              <a:avLst/>
              <a:gdLst/>
              <a:ahLst/>
              <a:cxnLst/>
              <a:rect r="r" b="b" t="t" l="l"/>
              <a:pathLst>
                <a:path h="5576009" w="9117991">
                  <a:moveTo>
                    <a:pt x="15608" y="0"/>
                  </a:moveTo>
                  <a:lnTo>
                    <a:pt x="9102383" y="0"/>
                  </a:lnTo>
                  <a:cubicBezTo>
                    <a:pt x="9111111" y="0"/>
                    <a:pt x="9117991" y="3104"/>
                    <a:pt x="9117991" y="6873"/>
                  </a:cubicBezTo>
                  <a:lnTo>
                    <a:pt x="9117991" y="5569136"/>
                  </a:lnTo>
                  <a:cubicBezTo>
                    <a:pt x="9117991" y="5572980"/>
                    <a:pt x="9110942" y="5576009"/>
                    <a:pt x="9102383" y="5576009"/>
                  </a:cubicBezTo>
                  <a:lnTo>
                    <a:pt x="15608" y="5576009"/>
                  </a:lnTo>
                  <a:cubicBezTo>
                    <a:pt x="6881" y="5576009"/>
                    <a:pt x="0" y="5572906"/>
                    <a:pt x="0" y="5569136"/>
                  </a:cubicBezTo>
                  <a:lnTo>
                    <a:pt x="0" y="6873"/>
                  </a:lnTo>
                  <a:cubicBezTo>
                    <a:pt x="0" y="3104"/>
                    <a:pt x="7049" y="0"/>
                    <a:pt x="15608" y="0"/>
                  </a:cubicBezTo>
                  <a:moveTo>
                    <a:pt x="15608" y="13820"/>
                  </a:moveTo>
                  <a:lnTo>
                    <a:pt x="15608" y="6873"/>
                  </a:lnTo>
                  <a:lnTo>
                    <a:pt x="31216" y="6873"/>
                  </a:lnTo>
                  <a:lnTo>
                    <a:pt x="31216" y="5569136"/>
                  </a:lnTo>
                  <a:lnTo>
                    <a:pt x="15608" y="5569136"/>
                  </a:lnTo>
                  <a:lnTo>
                    <a:pt x="15608" y="5562264"/>
                  </a:lnTo>
                  <a:lnTo>
                    <a:pt x="9102383" y="5562264"/>
                  </a:lnTo>
                  <a:lnTo>
                    <a:pt x="9102383" y="5569136"/>
                  </a:lnTo>
                  <a:lnTo>
                    <a:pt x="9086776" y="5569136"/>
                  </a:lnTo>
                  <a:lnTo>
                    <a:pt x="9086776" y="6873"/>
                  </a:lnTo>
                  <a:lnTo>
                    <a:pt x="9102383" y="6873"/>
                  </a:lnTo>
                  <a:lnTo>
                    <a:pt x="9102383" y="13746"/>
                  </a:lnTo>
                  <a:lnTo>
                    <a:pt x="15608" y="1374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4658" y="3634349"/>
            <a:ext cx="121282" cy="4185856"/>
            <a:chOff x="0" y="0"/>
            <a:chExt cx="161709" cy="55811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260" y="9828"/>
              <a:ext cx="129103" cy="5561434"/>
            </a:xfrm>
            <a:custGeom>
              <a:avLst/>
              <a:gdLst/>
              <a:ahLst/>
              <a:cxnLst/>
              <a:rect r="r" b="b" t="t" l="l"/>
              <a:pathLst>
                <a:path h="5561434" w="129103">
                  <a:moveTo>
                    <a:pt x="0" y="0"/>
                  </a:moveTo>
                  <a:lnTo>
                    <a:pt x="129103" y="0"/>
                  </a:lnTo>
                  <a:lnTo>
                    <a:pt x="129103" y="5561433"/>
                  </a:lnTo>
                  <a:lnTo>
                    <a:pt x="0" y="5561433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624" cy="5581089"/>
            </a:xfrm>
            <a:custGeom>
              <a:avLst/>
              <a:gdLst/>
              <a:ahLst/>
              <a:cxnLst/>
              <a:rect r="r" b="b" t="t" l="l"/>
              <a:pathLst>
                <a:path h="5581089" w="161624">
                  <a:moveTo>
                    <a:pt x="16260" y="0"/>
                  </a:moveTo>
                  <a:lnTo>
                    <a:pt x="145363" y="0"/>
                  </a:lnTo>
                  <a:cubicBezTo>
                    <a:pt x="154410" y="0"/>
                    <a:pt x="161624" y="4434"/>
                    <a:pt x="161624" y="9828"/>
                  </a:cubicBezTo>
                  <a:lnTo>
                    <a:pt x="161624" y="5571261"/>
                  </a:lnTo>
                  <a:cubicBezTo>
                    <a:pt x="161624" y="5576729"/>
                    <a:pt x="154288" y="5581089"/>
                    <a:pt x="145363" y="5581089"/>
                  </a:cubicBezTo>
                  <a:lnTo>
                    <a:pt x="16260" y="5581089"/>
                  </a:lnTo>
                  <a:cubicBezTo>
                    <a:pt x="7213" y="5581089"/>
                    <a:pt x="0" y="5576655"/>
                    <a:pt x="0" y="5571261"/>
                  </a:cubicBezTo>
                  <a:lnTo>
                    <a:pt x="0" y="9828"/>
                  </a:lnTo>
                  <a:cubicBezTo>
                    <a:pt x="0" y="4434"/>
                    <a:pt x="7335" y="0"/>
                    <a:pt x="16260" y="0"/>
                  </a:cubicBezTo>
                  <a:moveTo>
                    <a:pt x="16260" y="19729"/>
                  </a:moveTo>
                  <a:lnTo>
                    <a:pt x="16260" y="9828"/>
                  </a:lnTo>
                  <a:lnTo>
                    <a:pt x="32643" y="9828"/>
                  </a:lnTo>
                  <a:lnTo>
                    <a:pt x="32643" y="5571261"/>
                  </a:lnTo>
                  <a:lnTo>
                    <a:pt x="16260" y="5571261"/>
                  </a:lnTo>
                  <a:lnTo>
                    <a:pt x="16260" y="5561434"/>
                  </a:lnTo>
                  <a:lnTo>
                    <a:pt x="145363" y="5561434"/>
                  </a:lnTo>
                  <a:lnTo>
                    <a:pt x="145363" y="5571261"/>
                  </a:lnTo>
                  <a:lnTo>
                    <a:pt x="129103" y="5571261"/>
                  </a:lnTo>
                  <a:lnTo>
                    <a:pt x="129103" y="9828"/>
                  </a:lnTo>
                  <a:lnTo>
                    <a:pt x="145363" y="9828"/>
                  </a:lnTo>
                  <a:lnTo>
                    <a:pt x="145363" y="19729"/>
                  </a:lnTo>
                  <a:lnTo>
                    <a:pt x="16260" y="1972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43115" y="3866502"/>
            <a:ext cx="4572000" cy="365760"/>
            <a:chOff x="0" y="0"/>
            <a:chExt cx="609600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43115" y="4226166"/>
            <a:ext cx="6059355" cy="22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611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a vision-based system to detect completed garment piece events at a sewing workstation</a:t>
            </a:r>
          </a:p>
          <a:p>
            <a:pPr algn="l" marL="453390" indent="-226695" lvl="1">
              <a:lnSpc>
                <a:spcPts val="3611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Count finished garment pieces automatically from workstation videos</a:t>
            </a:r>
          </a:p>
          <a:p>
            <a:pPr algn="l" marL="453390" indent="-226695" lvl="1">
              <a:lnSpc>
                <a:spcPts val="3611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Estimate cycle time from completed-piece events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79211" y="3641969"/>
            <a:ext cx="6980089" cy="4182046"/>
            <a:chOff x="0" y="0"/>
            <a:chExt cx="9306786" cy="55760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231" y="6873"/>
              <a:ext cx="9276210" cy="5562263"/>
            </a:xfrm>
            <a:custGeom>
              <a:avLst/>
              <a:gdLst/>
              <a:ahLst/>
              <a:cxnLst/>
              <a:rect r="r" b="b" t="t" l="l"/>
              <a:pathLst>
                <a:path h="5562263" w="9276210">
                  <a:moveTo>
                    <a:pt x="0" y="0"/>
                  </a:moveTo>
                  <a:lnTo>
                    <a:pt x="9276210" y="0"/>
                  </a:lnTo>
                  <a:lnTo>
                    <a:pt x="9276210" y="5562263"/>
                  </a:lnTo>
                  <a:lnTo>
                    <a:pt x="0" y="5562263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06671" cy="5576009"/>
            </a:xfrm>
            <a:custGeom>
              <a:avLst/>
              <a:gdLst/>
              <a:ahLst/>
              <a:cxnLst/>
              <a:rect r="r" b="b" t="t" l="l"/>
              <a:pathLst>
                <a:path h="5576009" w="9306671">
                  <a:moveTo>
                    <a:pt x="15231" y="0"/>
                  </a:moveTo>
                  <a:lnTo>
                    <a:pt x="9291441" y="0"/>
                  </a:lnTo>
                  <a:cubicBezTo>
                    <a:pt x="9299957" y="0"/>
                    <a:pt x="9306671" y="3104"/>
                    <a:pt x="9306671" y="6873"/>
                  </a:cubicBezTo>
                  <a:lnTo>
                    <a:pt x="9306671" y="5569136"/>
                  </a:lnTo>
                  <a:cubicBezTo>
                    <a:pt x="9306671" y="5572980"/>
                    <a:pt x="9299794" y="5576009"/>
                    <a:pt x="9291441" y="5576009"/>
                  </a:cubicBezTo>
                  <a:lnTo>
                    <a:pt x="15231" y="5576009"/>
                  </a:lnTo>
                  <a:cubicBezTo>
                    <a:pt x="6715" y="5576009"/>
                    <a:pt x="0" y="5572906"/>
                    <a:pt x="0" y="5569136"/>
                  </a:cubicBezTo>
                  <a:lnTo>
                    <a:pt x="0" y="6873"/>
                  </a:lnTo>
                  <a:cubicBezTo>
                    <a:pt x="0" y="3104"/>
                    <a:pt x="6879" y="0"/>
                    <a:pt x="15231" y="0"/>
                  </a:cubicBezTo>
                  <a:moveTo>
                    <a:pt x="15231" y="13820"/>
                  </a:moveTo>
                  <a:lnTo>
                    <a:pt x="15231" y="6873"/>
                  </a:lnTo>
                  <a:lnTo>
                    <a:pt x="30462" y="6873"/>
                  </a:lnTo>
                  <a:lnTo>
                    <a:pt x="30462" y="5569136"/>
                  </a:lnTo>
                  <a:lnTo>
                    <a:pt x="15231" y="5569136"/>
                  </a:lnTo>
                  <a:lnTo>
                    <a:pt x="15231" y="5562264"/>
                  </a:lnTo>
                  <a:lnTo>
                    <a:pt x="9291441" y="5562264"/>
                  </a:lnTo>
                  <a:lnTo>
                    <a:pt x="9291441" y="5569136"/>
                  </a:lnTo>
                  <a:lnTo>
                    <a:pt x="9276210" y="5569136"/>
                  </a:lnTo>
                  <a:lnTo>
                    <a:pt x="9276210" y="6873"/>
                  </a:lnTo>
                  <a:lnTo>
                    <a:pt x="9291441" y="6873"/>
                  </a:lnTo>
                  <a:lnTo>
                    <a:pt x="9291441" y="13746"/>
                  </a:lnTo>
                  <a:lnTo>
                    <a:pt x="15231" y="1374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75401" y="3638159"/>
            <a:ext cx="121282" cy="4185856"/>
            <a:chOff x="0" y="0"/>
            <a:chExt cx="161709" cy="55811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260" y="9828"/>
              <a:ext cx="129103" cy="5561434"/>
            </a:xfrm>
            <a:custGeom>
              <a:avLst/>
              <a:gdLst/>
              <a:ahLst/>
              <a:cxnLst/>
              <a:rect r="r" b="b" t="t" l="l"/>
              <a:pathLst>
                <a:path h="5561434" w="129103">
                  <a:moveTo>
                    <a:pt x="0" y="0"/>
                  </a:moveTo>
                  <a:lnTo>
                    <a:pt x="129103" y="0"/>
                  </a:lnTo>
                  <a:lnTo>
                    <a:pt x="129103" y="5561433"/>
                  </a:lnTo>
                  <a:lnTo>
                    <a:pt x="0" y="5561433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1624" cy="5581089"/>
            </a:xfrm>
            <a:custGeom>
              <a:avLst/>
              <a:gdLst/>
              <a:ahLst/>
              <a:cxnLst/>
              <a:rect r="r" b="b" t="t" l="l"/>
              <a:pathLst>
                <a:path h="5581089" w="161624">
                  <a:moveTo>
                    <a:pt x="16260" y="0"/>
                  </a:moveTo>
                  <a:lnTo>
                    <a:pt x="145363" y="0"/>
                  </a:lnTo>
                  <a:cubicBezTo>
                    <a:pt x="154410" y="0"/>
                    <a:pt x="161624" y="4434"/>
                    <a:pt x="161624" y="9828"/>
                  </a:cubicBezTo>
                  <a:lnTo>
                    <a:pt x="161624" y="5571261"/>
                  </a:lnTo>
                  <a:cubicBezTo>
                    <a:pt x="161624" y="5576729"/>
                    <a:pt x="154288" y="5581089"/>
                    <a:pt x="145363" y="5581089"/>
                  </a:cubicBezTo>
                  <a:lnTo>
                    <a:pt x="16260" y="5581089"/>
                  </a:lnTo>
                  <a:cubicBezTo>
                    <a:pt x="7213" y="5581089"/>
                    <a:pt x="0" y="5576655"/>
                    <a:pt x="0" y="5571261"/>
                  </a:cubicBezTo>
                  <a:lnTo>
                    <a:pt x="0" y="9828"/>
                  </a:lnTo>
                  <a:cubicBezTo>
                    <a:pt x="0" y="4434"/>
                    <a:pt x="7335" y="0"/>
                    <a:pt x="16260" y="0"/>
                  </a:cubicBezTo>
                  <a:moveTo>
                    <a:pt x="16260" y="19729"/>
                  </a:moveTo>
                  <a:lnTo>
                    <a:pt x="16260" y="9828"/>
                  </a:lnTo>
                  <a:lnTo>
                    <a:pt x="32643" y="9828"/>
                  </a:lnTo>
                  <a:lnTo>
                    <a:pt x="32643" y="5571261"/>
                  </a:lnTo>
                  <a:lnTo>
                    <a:pt x="16260" y="5571261"/>
                  </a:lnTo>
                  <a:lnTo>
                    <a:pt x="16260" y="5561434"/>
                  </a:lnTo>
                  <a:lnTo>
                    <a:pt x="145363" y="5561434"/>
                  </a:lnTo>
                  <a:lnTo>
                    <a:pt x="145363" y="5571261"/>
                  </a:lnTo>
                  <a:lnTo>
                    <a:pt x="129103" y="5571261"/>
                  </a:lnTo>
                  <a:lnTo>
                    <a:pt x="129103" y="9828"/>
                  </a:lnTo>
                  <a:lnTo>
                    <a:pt x="145363" y="9828"/>
                  </a:lnTo>
                  <a:lnTo>
                    <a:pt x="145363" y="19729"/>
                  </a:lnTo>
                  <a:lnTo>
                    <a:pt x="16260" y="1972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53857" y="3870312"/>
            <a:ext cx="4846320" cy="365760"/>
            <a:chOff x="0" y="0"/>
            <a:chExt cx="646176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61760" cy="487680"/>
            </a:xfrm>
            <a:custGeom>
              <a:avLst/>
              <a:gdLst/>
              <a:ahLst/>
              <a:cxnLst/>
              <a:rect r="r" b="b" t="t" l="l"/>
              <a:pathLst>
                <a:path h="4876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6461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PROBLEM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53857" y="4268076"/>
            <a:ext cx="6262543" cy="288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piece counting is slow and error-prone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per-operator cycle time is difficult to measure manually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 real factory videos, the output area is not always fixed or clearly visible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 practical solution must work under different operator behaviors and workstation layouts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68096" y="9747504"/>
            <a:ext cx="14264640" cy="329184"/>
            <a:chOff x="0" y="0"/>
            <a:chExt cx="19019520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19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4351" r="0" b="-79435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9019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2 — Vision-Based Piece Counting &amp; Cycle Time Estimation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R26-IT-054 · FEATURE 2 · IT21255892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 the Counting Strategy Changed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7698743" cy="5540759"/>
            <a:chOff x="0" y="0"/>
            <a:chExt cx="10264991" cy="73876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10241280" cy="7363968"/>
            </a:xfrm>
            <a:custGeom>
              <a:avLst/>
              <a:gdLst/>
              <a:ahLst/>
              <a:cxnLst/>
              <a:rect r="r" b="b" t="t" l="l"/>
              <a:pathLst>
                <a:path h="7363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63968"/>
                  </a:lnTo>
                  <a:lnTo>
                    <a:pt x="0" y="736396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4902" cy="7387590"/>
            </a:xfrm>
            <a:custGeom>
              <a:avLst/>
              <a:gdLst/>
              <a:ahLst/>
              <a:cxnLst/>
              <a:rect r="r" b="b" t="t" l="l"/>
              <a:pathLst>
                <a:path h="7387590" w="10264902">
                  <a:moveTo>
                    <a:pt x="11811" y="0"/>
                  </a:moveTo>
                  <a:lnTo>
                    <a:pt x="10253091" y="0"/>
                  </a:lnTo>
                  <a:cubicBezTo>
                    <a:pt x="10259695" y="0"/>
                    <a:pt x="10264902" y="5334"/>
                    <a:pt x="10264902" y="11811"/>
                  </a:cubicBezTo>
                  <a:lnTo>
                    <a:pt x="10264902" y="7375779"/>
                  </a:lnTo>
                  <a:cubicBezTo>
                    <a:pt x="10264902" y="7382383"/>
                    <a:pt x="10259568" y="7387590"/>
                    <a:pt x="10253091" y="7387590"/>
                  </a:cubicBezTo>
                  <a:lnTo>
                    <a:pt x="11811" y="7387590"/>
                  </a:lnTo>
                  <a:cubicBezTo>
                    <a:pt x="5207" y="7387590"/>
                    <a:pt x="0" y="7382256"/>
                    <a:pt x="0" y="737577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7375779"/>
                  </a:lnTo>
                  <a:lnTo>
                    <a:pt x="11811" y="7375779"/>
                  </a:lnTo>
                  <a:lnTo>
                    <a:pt x="11811" y="7363968"/>
                  </a:lnTo>
                  <a:lnTo>
                    <a:pt x="10253091" y="7363968"/>
                  </a:lnTo>
                  <a:lnTo>
                    <a:pt x="10253091" y="7375779"/>
                  </a:lnTo>
                  <a:lnTo>
                    <a:pt x="10241280" y="7375779"/>
                  </a:lnTo>
                  <a:lnTo>
                    <a:pt x="10241280" y="11811"/>
                  </a:lnTo>
                  <a:lnTo>
                    <a:pt x="10253091" y="11811"/>
                  </a:lnTo>
                  <a:lnTo>
                    <a:pt x="102530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5399" y="2108711"/>
            <a:ext cx="125987" cy="5548379"/>
            <a:chOff x="0" y="0"/>
            <a:chExt cx="167983" cy="7397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34112" cy="7363968"/>
            </a:xfrm>
            <a:custGeom>
              <a:avLst/>
              <a:gdLst/>
              <a:ahLst/>
              <a:cxnLst/>
              <a:rect r="r" b="b" t="t" l="l"/>
              <a:pathLst>
                <a:path h="736396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7363968"/>
                  </a:lnTo>
                  <a:lnTo>
                    <a:pt x="0" y="7363968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894" cy="7397750"/>
            </a:xfrm>
            <a:custGeom>
              <a:avLst/>
              <a:gdLst/>
              <a:ahLst/>
              <a:cxnLst/>
              <a:rect r="r" b="b" t="t" l="l"/>
              <a:pathLst>
                <a:path h="739775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7380859"/>
                  </a:lnTo>
                  <a:cubicBezTo>
                    <a:pt x="167894" y="7390257"/>
                    <a:pt x="160274" y="7397750"/>
                    <a:pt x="151003" y="7397750"/>
                  </a:cubicBezTo>
                  <a:lnTo>
                    <a:pt x="16891" y="7397750"/>
                  </a:lnTo>
                  <a:cubicBezTo>
                    <a:pt x="7493" y="7397750"/>
                    <a:pt x="0" y="7390130"/>
                    <a:pt x="0" y="7380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80859"/>
                  </a:lnTo>
                  <a:lnTo>
                    <a:pt x="16891" y="7380859"/>
                  </a:lnTo>
                  <a:lnTo>
                    <a:pt x="16891" y="7363968"/>
                  </a:lnTo>
                  <a:lnTo>
                    <a:pt x="151003" y="7363968"/>
                  </a:lnTo>
                  <a:lnTo>
                    <a:pt x="151003" y="7380859"/>
                  </a:lnTo>
                  <a:lnTo>
                    <a:pt x="134112" y="738085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3856" y="2340864"/>
            <a:ext cx="6949440" cy="365760"/>
            <a:chOff x="0" y="0"/>
            <a:chExt cx="926592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2659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 IDEA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33856" y="2768727"/>
            <a:ext cx="6912864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Define a fixed output zone in the workstation camera view. When the operator's hand or finished garment entered that zone, the counter would increment by one.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76023" y="4394711"/>
            <a:ext cx="1781051" cy="976379"/>
            <a:chOff x="0" y="0"/>
            <a:chExt cx="2374735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4646" cy="1301750"/>
            </a:xfrm>
            <a:custGeom>
              <a:avLst/>
              <a:gdLst/>
              <a:ahLst/>
              <a:cxnLst/>
              <a:rect r="r" b="b" t="t" l="l"/>
              <a:pathLst>
                <a:path h="1301750" w="2374646">
                  <a:moveTo>
                    <a:pt x="16891" y="0"/>
                  </a:moveTo>
                  <a:lnTo>
                    <a:pt x="2357755" y="0"/>
                  </a:lnTo>
                  <a:cubicBezTo>
                    <a:pt x="2367153" y="0"/>
                    <a:pt x="2374646" y="7620"/>
                    <a:pt x="2374646" y="16891"/>
                  </a:cubicBezTo>
                  <a:lnTo>
                    <a:pt x="2374646" y="1284859"/>
                  </a:lnTo>
                  <a:cubicBezTo>
                    <a:pt x="2374646" y="1294257"/>
                    <a:pt x="2367026" y="1301750"/>
                    <a:pt x="235775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57755" y="1267968"/>
                  </a:lnTo>
                  <a:lnTo>
                    <a:pt x="2357755" y="1284859"/>
                  </a:lnTo>
                  <a:lnTo>
                    <a:pt x="2340864" y="1284859"/>
                  </a:lnTo>
                  <a:lnTo>
                    <a:pt x="2340864" y="16891"/>
                  </a:lnTo>
                  <a:lnTo>
                    <a:pt x="2357755" y="16891"/>
                  </a:lnTo>
                  <a:lnTo>
                    <a:pt x="23577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4407408"/>
            <a:ext cx="1755648" cy="950976"/>
            <a:chOff x="0" y="0"/>
            <a:chExt cx="2340864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408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340864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CAMERA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29128" y="4867656"/>
            <a:ext cx="579120" cy="30480"/>
            <a:chOff x="0" y="0"/>
            <a:chExt cx="772160" cy="40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0320" y="0"/>
              <a:ext cx="731520" cy="40640"/>
            </a:xfrm>
            <a:custGeom>
              <a:avLst/>
              <a:gdLst/>
              <a:ahLst/>
              <a:cxnLst/>
              <a:rect r="r" b="b" t="t" l="l"/>
              <a:pathLst>
                <a:path h="40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271399" y="4727829"/>
            <a:ext cx="329184" cy="365760"/>
            <a:chOff x="0" y="0"/>
            <a:chExt cx="438912" cy="487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3891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480311" y="4284983"/>
            <a:ext cx="2439419" cy="1195835"/>
            <a:chOff x="0" y="0"/>
            <a:chExt cx="3252559" cy="15944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3218688" cy="1560576"/>
            </a:xfrm>
            <a:custGeom>
              <a:avLst/>
              <a:gdLst/>
              <a:ahLst/>
              <a:cxnLst/>
              <a:rect r="r" b="b" t="t" l="l"/>
              <a:pathLst>
                <a:path h="1560576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560576"/>
                  </a:lnTo>
                  <a:lnTo>
                    <a:pt x="0" y="1560576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-147574" y="0"/>
              <a:ext cx="3400171" cy="1628648"/>
            </a:xfrm>
            <a:custGeom>
              <a:avLst/>
              <a:gdLst/>
              <a:ahLst/>
              <a:cxnLst/>
              <a:rect r="r" b="b" t="t" l="l"/>
              <a:pathLst>
                <a:path h="1628648" w="3400171">
                  <a:moveTo>
                    <a:pt x="401574" y="0"/>
                  </a:moveTo>
                  <a:lnTo>
                    <a:pt x="503174" y="0"/>
                  </a:lnTo>
                  <a:lnTo>
                    <a:pt x="503174" y="33909"/>
                  </a:lnTo>
                  <a:lnTo>
                    <a:pt x="401574" y="33909"/>
                  </a:lnTo>
                  <a:close/>
                  <a:moveTo>
                    <a:pt x="638683" y="0"/>
                  </a:moveTo>
                  <a:lnTo>
                    <a:pt x="740283" y="0"/>
                  </a:lnTo>
                  <a:lnTo>
                    <a:pt x="740283" y="33909"/>
                  </a:lnTo>
                  <a:lnTo>
                    <a:pt x="638683" y="33909"/>
                  </a:lnTo>
                  <a:close/>
                  <a:moveTo>
                    <a:pt x="875665" y="0"/>
                  </a:moveTo>
                  <a:lnTo>
                    <a:pt x="977265" y="0"/>
                  </a:lnTo>
                  <a:lnTo>
                    <a:pt x="977265" y="33909"/>
                  </a:lnTo>
                  <a:lnTo>
                    <a:pt x="875665" y="33909"/>
                  </a:lnTo>
                  <a:close/>
                  <a:moveTo>
                    <a:pt x="1112774" y="0"/>
                  </a:moveTo>
                  <a:lnTo>
                    <a:pt x="1214374" y="0"/>
                  </a:lnTo>
                  <a:lnTo>
                    <a:pt x="1214374" y="33909"/>
                  </a:lnTo>
                  <a:lnTo>
                    <a:pt x="1112774" y="33909"/>
                  </a:lnTo>
                  <a:close/>
                  <a:moveTo>
                    <a:pt x="1349883" y="0"/>
                  </a:moveTo>
                  <a:lnTo>
                    <a:pt x="1451483" y="0"/>
                  </a:lnTo>
                  <a:lnTo>
                    <a:pt x="1451483" y="33909"/>
                  </a:lnTo>
                  <a:lnTo>
                    <a:pt x="1349883" y="33909"/>
                  </a:lnTo>
                  <a:close/>
                  <a:moveTo>
                    <a:pt x="1586992" y="33909"/>
                  </a:moveTo>
                  <a:lnTo>
                    <a:pt x="1688592" y="33909"/>
                  </a:lnTo>
                  <a:lnTo>
                    <a:pt x="1586992" y="33909"/>
                  </a:lnTo>
                  <a:close/>
                  <a:moveTo>
                    <a:pt x="1823974" y="0"/>
                  </a:moveTo>
                  <a:lnTo>
                    <a:pt x="1925574" y="0"/>
                  </a:lnTo>
                  <a:lnTo>
                    <a:pt x="1925574" y="33909"/>
                  </a:lnTo>
                  <a:lnTo>
                    <a:pt x="1823974" y="33909"/>
                  </a:lnTo>
                  <a:close/>
                  <a:moveTo>
                    <a:pt x="2061083" y="33909"/>
                  </a:moveTo>
                  <a:lnTo>
                    <a:pt x="2162683" y="33909"/>
                  </a:lnTo>
                  <a:lnTo>
                    <a:pt x="2061083" y="33909"/>
                  </a:lnTo>
                  <a:close/>
                  <a:moveTo>
                    <a:pt x="2298192" y="33909"/>
                  </a:moveTo>
                  <a:lnTo>
                    <a:pt x="2399792" y="33909"/>
                  </a:lnTo>
                  <a:lnTo>
                    <a:pt x="2298192" y="33909"/>
                  </a:lnTo>
                  <a:close/>
                  <a:moveTo>
                    <a:pt x="2535174" y="0"/>
                  </a:moveTo>
                  <a:lnTo>
                    <a:pt x="2636774" y="0"/>
                  </a:lnTo>
                  <a:lnTo>
                    <a:pt x="2636774" y="33909"/>
                  </a:lnTo>
                  <a:lnTo>
                    <a:pt x="2535174" y="33909"/>
                  </a:lnTo>
                  <a:close/>
                  <a:moveTo>
                    <a:pt x="2772283" y="33909"/>
                  </a:moveTo>
                  <a:lnTo>
                    <a:pt x="2873883" y="33909"/>
                  </a:lnTo>
                  <a:lnTo>
                    <a:pt x="2772283" y="33909"/>
                  </a:lnTo>
                  <a:close/>
                  <a:moveTo>
                    <a:pt x="3009392" y="33909"/>
                  </a:moveTo>
                  <a:lnTo>
                    <a:pt x="3110992" y="33909"/>
                  </a:lnTo>
                  <a:lnTo>
                    <a:pt x="3009392" y="33909"/>
                  </a:lnTo>
                  <a:close/>
                  <a:moveTo>
                    <a:pt x="3246374" y="0"/>
                  </a:moveTo>
                  <a:lnTo>
                    <a:pt x="3347974" y="0"/>
                  </a:lnTo>
                  <a:lnTo>
                    <a:pt x="3347974" y="33909"/>
                  </a:lnTo>
                  <a:lnTo>
                    <a:pt x="3246374" y="33909"/>
                  </a:lnTo>
                  <a:close/>
                  <a:moveTo>
                    <a:pt x="3400171" y="151130"/>
                  </a:moveTo>
                  <a:lnTo>
                    <a:pt x="3400171" y="252730"/>
                  </a:lnTo>
                  <a:lnTo>
                    <a:pt x="3366262" y="252730"/>
                  </a:lnTo>
                  <a:lnTo>
                    <a:pt x="3366262" y="151130"/>
                  </a:lnTo>
                  <a:close/>
                  <a:moveTo>
                    <a:pt x="3366262" y="388239"/>
                  </a:moveTo>
                  <a:lnTo>
                    <a:pt x="3366262" y="489839"/>
                  </a:lnTo>
                  <a:lnTo>
                    <a:pt x="3332353" y="489839"/>
                  </a:lnTo>
                  <a:lnTo>
                    <a:pt x="3332353" y="388239"/>
                  </a:lnTo>
                  <a:close/>
                  <a:moveTo>
                    <a:pt x="3332353" y="625348"/>
                  </a:moveTo>
                  <a:lnTo>
                    <a:pt x="3332353" y="726948"/>
                  </a:lnTo>
                  <a:lnTo>
                    <a:pt x="3298444" y="726948"/>
                  </a:lnTo>
                  <a:lnTo>
                    <a:pt x="3298444" y="625348"/>
                  </a:lnTo>
                  <a:close/>
                  <a:moveTo>
                    <a:pt x="3298444" y="862457"/>
                  </a:moveTo>
                  <a:lnTo>
                    <a:pt x="3298444" y="964057"/>
                  </a:lnTo>
                  <a:lnTo>
                    <a:pt x="3264535" y="964057"/>
                  </a:lnTo>
                  <a:lnTo>
                    <a:pt x="3264535" y="862457"/>
                  </a:lnTo>
                  <a:close/>
                  <a:moveTo>
                    <a:pt x="3264535" y="1099566"/>
                  </a:moveTo>
                  <a:lnTo>
                    <a:pt x="3264535" y="1201166"/>
                  </a:lnTo>
                  <a:lnTo>
                    <a:pt x="3230626" y="1201166"/>
                  </a:lnTo>
                  <a:lnTo>
                    <a:pt x="3230626" y="1099566"/>
                  </a:lnTo>
                  <a:close/>
                  <a:moveTo>
                    <a:pt x="3230626" y="1336675"/>
                  </a:moveTo>
                  <a:lnTo>
                    <a:pt x="3230626" y="1438275"/>
                  </a:lnTo>
                  <a:lnTo>
                    <a:pt x="3196717" y="1438275"/>
                  </a:lnTo>
                  <a:lnTo>
                    <a:pt x="3196717" y="1336675"/>
                  </a:lnTo>
                  <a:close/>
                  <a:moveTo>
                    <a:pt x="3196717" y="1573784"/>
                  </a:moveTo>
                  <a:lnTo>
                    <a:pt x="3196717" y="1611757"/>
                  </a:lnTo>
                  <a:cubicBezTo>
                    <a:pt x="3196717" y="1621155"/>
                    <a:pt x="3189097" y="1628648"/>
                    <a:pt x="3179826" y="1628648"/>
                  </a:cubicBezTo>
                  <a:lnTo>
                    <a:pt x="3116199" y="1628648"/>
                  </a:lnTo>
                  <a:lnTo>
                    <a:pt x="3116199" y="1594739"/>
                  </a:lnTo>
                  <a:lnTo>
                    <a:pt x="3179826" y="1594739"/>
                  </a:lnTo>
                  <a:lnTo>
                    <a:pt x="3179826" y="1611630"/>
                  </a:lnTo>
                  <a:lnTo>
                    <a:pt x="3162935" y="1611630"/>
                  </a:lnTo>
                  <a:lnTo>
                    <a:pt x="3162935" y="1573657"/>
                  </a:lnTo>
                  <a:close/>
                  <a:moveTo>
                    <a:pt x="2946908" y="1628521"/>
                  </a:moveTo>
                  <a:lnTo>
                    <a:pt x="2845308" y="1628521"/>
                  </a:lnTo>
                  <a:lnTo>
                    <a:pt x="2845308" y="1594612"/>
                  </a:lnTo>
                  <a:lnTo>
                    <a:pt x="2946908" y="1594612"/>
                  </a:lnTo>
                  <a:close/>
                  <a:moveTo>
                    <a:pt x="2709799" y="1594612"/>
                  </a:moveTo>
                  <a:lnTo>
                    <a:pt x="2608199" y="1594612"/>
                  </a:lnTo>
                  <a:lnTo>
                    <a:pt x="2608199" y="1560703"/>
                  </a:lnTo>
                  <a:lnTo>
                    <a:pt x="2709799" y="1560703"/>
                  </a:lnTo>
                  <a:close/>
                  <a:moveTo>
                    <a:pt x="2472690" y="1560703"/>
                  </a:moveTo>
                  <a:lnTo>
                    <a:pt x="2371090" y="1560703"/>
                  </a:lnTo>
                  <a:lnTo>
                    <a:pt x="2371090" y="1526794"/>
                  </a:lnTo>
                  <a:lnTo>
                    <a:pt x="2472690" y="1526794"/>
                  </a:lnTo>
                  <a:close/>
                  <a:moveTo>
                    <a:pt x="2235581" y="1526794"/>
                  </a:moveTo>
                  <a:lnTo>
                    <a:pt x="2133981" y="1526794"/>
                  </a:lnTo>
                  <a:lnTo>
                    <a:pt x="2133981" y="1492885"/>
                  </a:lnTo>
                  <a:lnTo>
                    <a:pt x="2235581" y="1492885"/>
                  </a:lnTo>
                  <a:close/>
                  <a:moveTo>
                    <a:pt x="1998472" y="1492885"/>
                  </a:moveTo>
                  <a:lnTo>
                    <a:pt x="1896872" y="1492885"/>
                  </a:lnTo>
                  <a:lnTo>
                    <a:pt x="1896872" y="1458976"/>
                  </a:lnTo>
                  <a:lnTo>
                    <a:pt x="1998472" y="1458976"/>
                  </a:lnTo>
                  <a:close/>
                  <a:moveTo>
                    <a:pt x="1761363" y="1458976"/>
                  </a:moveTo>
                  <a:lnTo>
                    <a:pt x="1659763" y="1458976"/>
                  </a:lnTo>
                  <a:lnTo>
                    <a:pt x="1659763" y="1425067"/>
                  </a:lnTo>
                  <a:lnTo>
                    <a:pt x="1761363" y="1425067"/>
                  </a:lnTo>
                  <a:close/>
                  <a:moveTo>
                    <a:pt x="1524254" y="1425067"/>
                  </a:moveTo>
                  <a:lnTo>
                    <a:pt x="1422654" y="1425067"/>
                  </a:lnTo>
                  <a:lnTo>
                    <a:pt x="1422654" y="1391158"/>
                  </a:lnTo>
                  <a:lnTo>
                    <a:pt x="1524254" y="1391158"/>
                  </a:lnTo>
                  <a:close/>
                  <a:moveTo>
                    <a:pt x="1287145" y="1391158"/>
                  </a:moveTo>
                  <a:lnTo>
                    <a:pt x="1185545" y="1391158"/>
                  </a:lnTo>
                  <a:lnTo>
                    <a:pt x="1185545" y="1357249"/>
                  </a:lnTo>
                  <a:lnTo>
                    <a:pt x="1287145" y="1357249"/>
                  </a:lnTo>
                  <a:close/>
                  <a:moveTo>
                    <a:pt x="1050036" y="1357249"/>
                  </a:moveTo>
                  <a:lnTo>
                    <a:pt x="948436" y="1357249"/>
                  </a:lnTo>
                  <a:lnTo>
                    <a:pt x="948436" y="1323340"/>
                  </a:lnTo>
                  <a:lnTo>
                    <a:pt x="1050036" y="1323340"/>
                  </a:lnTo>
                  <a:close/>
                  <a:moveTo>
                    <a:pt x="812927" y="1323340"/>
                  </a:moveTo>
                  <a:lnTo>
                    <a:pt x="711327" y="1323340"/>
                  </a:lnTo>
                  <a:lnTo>
                    <a:pt x="711327" y="1289431"/>
                  </a:lnTo>
                  <a:lnTo>
                    <a:pt x="812927" y="1289431"/>
                  </a:lnTo>
                  <a:close/>
                  <a:moveTo>
                    <a:pt x="575818" y="1289431"/>
                  </a:moveTo>
                  <a:lnTo>
                    <a:pt x="474218" y="1289431"/>
                  </a:lnTo>
                  <a:lnTo>
                    <a:pt x="474218" y="1255522"/>
                  </a:lnTo>
                  <a:lnTo>
                    <a:pt x="575818" y="1255522"/>
                  </a:lnTo>
                  <a:close/>
                  <a:moveTo>
                    <a:pt x="338709" y="1255522"/>
                  </a:moveTo>
                  <a:lnTo>
                    <a:pt x="237109" y="1255522"/>
                  </a:lnTo>
                  <a:lnTo>
                    <a:pt x="237109" y="1221613"/>
                  </a:lnTo>
                  <a:lnTo>
                    <a:pt x="338709" y="1221613"/>
                  </a:lnTo>
                  <a:close/>
                  <a:moveTo>
                    <a:pt x="101600" y="1221613"/>
                  </a:moveTo>
                  <a:lnTo>
                    <a:pt x="0" y="1221613"/>
                  </a:lnTo>
                  <a:lnTo>
                    <a:pt x="0" y="1187704"/>
                  </a:lnTo>
                  <a:lnTo>
                    <a:pt x="101600" y="1187704"/>
                  </a:lnTo>
                  <a:close/>
                  <a:moveTo>
                    <a:pt x="147574" y="1515237"/>
                  </a:moveTo>
                  <a:lnTo>
                    <a:pt x="147574" y="1413637"/>
                  </a:lnTo>
                  <a:lnTo>
                    <a:pt x="181483" y="1413637"/>
                  </a:lnTo>
                  <a:lnTo>
                    <a:pt x="181483" y="1515237"/>
                  </a:lnTo>
                  <a:close/>
                  <a:moveTo>
                    <a:pt x="181483" y="1278128"/>
                  </a:moveTo>
                  <a:lnTo>
                    <a:pt x="181483" y="1176528"/>
                  </a:lnTo>
                  <a:lnTo>
                    <a:pt x="181483" y="1278128"/>
                  </a:lnTo>
                  <a:close/>
                  <a:moveTo>
                    <a:pt x="147574" y="1041019"/>
                  </a:moveTo>
                  <a:lnTo>
                    <a:pt x="147574" y="939419"/>
                  </a:lnTo>
                  <a:lnTo>
                    <a:pt x="181483" y="939419"/>
                  </a:lnTo>
                  <a:lnTo>
                    <a:pt x="181483" y="1041019"/>
                  </a:lnTo>
                  <a:close/>
                  <a:moveTo>
                    <a:pt x="147574" y="804037"/>
                  </a:moveTo>
                  <a:lnTo>
                    <a:pt x="147574" y="702437"/>
                  </a:lnTo>
                  <a:lnTo>
                    <a:pt x="181483" y="702437"/>
                  </a:lnTo>
                  <a:lnTo>
                    <a:pt x="181483" y="804037"/>
                  </a:lnTo>
                  <a:close/>
                  <a:moveTo>
                    <a:pt x="147574" y="566928"/>
                  </a:moveTo>
                  <a:lnTo>
                    <a:pt x="147574" y="465328"/>
                  </a:lnTo>
                  <a:lnTo>
                    <a:pt x="181483" y="465328"/>
                  </a:lnTo>
                  <a:lnTo>
                    <a:pt x="181483" y="566928"/>
                  </a:lnTo>
                  <a:close/>
                  <a:moveTo>
                    <a:pt x="147574" y="329819"/>
                  </a:moveTo>
                  <a:lnTo>
                    <a:pt x="147574" y="228219"/>
                  </a:lnTo>
                  <a:lnTo>
                    <a:pt x="181483" y="228219"/>
                  </a:lnTo>
                  <a:lnTo>
                    <a:pt x="181483" y="329819"/>
                  </a:lnTo>
                  <a:close/>
                  <a:moveTo>
                    <a:pt x="147574" y="92837"/>
                  </a:moveTo>
                  <a:lnTo>
                    <a:pt x="147574" y="16891"/>
                  </a:lnTo>
                  <a:cubicBezTo>
                    <a:pt x="147574" y="7620"/>
                    <a:pt x="155194" y="0"/>
                    <a:pt x="164465" y="0"/>
                  </a:cubicBezTo>
                  <a:lnTo>
                    <a:pt x="266065" y="0"/>
                  </a:lnTo>
                  <a:lnTo>
                    <a:pt x="266065" y="33909"/>
                  </a:lnTo>
                  <a:lnTo>
                    <a:pt x="164465" y="33909"/>
                  </a:lnTo>
                  <a:lnTo>
                    <a:pt x="164465" y="16891"/>
                  </a:lnTo>
                  <a:lnTo>
                    <a:pt x="181483" y="16891"/>
                  </a:lnTo>
                  <a:lnTo>
                    <a:pt x="181483" y="92837"/>
                  </a:lnTo>
                  <a:close/>
                </a:path>
              </a:pathLst>
            </a:custGeom>
            <a:solidFill>
              <a:srgbClr val="92400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493008" y="4297680"/>
            <a:ext cx="2414016" cy="1170432"/>
            <a:chOff x="0" y="0"/>
            <a:chExt cx="3218688" cy="15605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18688" cy="1560576"/>
            </a:xfrm>
            <a:custGeom>
              <a:avLst/>
              <a:gdLst/>
              <a:ahLst/>
              <a:cxnLst/>
              <a:rect r="r" b="b" t="t" l="l"/>
              <a:pathLst>
                <a:path h="1560576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207" t="0" r="-1220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218688" cy="1598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ZONE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891784" y="4867656"/>
            <a:ext cx="579120" cy="30480"/>
            <a:chOff x="0" y="0"/>
            <a:chExt cx="772160" cy="40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0320" y="0"/>
              <a:ext cx="731520" cy="40640"/>
            </a:xfrm>
            <a:custGeom>
              <a:avLst/>
              <a:gdLst/>
              <a:ahLst/>
              <a:cxnLst/>
              <a:rect r="r" b="b" t="t" l="l"/>
              <a:pathLst>
                <a:path h="40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234055" y="4727829"/>
            <a:ext cx="329184" cy="365760"/>
            <a:chOff x="0" y="0"/>
            <a:chExt cx="438912" cy="487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3891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40424" y="4428744"/>
            <a:ext cx="1018032" cy="944880"/>
            <a:chOff x="0" y="0"/>
            <a:chExt cx="1357376" cy="1259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0320" y="20320"/>
              <a:ext cx="1316736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16736">
                  <a:moveTo>
                    <a:pt x="0" y="609600"/>
                  </a:moveTo>
                  <a:cubicBezTo>
                    <a:pt x="0" y="272923"/>
                    <a:pt x="294767" y="0"/>
                    <a:pt x="658368" y="0"/>
                  </a:cubicBezTo>
                  <a:cubicBezTo>
                    <a:pt x="1021969" y="0"/>
                    <a:pt x="1316736" y="272923"/>
                    <a:pt x="1316736" y="609600"/>
                  </a:cubicBezTo>
                  <a:cubicBezTo>
                    <a:pt x="1316736" y="946277"/>
                    <a:pt x="1021969" y="1219200"/>
                    <a:pt x="658368" y="1219200"/>
                  </a:cubicBezTo>
                  <a:cubicBezTo>
                    <a:pt x="294767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57376" cy="1259840"/>
            </a:xfrm>
            <a:custGeom>
              <a:avLst/>
              <a:gdLst/>
              <a:ahLst/>
              <a:cxnLst/>
              <a:rect r="r" b="b" t="t" l="l"/>
              <a:pathLst>
                <a:path h="1259840" w="1357376">
                  <a:moveTo>
                    <a:pt x="0" y="629920"/>
                  </a:moveTo>
                  <a:cubicBezTo>
                    <a:pt x="0" y="280543"/>
                    <a:pt x="305308" y="0"/>
                    <a:pt x="678688" y="0"/>
                  </a:cubicBezTo>
                  <a:cubicBezTo>
                    <a:pt x="1052068" y="0"/>
                    <a:pt x="1357376" y="280543"/>
                    <a:pt x="1357376" y="629920"/>
                  </a:cubicBezTo>
                  <a:lnTo>
                    <a:pt x="1337056" y="629920"/>
                  </a:lnTo>
                  <a:lnTo>
                    <a:pt x="1357376" y="629920"/>
                  </a:lnTo>
                  <a:cubicBezTo>
                    <a:pt x="1357376" y="979297"/>
                    <a:pt x="1052068" y="1259840"/>
                    <a:pt x="678688" y="1259840"/>
                  </a:cubicBezTo>
                  <a:lnTo>
                    <a:pt x="678688" y="1239520"/>
                  </a:lnTo>
                  <a:lnTo>
                    <a:pt x="678688" y="1259840"/>
                  </a:lnTo>
                  <a:cubicBezTo>
                    <a:pt x="305308" y="1259840"/>
                    <a:pt x="0" y="979297"/>
                    <a:pt x="0" y="629920"/>
                  </a:cubicBezTo>
                  <a:lnTo>
                    <a:pt x="20320" y="629920"/>
                  </a:lnTo>
                  <a:lnTo>
                    <a:pt x="40640" y="629920"/>
                  </a:lnTo>
                  <a:lnTo>
                    <a:pt x="20320" y="629920"/>
                  </a:lnTo>
                  <a:lnTo>
                    <a:pt x="0" y="629920"/>
                  </a:lnTo>
                  <a:moveTo>
                    <a:pt x="40640" y="629920"/>
                  </a:moveTo>
                  <a:cubicBezTo>
                    <a:pt x="40640" y="641096"/>
                    <a:pt x="31496" y="650240"/>
                    <a:pt x="20320" y="650240"/>
                  </a:cubicBezTo>
                  <a:cubicBezTo>
                    <a:pt x="9144" y="650240"/>
                    <a:pt x="0" y="641096"/>
                    <a:pt x="0" y="629920"/>
                  </a:cubicBezTo>
                  <a:cubicBezTo>
                    <a:pt x="0" y="618744"/>
                    <a:pt x="9144" y="609600"/>
                    <a:pt x="20320" y="609600"/>
                  </a:cubicBezTo>
                  <a:cubicBezTo>
                    <a:pt x="31496" y="609600"/>
                    <a:pt x="40640" y="618744"/>
                    <a:pt x="40640" y="629920"/>
                  </a:cubicBezTo>
                  <a:cubicBezTo>
                    <a:pt x="40640" y="953897"/>
                    <a:pt x="324866" y="1219200"/>
                    <a:pt x="678688" y="1219200"/>
                  </a:cubicBezTo>
                  <a:cubicBezTo>
                    <a:pt x="1032510" y="1219200"/>
                    <a:pt x="1316736" y="953897"/>
                    <a:pt x="1316736" y="629920"/>
                  </a:cubicBezTo>
                  <a:cubicBezTo>
                    <a:pt x="1316736" y="305943"/>
                    <a:pt x="1032510" y="40640"/>
                    <a:pt x="678688" y="40640"/>
                  </a:cubicBezTo>
                  <a:lnTo>
                    <a:pt x="678688" y="20320"/>
                  </a:lnTo>
                  <a:lnTo>
                    <a:pt x="678688" y="40640"/>
                  </a:lnTo>
                  <a:cubicBezTo>
                    <a:pt x="324866" y="40640"/>
                    <a:pt x="40640" y="305943"/>
                    <a:pt x="40640" y="62992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55664" y="4443984"/>
            <a:ext cx="987552" cy="914400"/>
            <a:chOff x="0" y="0"/>
            <a:chExt cx="1316736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6736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799" t="0" r="-6879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316736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33856" y="5577840"/>
            <a:ext cx="6986016" cy="402336"/>
            <a:chOff x="0" y="0"/>
            <a:chExt cx="9314688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14688" cy="536448"/>
            </a:xfrm>
            <a:custGeom>
              <a:avLst/>
              <a:gdLst/>
              <a:ahLst/>
              <a:cxnLst/>
              <a:rect r="r" b="b" t="t" l="l"/>
              <a:pathLst>
                <a:path h="536448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331" r="0" b="-2883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3146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Hand or garment enters zone  →  counter increments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696201" y="2112521"/>
            <a:ext cx="8796023" cy="5540759"/>
            <a:chOff x="0" y="0"/>
            <a:chExt cx="11728031" cy="738767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1811" y="11811"/>
              <a:ext cx="11704320" cy="7363968"/>
            </a:xfrm>
            <a:custGeom>
              <a:avLst/>
              <a:gdLst/>
              <a:ahLst/>
              <a:cxnLst/>
              <a:rect r="r" b="b" t="t" l="l"/>
              <a:pathLst>
                <a:path h="736396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63968"/>
                  </a:lnTo>
                  <a:lnTo>
                    <a:pt x="0" y="736396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27942" cy="7387590"/>
            </a:xfrm>
            <a:custGeom>
              <a:avLst/>
              <a:gdLst/>
              <a:ahLst/>
              <a:cxnLst/>
              <a:rect r="r" b="b" t="t" l="l"/>
              <a:pathLst>
                <a:path h="7387590" w="11727942">
                  <a:moveTo>
                    <a:pt x="11811" y="0"/>
                  </a:moveTo>
                  <a:lnTo>
                    <a:pt x="11716131" y="0"/>
                  </a:lnTo>
                  <a:cubicBezTo>
                    <a:pt x="11722735" y="0"/>
                    <a:pt x="11727942" y="5334"/>
                    <a:pt x="11727942" y="11811"/>
                  </a:cubicBezTo>
                  <a:lnTo>
                    <a:pt x="11727942" y="7375779"/>
                  </a:lnTo>
                  <a:cubicBezTo>
                    <a:pt x="11727942" y="7382383"/>
                    <a:pt x="11722608" y="7387590"/>
                    <a:pt x="11716131" y="7387590"/>
                  </a:cubicBezTo>
                  <a:lnTo>
                    <a:pt x="11811" y="7387590"/>
                  </a:lnTo>
                  <a:cubicBezTo>
                    <a:pt x="5207" y="7387590"/>
                    <a:pt x="0" y="7382256"/>
                    <a:pt x="0" y="737577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7375779"/>
                  </a:lnTo>
                  <a:lnTo>
                    <a:pt x="11811" y="7375779"/>
                  </a:lnTo>
                  <a:lnTo>
                    <a:pt x="11811" y="7363968"/>
                  </a:lnTo>
                  <a:lnTo>
                    <a:pt x="11716131" y="7363968"/>
                  </a:lnTo>
                  <a:lnTo>
                    <a:pt x="11716131" y="7375779"/>
                  </a:lnTo>
                  <a:lnTo>
                    <a:pt x="11704320" y="7375779"/>
                  </a:lnTo>
                  <a:lnTo>
                    <a:pt x="11704320" y="11811"/>
                  </a:lnTo>
                  <a:lnTo>
                    <a:pt x="11716131" y="11811"/>
                  </a:lnTo>
                  <a:lnTo>
                    <a:pt x="117161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692391" y="2108711"/>
            <a:ext cx="125987" cy="5548379"/>
            <a:chOff x="0" y="0"/>
            <a:chExt cx="167983" cy="73978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34112" cy="7363968"/>
            </a:xfrm>
            <a:custGeom>
              <a:avLst/>
              <a:gdLst/>
              <a:ahLst/>
              <a:cxnLst/>
              <a:rect r="r" b="b" t="t" l="l"/>
              <a:pathLst>
                <a:path h="736396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7363968"/>
                  </a:lnTo>
                  <a:lnTo>
                    <a:pt x="0" y="7363968"/>
                  </a:lnTo>
                  <a:close/>
                </a:path>
              </a:pathLst>
            </a:custGeom>
            <a:solidFill>
              <a:srgbClr val="991B1B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7894" cy="7397750"/>
            </a:xfrm>
            <a:custGeom>
              <a:avLst/>
              <a:gdLst/>
              <a:ahLst/>
              <a:cxnLst/>
              <a:rect r="r" b="b" t="t" l="l"/>
              <a:pathLst>
                <a:path h="739775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7380859"/>
                  </a:lnTo>
                  <a:cubicBezTo>
                    <a:pt x="167894" y="7390257"/>
                    <a:pt x="160274" y="7397750"/>
                    <a:pt x="151003" y="7397750"/>
                  </a:cubicBezTo>
                  <a:lnTo>
                    <a:pt x="16891" y="7397750"/>
                  </a:lnTo>
                  <a:cubicBezTo>
                    <a:pt x="7493" y="7397750"/>
                    <a:pt x="0" y="7390130"/>
                    <a:pt x="0" y="7380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80859"/>
                  </a:lnTo>
                  <a:lnTo>
                    <a:pt x="16891" y="7380859"/>
                  </a:lnTo>
                  <a:lnTo>
                    <a:pt x="16891" y="7363968"/>
                  </a:lnTo>
                  <a:lnTo>
                    <a:pt x="151003" y="7363968"/>
                  </a:lnTo>
                  <a:lnTo>
                    <a:pt x="151003" y="7380859"/>
                  </a:lnTo>
                  <a:lnTo>
                    <a:pt x="134112" y="738085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070848" y="2340864"/>
            <a:ext cx="8046720" cy="365760"/>
            <a:chOff x="0" y="0"/>
            <a:chExt cx="10728960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0728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WAS NOT RELIABLE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070848" y="2805303"/>
            <a:ext cx="8119872" cy="443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Some operators have a clear output zone, but some do not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Finished pieces are placed in different directions: right side, front, or bucket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Garment pieces can pile up in the same place — causing wrong counts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Operator posture changes naturally during sewing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Head or body can block the sewing area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Temporary pauses may create false count increments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755399" y="7814567"/>
            <a:ext cx="16777211" cy="1342139"/>
            <a:chOff x="0" y="0"/>
            <a:chExt cx="22369615" cy="17895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22335745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335745">
                  <a:moveTo>
                    <a:pt x="0" y="0"/>
                  </a:moveTo>
                  <a:lnTo>
                    <a:pt x="22335745" y="0"/>
                  </a:lnTo>
                  <a:lnTo>
                    <a:pt x="22335745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369526" cy="1789430"/>
            </a:xfrm>
            <a:custGeom>
              <a:avLst/>
              <a:gdLst/>
              <a:ahLst/>
              <a:cxnLst/>
              <a:rect r="r" b="b" t="t" l="l"/>
              <a:pathLst>
                <a:path h="1789430" w="22369526">
                  <a:moveTo>
                    <a:pt x="16891" y="0"/>
                  </a:moveTo>
                  <a:lnTo>
                    <a:pt x="22352636" y="0"/>
                  </a:lnTo>
                  <a:cubicBezTo>
                    <a:pt x="22362033" y="0"/>
                    <a:pt x="22369526" y="7620"/>
                    <a:pt x="22369526" y="16891"/>
                  </a:cubicBezTo>
                  <a:lnTo>
                    <a:pt x="22369526" y="1772539"/>
                  </a:lnTo>
                  <a:cubicBezTo>
                    <a:pt x="22369526" y="1781937"/>
                    <a:pt x="22361906" y="1789430"/>
                    <a:pt x="22352636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2352636" y="1755648"/>
                  </a:lnTo>
                  <a:lnTo>
                    <a:pt x="22352636" y="1772539"/>
                  </a:lnTo>
                  <a:lnTo>
                    <a:pt x="22335745" y="1772539"/>
                  </a:lnTo>
                  <a:lnTo>
                    <a:pt x="22335745" y="16891"/>
                  </a:lnTo>
                  <a:lnTo>
                    <a:pt x="22352636" y="16891"/>
                  </a:lnTo>
                  <a:lnTo>
                    <a:pt x="223526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33856" y="7882128"/>
            <a:ext cx="16093440" cy="1133856"/>
            <a:chOff x="0" y="0"/>
            <a:chExt cx="21457920" cy="15118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457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DBEAFE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145792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Decision:  </a:t>
              </a:r>
              <a:r>
                <a:rPr lang="en-US" sz="2200">
                  <a:solidFill>
                    <a:srgbClr val="1E3A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output-zone counting is not reliable in practical factory conditions. The component therefore moved to a state-based action recognition approach — a decision taken after real video review.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68096" y="9747504"/>
            <a:ext cx="14264640" cy="329184"/>
            <a:chOff x="0" y="0"/>
            <a:chExt cx="19019520" cy="4389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019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4351" r="0" b="-79435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9019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2 — Vision-Based Piece Counting &amp; Cycle Time Estimation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R26-IT-054 · FEATURE 2 · IT21255892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Current State-Based Counting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2856" y="2252472"/>
            <a:ext cx="3834384" cy="908304"/>
            <a:chOff x="0" y="0"/>
            <a:chExt cx="5112512" cy="1211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0320" y="2032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2512" cy="1211072"/>
            </a:xfrm>
            <a:custGeom>
              <a:avLst/>
              <a:gdLst/>
              <a:ahLst/>
              <a:cxnLst/>
              <a:rect r="r" b="b" t="t" l="l"/>
              <a:pathLst>
                <a:path h="1211072" w="5112512">
                  <a:moveTo>
                    <a:pt x="20320" y="0"/>
                  </a:moveTo>
                  <a:lnTo>
                    <a:pt x="5092192" y="0"/>
                  </a:lnTo>
                  <a:cubicBezTo>
                    <a:pt x="5103368" y="0"/>
                    <a:pt x="5112512" y="9144"/>
                    <a:pt x="5112512" y="20320"/>
                  </a:cubicBezTo>
                  <a:lnTo>
                    <a:pt x="5112512" y="1190752"/>
                  </a:lnTo>
                  <a:cubicBezTo>
                    <a:pt x="5112512" y="1201928"/>
                    <a:pt x="5103368" y="1211072"/>
                    <a:pt x="5092192" y="1211072"/>
                  </a:cubicBezTo>
                  <a:lnTo>
                    <a:pt x="20320" y="1211072"/>
                  </a:lnTo>
                  <a:cubicBezTo>
                    <a:pt x="9144" y="1211072"/>
                    <a:pt x="0" y="1201928"/>
                    <a:pt x="0" y="119075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190752"/>
                  </a:lnTo>
                  <a:lnTo>
                    <a:pt x="20320" y="1190752"/>
                  </a:lnTo>
                  <a:lnTo>
                    <a:pt x="20320" y="1170432"/>
                  </a:lnTo>
                  <a:lnTo>
                    <a:pt x="5092192" y="1170432"/>
                  </a:lnTo>
                  <a:lnTo>
                    <a:pt x="5092192" y="1190752"/>
                  </a:lnTo>
                  <a:lnTo>
                    <a:pt x="5071872" y="1190752"/>
                  </a:lnTo>
                  <a:lnTo>
                    <a:pt x="5071872" y="20320"/>
                  </a:lnTo>
                  <a:lnTo>
                    <a:pt x="5092192" y="20320"/>
                  </a:lnTo>
                  <a:lnTo>
                    <a:pt x="5092192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8096" y="2267712"/>
            <a:ext cx="3803904" cy="877824"/>
            <a:chOff x="0" y="0"/>
            <a:chExt cx="5071872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07187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idle_setup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8096" y="3218688"/>
            <a:ext cx="3803904" cy="402336"/>
            <a:chOff x="0" y="0"/>
            <a:chExt cx="5071872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71872" cy="536448"/>
            </a:xfrm>
            <a:custGeom>
              <a:avLst/>
              <a:gdLst/>
              <a:ahLst/>
              <a:cxnLst/>
              <a:rect r="r" b="b" t="t" l="l"/>
              <a:pathLst>
                <a:path h="53644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07187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Preparing before sewing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26864" y="2450592"/>
            <a:ext cx="548640" cy="512064"/>
            <a:chOff x="0" y="0"/>
            <a:chExt cx="7315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50" t="0" r="-6975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31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88280" y="2252472"/>
            <a:ext cx="3834384" cy="908304"/>
            <a:chOff x="0" y="0"/>
            <a:chExt cx="5112512" cy="12110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0320" y="2032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12512" cy="1211072"/>
            </a:xfrm>
            <a:custGeom>
              <a:avLst/>
              <a:gdLst/>
              <a:ahLst/>
              <a:cxnLst/>
              <a:rect r="r" b="b" t="t" l="l"/>
              <a:pathLst>
                <a:path h="1211072" w="5112512">
                  <a:moveTo>
                    <a:pt x="20320" y="0"/>
                  </a:moveTo>
                  <a:lnTo>
                    <a:pt x="5092192" y="0"/>
                  </a:lnTo>
                  <a:cubicBezTo>
                    <a:pt x="5103368" y="0"/>
                    <a:pt x="5112512" y="9144"/>
                    <a:pt x="5112512" y="20320"/>
                  </a:cubicBezTo>
                  <a:lnTo>
                    <a:pt x="5112512" y="1190752"/>
                  </a:lnTo>
                  <a:cubicBezTo>
                    <a:pt x="5112512" y="1201928"/>
                    <a:pt x="5103368" y="1211072"/>
                    <a:pt x="5092192" y="1211072"/>
                  </a:cubicBezTo>
                  <a:lnTo>
                    <a:pt x="20320" y="1211072"/>
                  </a:lnTo>
                  <a:cubicBezTo>
                    <a:pt x="9144" y="1211072"/>
                    <a:pt x="0" y="1201928"/>
                    <a:pt x="0" y="119075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190752"/>
                  </a:lnTo>
                  <a:lnTo>
                    <a:pt x="20320" y="1190752"/>
                  </a:lnTo>
                  <a:lnTo>
                    <a:pt x="20320" y="1170432"/>
                  </a:lnTo>
                  <a:lnTo>
                    <a:pt x="5092192" y="1170432"/>
                  </a:lnTo>
                  <a:lnTo>
                    <a:pt x="5092192" y="1190752"/>
                  </a:lnTo>
                  <a:lnTo>
                    <a:pt x="5071872" y="1190752"/>
                  </a:lnTo>
                  <a:lnTo>
                    <a:pt x="5071872" y="20320"/>
                  </a:lnTo>
                  <a:lnTo>
                    <a:pt x="5092192" y="20320"/>
                  </a:lnTo>
                  <a:lnTo>
                    <a:pt x="5092192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03520" y="2267712"/>
            <a:ext cx="3803904" cy="877824"/>
            <a:chOff x="0" y="0"/>
            <a:chExt cx="5071872" cy="1170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07187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sewing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03520" y="3218688"/>
            <a:ext cx="3803904" cy="402336"/>
            <a:chOff x="0" y="0"/>
            <a:chExt cx="5071872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71872" cy="536448"/>
            </a:xfrm>
            <a:custGeom>
              <a:avLst/>
              <a:gdLst/>
              <a:ahLst/>
              <a:cxnLst/>
              <a:rect r="r" b="b" t="t" l="l"/>
              <a:pathLst>
                <a:path h="53644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7187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Actively operating the machine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62288" y="2450592"/>
            <a:ext cx="548640" cy="512064"/>
            <a:chOff x="0" y="0"/>
            <a:chExt cx="73152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50" t="0" r="-6975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31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23704" y="2252472"/>
            <a:ext cx="3834384" cy="908304"/>
            <a:chOff x="0" y="0"/>
            <a:chExt cx="5112512" cy="1211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20" y="2032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CCFBF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12512" cy="1211072"/>
            </a:xfrm>
            <a:custGeom>
              <a:avLst/>
              <a:gdLst/>
              <a:ahLst/>
              <a:cxnLst/>
              <a:rect r="r" b="b" t="t" l="l"/>
              <a:pathLst>
                <a:path h="1211072" w="5112512">
                  <a:moveTo>
                    <a:pt x="20320" y="0"/>
                  </a:moveTo>
                  <a:lnTo>
                    <a:pt x="5092192" y="0"/>
                  </a:lnTo>
                  <a:cubicBezTo>
                    <a:pt x="5103368" y="0"/>
                    <a:pt x="5112512" y="9144"/>
                    <a:pt x="5112512" y="20320"/>
                  </a:cubicBezTo>
                  <a:lnTo>
                    <a:pt x="5112512" y="1190752"/>
                  </a:lnTo>
                  <a:cubicBezTo>
                    <a:pt x="5112512" y="1201928"/>
                    <a:pt x="5103368" y="1211072"/>
                    <a:pt x="5092192" y="1211072"/>
                  </a:cubicBezTo>
                  <a:lnTo>
                    <a:pt x="20320" y="1211072"/>
                  </a:lnTo>
                  <a:cubicBezTo>
                    <a:pt x="9144" y="1211072"/>
                    <a:pt x="0" y="1201928"/>
                    <a:pt x="0" y="119075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190752"/>
                  </a:lnTo>
                  <a:lnTo>
                    <a:pt x="20320" y="1190752"/>
                  </a:lnTo>
                  <a:lnTo>
                    <a:pt x="20320" y="1170432"/>
                  </a:lnTo>
                  <a:lnTo>
                    <a:pt x="5092192" y="1170432"/>
                  </a:lnTo>
                  <a:lnTo>
                    <a:pt x="5092192" y="1190752"/>
                  </a:lnTo>
                  <a:lnTo>
                    <a:pt x="5071872" y="1190752"/>
                  </a:lnTo>
                  <a:lnTo>
                    <a:pt x="5071872" y="20320"/>
                  </a:lnTo>
                  <a:lnTo>
                    <a:pt x="5092192" y="20320"/>
                  </a:lnTo>
                  <a:lnTo>
                    <a:pt x="5092192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38944" y="2267712"/>
            <a:ext cx="3803904" cy="877824"/>
            <a:chOff x="0" y="0"/>
            <a:chExt cx="5071872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07187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put_aside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38944" y="3218688"/>
            <a:ext cx="3803904" cy="402336"/>
            <a:chOff x="0" y="0"/>
            <a:chExt cx="5071872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71872" cy="536448"/>
            </a:xfrm>
            <a:custGeom>
              <a:avLst/>
              <a:gdLst/>
              <a:ahLst/>
              <a:cxnLst/>
              <a:rect r="r" b="b" t="t" l="l"/>
              <a:pathLst>
                <a:path h="53644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7187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Places finished garment aside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97712" y="2450592"/>
            <a:ext cx="548640" cy="512064"/>
            <a:chOff x="0" y="0"/>
            <a:chExt cx="73152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50" t="0" r="-6975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315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359128" y="2252472"/>
            <a:ext cx="3834384" cy="908304"/>
            <a:chOff x="0" y="0"/>
            <a:chExt cx="5112512" cy="1211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0320" y="2032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12512" cy="1211072"/>
            </a:xfrm>
            <a:custGeom>
              <a:avLst/>
              <a:gdLst/>
              <a:ahLst/>
              <a:cxnLst/>
              <a:rect r="r" b="b" t="t" l="l"/>
              <a:pathLst>
                <a:path h="1211072" w="5112512">
                  <a:moveTo>
                    <a:pt x="20320" y="0"/>
                  </a:moveTo>
                  <a:lnTo>
                    <a:pt x="5092192" y="0"/>
                  </a:lnTo>
                  <a:cubicBezTo>
                    <a:pt x="5103368" y="0"/>
                    <a:pt x="5112512" y="9144"/>
                    <a:pt x="5112512" y="20320"/>
                  </a:cubicBezTo>
                  <a:lnTo>
                    <a:pt x="5112512" y="1190752"/>
                  </a:lnTo>
                  <a:cubicBezTo>
                    <a:pt x="5112512" y="1201928"/>
                    <a:pt x="5103368" y="1211072"/>
                    <a:pt x="5092192" y="1211072"/>
                  </a:cubicBezTo>
                  <a:lnTo>
                    <a:pt x="20320" y="1211072"/>
                  </a:lnTo>
                  <a:cubicBezTo>
                    <a:pt x="9144" y="1211072"/>
                    <a:pt x="0" y="1201928"/>
                    <a:pt x="0" y="1190752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190752"/>
                  </a:lnTo>
                  <a:lnTo>
                    <a:pt x="20320" y="1190752"/>
                  </a:lnTo>
                  <a:lnTo>
                    <a:pt x="20320" y="1170432"/>
                  </a:lnTo>
                  <a:lnTo>
                    <a:pt x="5092192" y="1170432"/>
                  </a:lnTo>
                  <a:lnTo>
                    <a:pt x="5092192" y="1190752"/>
                  </a:lnTo>
                  <a:lnTo>
                    <a:pt x="5071872" y="1190752"/>
                  </a:lnTo>
                  <a:lnTo>
                    <a:pt x="5071872" y="20320"/>
                  </a:lnTo>
                  <a:lnTo>
                    <a:pt x="5092192" y="20320"/>
                  </a:lnTo>
                  <a:lnTo>
                    <a:pt x="5092192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374368" y="2267712"/>
            <a:ext cx="3803904" cy="877824"/>
            <a:chOff x="0" y="0"/>
            <a:chExt cx="5071872" cy="11704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071872" cy="1170432"/>
            </a:xfrm>
            <a:custGeom>
              <a:avLst/>
              <a:gdLst/>
              <a:ahLst/>
              <a:cxnLst/>
              <a:rect r="r" b="b" t="t" l="l"/>
              <a:pathLst>
                <a:path h="117043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07187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rest_pause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374368" y="3218688"/>
            <a:ext cx="3803904" cy="402336"/>
            <a:chOff x="0" y="0"/>
            <a:chExt cx="5071872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71872" cy="536448"/>
            </a:xfrm>
            <a:custGeom>
              <a:avLst/>
              <a:gdLst/>
              <a:ahLst/>
              <a:cxnLst/>
              <a:rect r="r" b="b" t="t" l="l"/>
              <a:pathLst>
                <a:path h="53644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222" r="0" b="-1342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07187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Short pause or rest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81516" y="3174492"/>
            <a:ext cx="673608" cy="381000"/>
            <a:chOff x="0" y="0"/>
            <a:chExt cx="898144" cy="508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0160" y="10160"/>
              <a:ext cx="877824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98144" cy="508000"/>
            </a:xfrm>
            <a:custGeom>
              <a:avLst/>
              <a:gdLst/>
              <a:ahLst/>
              <a:cxnLst/>
              <a:rect r="r" b="b" t="t" l="l"/>
              <a:pathLst>
                <a:path h="508000" w="898144">
                  <a:moveTo>
                    <a:pt x="10160" y="0"/>
                  </a:moveTo>
                  <a:lnTo>
                    <a:pt x="887984" y="0"/>
                  </a:lnTo>
                  <a:cubicBezTo>
                    <a:pt x="893572" y="0"/>
                    <a:pt x="898144" y="4572"/>
                    <a:pt x="898144" y="10160"/>
                  </a:cubicBezTo>
                  <a:lnTo>
                    <a:pt x="898144" y="497840"/>
                  </a:lnTo>
                  <a:cubicBezTo>
                    <a:pt x="898144" y="503428"/>
                    <a:pt x="893572" y="508000"/>
                    <a:pt x="887984" y="508000"/>
                  </a:cubicBezTo>
                  <a:lnTo>
                    <a:pt x="10160" y="508000"/>
                  </a:lnTo>
                  <a:cubicBezTo>
                    <a:pt x="4572" y="508000"/>
                    <a:pt x="0" y="503428"/>
                    <a:pt x="0" y="49784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97840"/>
                  </a:lnTo>
                  <a:lnTo>
                    <a:pt x="10160" y="497840"/>
                  </a:lnTo>
                  <a:lnTo>
                    <a:pt x="10160" y="487680"/>
                  </a:lnTo>
                  <a:lnTo>
                    <a:pt x="887984" y="487680"/>
                  </a:lnTo>
                  <a:lnTo>
                    <a:pt x="887984" y="497840"/>
                  </a:lnTo>
                  <a:lnTo>
                    <a:pt x="877824" y="497840"/>
                  </a:lnTo>
                  <a:lnTo>
                    <a:pt x="877824" y="10160"/>
                  </a:lnTo>
                  <a:lnTo>
                    <a:pt x="887984" y="10160"/>
                  </a:lnTo>
                  <a:lnTo>
                    <a:pt x="88798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089136" y="3182112"/>
            <a:ext cx="658368" cy="365760"/>
            <a:chOff x="0" y="0"/>
            <a:chExt cx="877824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487680"/>
            </a:xfrm>
            <a:custGeom>
              <a:avLst/>
              <a:gdLst/>
              <a:ahLst/>
              <a:cxnLst/>
              <a:rect r="r" b="b" t="t" l="l"/>
              <a:pathLst>
                <a:path h="48768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877824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89561" y="3612137"/>
            <a:ext cx="15708887" cy="3519783"/>
            <a:chOff x="0" y="0"/>
            <a:chExt cx="20945183" cy="46930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1811" y="11811"/>
              <a:ext cx="20921472" cy="4669409"/>
            </a:xfrm>
            <a:custGeom>
              <a:avLst/>
              <a:gdLst/>
              <a:ahLst/>
              <a:cxnLst/>
              <a:rect r="r" b="b" t="t" l="l"/>
              <a:pathLst>
                <a:path h="4669409" w="20921472">
                  <a:moveTo>
                    <a:pt x="0" y="0"/>
                  </a:moveTo>
                  <a:lnTo>
                    <a:pt x="20921472" y="0"/>
                  </a:lnTo>
                  <a:lnTo>
                    <a:pt x="20921472" y="4669409"/>
                  </a:lnTo>
                  <a:lnTo>
                    <a:pt x="0" y="4669409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945095" cy="4693031"/>
            </a:xfrm>
            <a:custGeom>
              <a:avLst/>
              <a:gdLst/>
              <a:ahLst/>
              <a:cxnLst/>
              <a:rect r="r" b="b" t="t" l="l"/>
              <a:pathLst>
                <a:path h="4693031" w="20945095">
                  <a:moveTo>
                    <a:pt x="11811" y="0"/>
                  </a:moveTo>
                  <a:lnTo>
                    <a:pt x="20933283" y="0"/>
                  </a:lnTo>
                  <a:cubicBezTo>
                    <a:pt x="20939888" y="0"/>
                    <a:pt x="20945095" y="5334"/>
                    <a:pt x="20945095" y="11811"/>
                  </a:cubicBezTo>
                  <a:lnTo>
                    <a:pt x="20945095" y="4681220"/>
                  </a:lnTo>
                  <a:cubicBezTo>
                    <a:pt x="20945095" y="4687824"/>
                    <a:pt x="20939761" y="4693031"/>
                    <a:pt x="20933283" y="4693031"/>
                  </a:cubicBezTo>
                  <a:lnTo>
                    <a:pt x="11811" y="4693031"/>
                  </a:lnTo>
                  <a:cubicBezTo>
                    <a:pt x="5207" y="4693031"/>
                    <a:pt x="0" y="4687697"/>
                    <a:pt x="0" y="4681220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81220"/>
                  </a:lnTo>
                  <a:lnTo>
                    <a:pt x="11811" y="4681220"/>
                  </a:lnTo>
                  <a:lnTo>
                    <a:pt x="11811" y="4669409"/>
                  </a:lnTo>
                  <a:lnTo>
                    <a:pt x="20933283" y="4669409"/>
                  </a:lnTo>
                  <a:lnTo>
                    <a:pt x="20933283" y="4681220"/>
                  </a:lnTo>
                  <a:lnTo>
                    <a:pt x="20921472" y="4681220"/>
                  </a:lnTo>
                  <a:lnTo>
                    <a:pt x="20921472" y="11811"/>
                  </a:lnTo>
                  <a:lnTo>
                    <a:pt x="20933283" y="11811"/>
                  </a:lnTo>
                  <a:lnTo>
                    <a:pt x="2093328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71600" y="3694176"/>
            <a:ext cx="15544800" cy="3355705"/>
            <a:chOff x="0" y="0"/>
            <a:chExt cx="20726400" cy="4474274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20726400" cy="4474210"/>
            </a:xfrm>
            <a:custGeom>
              <a:avLst/>
              <a:gdLst/>
              <a:ahLst/>
              <a:cxnLst/>
              <a:rect r="r" b="b" t="t" l="l"/>
              <a:pathLst>
                <a:path h="447421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474210"/>
                  </a:lnTo>
                  <a:lnTo>
                    <a:pt x="0" y="4474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71600" y="7141321"/>
            <a:ext cx="15544800" cy="292608"/>
            <a:chOff x="0" y="0"/>
            <a:chExt cx="20726400" cy="3901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726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5142" r="0" b="-98514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0726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Figure: Runtime Inference Pipeline — frame capture → binary/multiclass prediction → event decoding → piece count → dashboard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59209" y="7516473"/>
            <a:ext cx="8155943" cy="2038750"/>
            <a:chOff x="0" y="0"/>
            <a:chExt cx="10874591" cy="271833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1811" y="11811"/>
              <a:ext cx="10850880" cy="2694686"/>
            </a:xfrm>
            <a:custGeom>
              <a:avLst/>
              <a:gdLst/>
              <a:ahLst/>
              <a:cxnLst/>
              <a:rect r="r" b="b" t="t" l="l"/>
              <a:pathLst>
                <a:path h="2694686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94686"/>
                  </a:lnTo>
                  <a:lnTo>
                    <a:pt x="0" y="2694686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874502" cy="2718308"/>
            </a:xfrm>
            <a:custGeom>
              <a:avLst/>
              <a:gdLst/>
              <a:ahLst/>
              <a:cxnLst/>
              <a:rect r="r" b="b" t="t" l="l"/>
              <a:pathLst>
                <a:path h="2718308" w="10874502">
                  <a:moveTo>
                    <a:pt x="11811" y="0"/>
                  </a:moveTo>
                  <a:lnTo>
                    <a:pt x="10862691" y="0"/>
                  </a:lnTo>
                  <a:cubicBezTo>
                    <a:pt x="10869295" y="0"/>
                    <a:pt x="10874502" y="5334"/>
                    <a:pt x="10874502" y="11811"/>
                  </a:cubicBezTo>
                  <a:lnTo>
                    <a:pt x="10874502" y="2706497"/>
                  </a:lnTo>
                  <a:cubicBezTo>
                    <a:pt x="10874502" y="2713101"/>
                    <a:pt x="10869168" y="2718308"/>
                    <a:pt x="10862691" y="2718308"/>
                  </a:cubicBezTo>
                  <a:lnTo>
                    <a:pt x="11811" y="2718308"/>
                  </a:lnTo>
                  <a:cubicBezTo>
                    <a:pt x="5207" y="2718308"/>
                    <a:pt x="0" y="2712974"/>
                    <a:pt x="0" y="270649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706497"/>
                  </a:lnTo>
                  <a:lnTo>
                    <a:pt x="11811" y="2706497"/>
                  </a:lnTo>
                  <a:lnTo>
                    <a:pt x="11811" y="2694686"/>
                  </a:lnTo>
                  <a:lnTo>
                    <a:pt x="10862691" y="2694686"/>
                  </a:lnTo>
                  <a:lnTo>
                    <a:pt x="10862691" y="2706497"/>
                  </a:lnTo>
                  <a:lnTo>
                    <a:pt x="10850880" y="2706497"/>
                  </a:lnTo>
                  <a:lnTo>
                    <a:pt x="10850880" y="11811"/>
                  </a:lnTo>
                  <a:lnTo>
                    <a:pt x="10862691" y="11811"/>
                  </a:lnTo>
                  <a:lnTo>
                    <a:pt x="108626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55399" y="7512663"/>
            <a:ext cx="125987" cy="2046370"/>
            <a:chOff x="0" y="0"/>
            <a:chExt cx="167983" cy="272849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34112" cy="2694686"/>
            </a:xfrm>
            <a:custGeom>
              <a:avLst/>
              <a:gdLst/>
              <a:ahLst/>
              <a:cxnLst/>
              <a:rect r="r" b="b" t="t" l="l"/>
              <a:pathLst>
                <a:path h="269468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2694686"/>
                  </a:lnTo>
                  <a:lnTo>
                    <a:pt x="0" y="2694686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7894" cy="2728468"/>
            </a:xfrm>
            <a:custGeom>
              <a:avLst/>
              <a:gdLst/>
              <a:ahLst/>
              <a:cxnLst/>
              <a:rect r="r" b="b" t="t" l="l"/>
              <a:pathLst>
                <a:path h="272846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2711577"/>
                  </a:lnTo>
                  <a:cubicBezTo>
                    <a:pt x="167894" y="2720975"/>
                    <a:pt x="160274" y="2728468"/>
                    <a:pt x="151003" y="2728468"/>
                  </a:cubicBezTo>
                  <a:lnTo>
                    <a:pt x="16891" y="2728468"/>
                  </a:lnTo>
                  <a:cubicBezTo>
                    <a:pt x="7493" y="2728468"/>
                    <a:pt x="0" y="2720848"/>
                    <a:pt x="0" y="271157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11577"/>
                  </a:lnTo>
                  <a:lnTo>
                    <a:pt x="16891" y="2711577"/>
                  </a:lnTo>
                  <a:lnTo>
                    <a:pt x="16891" y="2694686"/>
                  </a:lnTo>
                  <a:lnTo>
                    <a:pt x="151003" y="2694686"/>
                  </a:lnTo>
                  <a:lnTo>
                    <a:pt x="151003" y="2711577"/>
                  </a:lnTo>
                  <a:lnTo>
                    <a:pt x="134112" y="271157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33856" y="7708249"/>
            <a:ext cx="7498080" cy="365760"/>
            <a:chOff x="0" y="0"/>
            <a:chExt cx="999744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999744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APPROACH IS BETTER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133856" y="8127349"/>
            <a:ext cx="7534656" cy="12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Works across different operator layouts — no fixed zone required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Less dependent on physical output area visibility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both piece counting AND cycle time estimation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135113" y="7516473"/>
            <a:ext cx="8393687" cy="2038750"/>
            <a:chOff x="0" y="0"/>
            <a:chExt cx="11191583" cy="271833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1811" y="11811"/>
              <a:ext cx="11167872" cy="2694686"/>
            </a:xfrm>
            <a:custGeom>
              <a:avLst/>
              <a:gdLst/>
              <a:ahLst/>
              <a:cxnLst/>
              <a:rect r="r" b="b" t="t" l="l"/>
              <a:pathLst>
                <a:path h="2694686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2694686"/>
                  </a:lnTo>
                  <a:lnTo>
                    <a:pt x="0" y="2694686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191494" cy="2718308"/>
            </a:xfrm>
            <a:custGeom>
              <a:avLst/>
              <a:gdLst/>
              <a:ahLst/>
              <a:cxnLst/>
              <a:rect r="r" b="b" t="t" l="l"/>
              <a:pathLst>
                <a:path h="2718308" w="11191494">
                  <a:moveTo>
                    <a:pt x="11811" y="0"/>
                  </a:moveTo>
                  <a:lnTo>
                    <a:pt x="11179683" y="0"/>
                  </a:lnTo>
                  <a:cubicBezTo>
                    <a:pt x="11186287" y="0"/>
                    <a:pt x="11191494" y="5334"/>
                    <a:pt x="11191494" y="11811"/>
                  </a:cubicBezTo>
                  <a:lnTo>
                    <a:pt x="11191494" y="2706497"/>
                  </a:lnTo>
                  <a:cubicBezTo>
                    <a:pt x="11191494" y="2713101"/>
                    <a:pt x="11186160" y="2718308"/>
                    <a:pt x="11179683" y="2718308"/>
                  </a:cubicBezTo>
                  <a:lnTo>
                    <a:pt x="11811" y="2718308"/>
                  </a:lnTo>
                  <a:cubicBezTo>
                    <a:pt x="5207" y="2718308"/>
                    <a:pt x="0" y="2712974"/>
                    <a:pt x="0" y="270649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706497"/>
                  </a:lnTo>
                  <a:lnTo>
                    <a:pt x="11811" y="2706497"/>
                  </a:lnTo>
                  <a:lnTo>
                    <a:pt x="11811" y="2694686"/>
                  </a:lnTo>
                  <a:lnTo>
                    <a:pt x="11179683" y="2694686"/>
                  </a:lnTo>
                  <a:lnTo>
                    <a:pt x="11179683" y="2706497"/>
                  </a:lnTo>
                  <a:lnTo>
                    <a:pt x="11167872" y="2706497"/>
                  </a:lnTo>
                  <a:lnTo>
                    <a:pt x="11167872" y="11811"/>
                  </a:lnTo>
                  <a:lnTo>
                    <a:pt x="11179683" y="11811"/>
                  </a:lnTo>
                  <a:lnTo>
                    <a:pt x="1117968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131303" y="7512663"/>
            <a:ext cx="125987" cy="2046370"/>
            <a:chOff x="0" y="0"/>
            <a:chExt cx="167983" cy="272849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34112" cy="2694686"/>
            </a:xfrm>
            <a:custGeom>
              <a:avLst/>
              <a:gdLst/>
              <a:ahLst/>
              <a:cxnLst/>
              <a:rect r="r" b="b" t="t" l="l"/>
              <a:pathLst>
                <a:path h="269468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2694686"/>
                  </a:lnTo>
                  <a:lnTo>
                    <a:pt x="0" y="2694686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7894" cy="2728468"/>
            </a:xfrm>
            <a:custGeom>
              <a:avLst/>
              <a:gdLst/>
              <a:ahLst/>
              <a:cxnLst/>
              <a:rect r="r" b="b" t="t" l="l"/>
              <a:pathLst>
                <a:path h="2728468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2711577"/>
                  </a:lnTo>
                  <a:cubicBezTo>
                    <a:pt x="167894" y="2720975"/>
                    <a:pt x="160274" y="2728468"/>
                    <a:pt x="151003" y="2728468"/>
                  </a:cubicBezTo>
                  <a:lnTo>
                    <a:pt x="16891" y="2728468"/>
                  </a:lnTo>
                  <a:cubicBezTo>
                    <a:pt x="7493" y="2728468"/>
                    <a:pt x="0" y="2720848"/>
                    <a:pt x="0" y="271157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11577"/>
                  </a:lnTo>
                  <a:lnTo>
                    <a:pt x="16891" y="2711577"/>
                  </a:lnTo>
                  <a:lnTo>
                    <a:pt x="16891" y="2694686"/>
                  </a:lnTo>
                  <a:lnTo>
                    <a:pt x="151003" y="2694686"/>
                  </a:lnTo>
                  <a:lnTo>
                    <a:pt x="151003" y="2711577"/>
                  </a:lnTo>
                  <a:lnTo>
                    <a:pt x="134112" y="2711577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509760" y="7708249"/>
            <a:ext cx="7680960" cy="365760"/>
            <a:chOff x="0" y="0"/>
            <a:chExt cx="10241280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02412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BASELINE MODELS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9509760" y="8127349"/>
            <a:ext cx="7717536" cy="12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put_aside model — main counting baseline (put_aside vs not)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Multiclass state model — workflow understanding and future improvement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768096" y="9747504"/>
            <a:ext cx="14264640" cy="329184"/>
            <a:chOff x="0" y="0"/>
            <a:chExt cx="19019520" cy="43891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019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4351" r="0" b="-79435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9019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2 — Vision-Based Piece Counting &amp; Cycle Time Estimation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R26-IT-054 · FEATURE 2 · IT21255892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Dataset Preparation Process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2361" y="2130809"/>
            <a:ext cx="16623287" cy="3519916"/>
            <a:chOff x="0" y="0"/>
            <a:chExt cx="22164383" cy="4693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22140672" cy="4669536"/>
            </a:xfrm>
            <a:custGeom>
              <a:avLst/>
              <a:gdLst/>
              <a:ahLst/>
              <a:cxnLst/>
              <a:rect r="r" b="b" t="t" l="l"/>
              <a:pathLst>
                <a:path h="4669536" w="22140672">
                  <a:moveTo>
                    <a:pt x="0" y="0"/>
                  </a:moveTo>
                  <a:lnTo>
                    <a:pt x="22140672" y="0"/>
                  </a:lnTo>
                  <a:lnTo>
                    <a:pt x="22140672" y="4669536"/>
                  </a:lnTo>
                  <a:lnTo>
                    <a:pt x="0" y="466953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64295" cy="4693158"/>
            </a:xfrm>
            <a:custGeom>
              <a:avLst/>
              <a:gdLst/>
              <a:ahLst/>
              <a:cxnLst/>
              <a:rect r="r" b="b" t="t" l="l"/>
              <a:pathLst>
                <a:path h="4693158" w="22164295">
                  <a:moveTo>
                    <a:pt x="11811" y="0"/>
                  </a:moveTo>
                  <a:lnTo>
                    <a:pt x="22152483" y="0"/>
                  </a:lnTo>
                  <a:cubicBezTo>
                    <a:pt x="22159088" y="0"/>
                    <a:pt x="22164295" y="5334"/>
                    <a:pt x="22164295" y="11811"/>
                  </a:cubicBezTo>
                  <a:lnTo>
                    <a:pt x="22164295" y="4681347"/>
                  </a:lnTo>
                  <a:cubicBezTo>
                    <a:pt x="22164295" y="4687951"/>
                    <a:pt x="22158961" y="4693158"/>
                    <a:pt x="22152483" y="4693158"/>
                  </a:cubicBezTo>
                  <a:lnTo>
                    <a:pt x="11811" y="4693158"/>
                  </a:lnTo>
                  <a:cubicBezTo>
                    <a:pt x="5207" y="4693158"/>
                    <a:pt x="0" y="4687824"/>
                    <a:pt x="0" y="4681347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81347"/>
                  </a:lnTo>
                  <a:lnTo>
                    <a:pt x="11811" y="4681347"/>
                  </a:lnTo>
                  <a:lnTo>
                    <a:pt x="11811" y="4669536"/>
                  </a:lnTo>
                  <a:lnTo>
                    <a:pt x="22152483" y="4669536"/>
                  </a:lnTo>
                  <a:lnTo>
                    <a:pt x="22152483" y="4681347"/>
                  </a:lnTo>
                  <a:lnTo>
                    <a:pt x="22140672" y="4681347"/>
                  </a:lnTo>
                  <a:lnTo>
                    <a:pt x="22140672" y="11811"/>
                  </a:lnTo>
                  <a:lnTo>
                    <a:pt x="22152483" y="11811"/>
                  </a:lnTo>
                  <a:lnTo>
                    <a:pt x="2215248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2212848"/>
            <a:ext cx="16459200" cy="3355829"/>
            <a:chOff x="0" y="0"/>
            <a:chExt cx="21945600" cy="447443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1945600" cy="4474464"/>
            </a:xfrm>
            <a:custGeom>
              <a:avLst/>
              <a:gdLst/>
              <a:ahLst/>
              <a:cxnLst/>
              <a:rect r="r" b="b" t="t" l="l"/>
              <a:pathLst>
                <a:path h="44744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474464"/>
                  </a:lnTo>
                  <a:lnTo>
                    <a:pt x="0" y="4474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5678405"/>
            <a:ext cx="16459200" cy="329184"/>
            <a:chOff x="0" y="0"/>
            <a:chExt cx="21945600" cy="438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438912"/>
            </a:xfrm>
            <a:custGeom>
              <a:avLst/>
              <a:gdLst/>
              <a:ahLst/>
              <a:cxnLst/>
              <a:rect r="r" b="b" t="t" l="l"/>
              <a:pathLst>
                <a:path h="43891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4251" r="0" b="-92425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9456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A: Model Development Pipeline — from raw workstation videos to trained models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9209" y="6145006"/>
            <a:ext cx="8155943" cy="3373641"/>
            <a:chOff x="0" y="0"/>
            <a:chExt cx="10874591" cy="44981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1811" y="11811"/>
              <a:ext cx="10850880" cy="4474591"/>
            </a:xfrm>
            <a:custGeom>
              <a:avLst/>
              <a:gdLst/>
              <a:ahLst/>
              <a:cxnLst/>
              <a:rect r="r" b="b" t="t" l="l"/>
              <a:pathLst>
                <a:path h="4474591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4474591"/>
                  </a:lnTo>
                  <a:lnTo>
                    <a:pt x="0" y="4474591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74502" cy="4498213"/>
            </a:xfrm>
            <a:custGeom>
              <a:avLst/>
              <a:gdLst/>
              <a:ahLst/>
              <a:cxnLst/>
              <a:rect r="r" b="b" t="t" l="l"/>
              <a:pathLst>
                <a:path h="4498213" w="10874502">
                  <a:moveTo>
                    <a:pt x="11811" y="0"/>
                  </a:moveTo>
                  <a:lnTo>
                    <a:pt x="10862691" y="0"/>
                  </a:lnTo>
                  <a:cubicBezTo>
                    <a:pt x="10869295" y="0"/>
                    <a:pt x="10874502" y="5334"/>
                    <a:pt x="10874502" y="11811"/>
                  </a:cubicBezTo>
                  <a:lnTo>
                    <a:pt x="10874502" y="4486402"/>
                  </a:lnTo>
                  <a:cubicBezTo>
                    <a:pt x="10874502" y="4493006"/>
                    <a:pt x="10869168" y="4498213"/>
                    <a:pt x="10862691" y="4498213"/>
                  </a:cubicBezTo>
                  <a:lnTo>
                    <a:pt x="11811" y="4498213"/>
                  </a:lnTo>
                  <a:cubicBezTo>
                    <a:pt x="5207" y="4498213"/>
                    <a:pt x="0" y="4492879"/>
                    <a:pt x="0" y="4486402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486402"/>
                  </a:lnTo>
                  <a:lnTo>
                    <a:pt x="11811" y="4486402"/>
                  </a:lnTo>
                  <a:lnTo>
                    <a:pt x="11811" y="4474591"/>
                  </a:lnTo>
                  <a:lnTo>
                    <a:pt x="10862691" y="4474591"/>
                  </a:lnTo>
                  <a:lnTo>
                    <a:pt x="10862691" y="4486402"/>
                  </a:lnTo>
                  <a:lnTo>
                    <a:pt x="10850880" y="4486402"/>
                  </a:lnTo>
                  <a:lnTo>
                    <a:pt x="10850880" y="11811"/>
                  </a:lnTo>
                  <a:lnTo>
                    <a:pt x="10862691" y="11811"/>
                  </a:lnTo>
                  <a:lnTo>
                    <a:pt x="108626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55399" y="6141196"/>
            <a:ext cx="125987" cy="3381261"/>
            <a:chOff x="0" y="0"/>
            <a:chExt cx="167983" cy="45083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34112" cy="4474591"/>
            </a:xfrm>
            <a:custGeom>
              <a:avLst/>
              <a:gdLst/>
              <a:ahLst/>
              <a:cxnLst/>
              <a:rect r="r" b="b" t="t" l="l"/>
              <a:pathLst>
                <a:path h="4474591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4474591"/>
                  </a:lnTo>
                  <a:lnTo>
                    <a:pt x="0" y="4474591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894" cy="4508373"/>
            </a:xfrm>
            <a:custGeom>
              <a:avLst/>
              <a:gdLst/>
              <a:ahLst/>
              <a:cxnLst/>
              <a:rect r="r" b="b" t="t" l="l"/>
              <a:pathLst>
                <a:path h="4508373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4491482"/>
                  </a:lnTo>
                  <a:cubicBezTo>
                    <a:pt x="167894" y="4500880"/>
                    <a:pt x="160274" y="4508373"/>
                    <a:pt x="151003" y="4508373"/>
                  </a:cubicBezTo>
                  <a:lnTo>
                    <a:pt x="16891" y="4508373"/>
                  </a:lnTo>
                  <a:cubicBezTo>
                    <a:pt x="7493" y="4508373"/>
                    <a:pt x="0" y="4500753"/>
                    <a:pt x="0" y="449148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91482"/>
                  </a:lnTo>
                  <a:lnTo>
                    <a:pt x="16891" y="4491482"/>
                  </a:lnTo>
                  <a:lnTo>
                    <a:pt x="16891" y="4474591"/>
                  </a:lnTo>
                  <a:lnTo>
                    <a:pt x="151003" y="4474591"/>
                  </a:lnTo>
                  <a:lnTo>
                    <a:pt x="151003" y="4491482"/>
                  </a:lnTo>
                  <a:lnTo>
                    <a:pt x="134112" y="4491482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3856" y="6336773"/>
            <a:ext cx="7498080" cy="365760"/>
            <a:chOff x="0" y="0"/>
            <a:chExt cx="9997440" cy="487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99744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VIDEO_INFO.CSV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3856" y="6757397"/>
            <a:ext cx="7498080" cy="365760"/>
            <a:chOff x="0" y="0"/>
            <a:chExt cx="9997440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Video metadata and quality assessment file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33856" y="7139921"/>
            <a:ext cx="7498080" cy="218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Video ID, Operator ID, Duration, FPS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Visibility: arms, shoulders, head, machine, output zone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Occlusion level, lighting condition, placement direction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Difficulty level and practical annotation notes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35113" y="6145006"/>
            <a:ext cx="8393687" cy="3373641"/>
            <a:chOff x="0" y="0"/>
            <a:chExt cx="11191583" cy="44981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1811" y="11811"/>
              <a:ext cx="11167872" cy="4474591"/>
            </a:xfrm>
            <a:custGeom>
              <a:avLst/>
              <a:gdLst/>
              <a:ahLst/>
              <a:cxnLst/>
              <a:rect r="r" b="b" t="t" l="l"/>
              <a:pathLst>
                <a:path h="4474591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4474591"/>
                  </a:lnTo>
                  <a:lnTo>
                    <a:pt x="0" y="4474591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91494" cy="4498213"/>
            </a:xfrm>
            <a:custGeom>
              <a:avLst/>
              <a:gdLst/>
              <a:ahLst/>
              <a:cxnLst/>
              <a:rect r="r" b="b" t="t" l="l"/>
              <a:pathLst>
                <a:path h="4498213" w="11191494">
                  <a:moveTo>
                    <a:pt x="11811" y="0"/>
                  </a:moveTo>
                  <a:lnTo>
                    <a:pt x="11179683" y="0"/>
                  </a:lnTo>
                  <a:cubicBezTo>
                    <a:pt x="11186287" y="0"/>
                    <a:pt x="11191494" y="5334"/>
                    <a:pt x="11191494" y="11811"/>
                  </a:cubicBezTo>
                  <a:lnTo>
                    <a:pt x="11191494" y="4486402"/>
                  </a:lnTo>
                  <a:cubicBezTo>
                    <a:pt x="11191494" y="4493006"/>
                    <a:pt x="11186160" y="4498213"/>
                    <a:pt x="11179683" y="4498213"/>
                  </a:cubicBezTo>
                  <a:lnTo>
                    <a:pt x="11811" y="4498213"/>
                  </a:lnTo>
                  <a:cubicBezTo>
                    <a:pt x="5207" y="4498213"/>
                    <a:pt x="0" y="4492879"/>
                    <a:pt x="0" y="4486402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486402"/>
                  </a:lnTo>
                  <a:lnTo>
                    <a:pt x="11811" y="4486402"/>
                  </a:lnTo>
                  <a:lnTo>
                    <a:pt x="11811" y="4474591"/>
                  </a:lnTo>
                  <a:lnTo>
                    <a:pt x="11179683" y="4474591"/>
                  </a:lnTo>
                  <a:lnTo>
                    <a:pt x="11179683" y="4486402"/>
                  </a:lnTo>
                  <a:lnTo>
                    <a:pt x="11167872" y="4486402"/>
                  </a:lnTo>
                  <a:lnTo>
                    <a:pt x="11167872" y="11811"/>
                  </a:lnTo>
                  <a:lnTo>
                    <a:pt x="11179683" y="11811"/>
                  </a:lnTo>
                  <a:lnTo>
                    <a:pt x="11179683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31303" y="6141196"/>
            <a:ext cx="125987" cy="3381261"/>
            <a:chOff x="0" y="0"/>
            <a:chExt cx="167983" cy="45083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34112" cy="4474591"/>
            </a:xfrm>
            <a:custGeom>
              <a:avLst/>
              <a:gdLst/>
              <a:ahLst/>
              <a:cxnLst/>
              <a:rect r="r" b="b" t="t" l="l"/>
              <a:pathLst>
                <a:path h="4474591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4474591"/>
                  </a:lnTo>
                  <a:lnTo>
                    <a:pt x="0" y="4474591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7894" cy="4508373"/>
            </a:xfrm>
            <a:custGeom>
              <a:avLst/>
              <a:gdLst/>
              <a:ahLst/>
              <a:cxnLst/>
              <a:rect r="r" b="b" t="t" l="l"/>
              <a:pathLst>
                <a:path h="4508373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4491482"/>
                  </a:lnTo>
                  <a:cubicBezTo>
                    <a:pt x="167894" y="4500880"/>
                    <a:pt x="160274" y="4508373"/>
                    <a:pt x="151003" y="4508373"/>
                  </a:cubicBezTo>
                  <a:lnTo>
                    <a:pt x="16891" y="4508373"/>
                  </a:lnTo>
                  <a:cubicBezTo>
                    <a:pt x="7493" y="4508373"/>
                    <a:pt x="0" y="4500753"/>
                    <a:pt x="0" y="449148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91482"/>
                  </a:lnTo>
                  <a:lnTo>
                    <a:pt x="16891" y="4491482"/>
                  </a:lnTo>
                  <a:lnTo>
                    <a:pt x="16891" y="4474591"/>
                  </a:lnTo>
                  <a:lnTo>
                    <a:pt x="151003" y="4474591"/>
                  </a:lnTo>
                  <a:lnTo>
                    <a:pt x="151003" y="4491482"/>
                  </a:lnTo>
                  <a:lnTo>
                    <a:pt x="134112" y="4491482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09760" y="6336773"/>
            <a:ext cx="7680960" cy="365760"/>
            <a:chOff x="0" y="0"/>
            <a:chExt cx="10241280" cy="487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2412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STATE_SEGMENTS.CSV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9760" y="6757397"/>
            <a:ext cx="7498080" cy="365760"/>
            <a:chOff x="0" y="0"/>
            <a:chExt cx="9997440" cy="487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Workflow state annotation file per video segment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2140" y="7188689"/>
            <a:ext cx="1844040" cy="454152"/>
            <a:chOff x="0" y="0"/>
            <a:chExt cx="2458720" cy="605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0160" y="1016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475569">
                <a:alpha val="3137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58720" cy="605536"/>
            </a:xfrm>
            <a:custGeom>
              <a:avLst/>
              <a:gdLst/>
              <a:ahLst/>
              <a:cxnLst/>
              <a:rect r="r" b="b" t="t" l="l"/>
              <a:pathLst>
                <a:path h="605536" w="2458720">
                  <a:moveTo>
                    <a:pt x="10160" y="0"/>
                  </a:moveTo>
                  <a:lnTo>
                    <a:pt x="2448560" y="0"/>
                  </a:lnTo>
                  <a:cubicBezTo>
                    <a:pt x="2454148" y="0"/>
                    <a:pt x="2458720" y="4572"/>
                    <a:pt x="2458720" y="10160"/>
                  </a:cubicBezTo>
                  <a:lnTo>
                    <a:pt x="2458720" y="595376"/>
                  </a:lnTo>
                  <a:cubicBezTo>
                    <a:pt x="2458720" y="600964"/>
                    <a:pt x="2454148" y="605536"/>
                    <a:pt x="2448560" y="605536"/>
                  </a:cubicBezTo>
                  <a:lnTo>
                    <a:pt x="10160" y="605536"/>
                  </a:lnTo>
                  <a:cubicBezTo>
                    <a:pt x="4572" y="605536"/>
                    <a:pt x="0" y="600964"/>
                    <a:pt x="0" y="59537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595376"/>
                  </a:lnTo>
                  <a:lnTo>
                    <a:pt x="10160" y="595376"/>
                  </a:lnTo>
                  <a:lnTo>
                    <a:pt x="10160" y="585216"/>
                  </a:lnTo>
                  <a:lnTo>
                    <a:pt x="2448560" y="585216"/>
                  </a:lnTo>
                  <a:lnTo>
                    <a:pt x="2448560" y="595376"/>
                  </a:lnTo>
                  <a:lnTo>
                    <a:pt x="2438400" y="595376"/>
                  </a:lnTo>
                  <a:lnTo>
                    <a:pt x="2438400" y="10160"/>
                  </a:lnTo>
                  <a:lnTo>
                    <a:pt x="2448560" y="10160"/>
                  </a:lnTo>
                  <a:lnTo>
                    <a:pt x="244856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09760" y="7196309"/>
            <a:ext cx="1828800" cy="438912"/>
            <a:chOff x="0" y="0"/>
            <a:chExt cx="243840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idle_setup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58956" y="7188689"/>
            <a:ext cx="1844040" cy="454152"/>
            <a:chOff x="0" y="0"/>
            <a:chExt cx="2458720" cy="6055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0160" y="1016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D4ED8">
                <a:alpha val="3137"/>
              </a:srgbClr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58720" cy="605536"/>
            </a:xfrm>
            <a:custGeom>
              <a:avLst/>
              <a:gdLst/>
              <a:ahLst/>
              <a:cxnLst/>
              <a:rect r="r" b="b" t="t" l="l"/>
              <a:pathLst>
                <a:path h="605536" w="2458720">
                  <a:moveTo>
                    <a:pt x="10160" y="0"/>
                  </a:moveTo>
                  <a:lnTo>
                    <a:pt x="2448560" y="0"/>
                  </a:lnTo>
                  <a:cubicBezTo>
                    <a:pt x="2454148" y="0"/>
                    <a:pt x="2458720" y="4572"/>
                    <a:pt x="2458720" y="10160"/>
                  </a:cubicBezTo>
                  <a:lnTo>
                    <a:pt x="2458720" y="595376"/>
                  </a:lnTo>
                  <a:cubicBezTo>
                    <a:pt x="2458720" y="600964"/>
                    <a:pt x="2454148" y="605536"/>
                    <a:pt x="2448560" y="605536"/>
                  </a:cubicBezTo>
                  <a:lnTo>
                    <a:pt x="10160" y="605536"/>
                  </a:lnTo>
                  <a:cubicBezTo>
                    <a:pt x="4572" y="605536"/>
                    <a:pt x="0" y="600964"/>
                    <a:pt x="0" y="59537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595376"/>
                  </a:lnTo>
                  <a:lnTo>
                    <a:pt x="10160" y="595376"/>
                  </a:lnTo>
                  <a:lnTo>
                    <a:pt x="10160" y="585216"/>
                  </a:lnTo>
                  <a:lnTo>
                    <a:pt x="2448560" y="585216"/>
                  </a:lnTo>
                  <a:lnTo>
                    <a:pt x="2448560" y="595376"/>
                  </a:lnTo>
                  <a:lnTo>
                    <a:pt x="2438400" y="595376"/>
                  </a:lnTo>
                  <a:lnTo>
                    <a:pt x="2438400" y="10160"/>
                  </a:lnTo>
                  <a:lnTo>
                    <a:pt x="2448560" y="10160"/>
                  </a:lnTo>
                  <a:lnTo>
                    <a:pt x="244856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466576" y="7196309"/>
            <a:ext cx="1828800" cy="438912"/>
            <a:chOff x="0" y="0"/>
            <a:chExt cx="243840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sewing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415772" y="7188689"/>
            <a:ext cx="1844040" cy="454152"/>
            <a:chOff x="0" y="0"/>
            <a:chExt cx="2458720" cy="6055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0160" y="1016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D9488">
                <a:alpha val="3137"/>
              </a:srgbClr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58720" cy="605536"/>
            </a:xfrm>
            <a:custGeom>
              <a:avLst/>
              <a:gdLst/>
              <a:ahLst/>
              <a:cxnLst/>
              <a:rect r="r" b="b" t="t" l="l"/>
              <a:pathLst>
                <a:path h="605536" w="2458720">
                  <a:moveTo>
                    <a:pt x="10160" y="0"/>
                  </a:moveTo>
                  <a:lnTo>
                    <a:pt x="2448560" y="0"/>
                  </a:lnTo>
                  <a:cubicBezTo>
                    <a:pt x="2454148" y="0"/>
                    <a:pt x="2458720" y="4572"/>
                    <a:pt x="2458720" y="10160"/>
                  </a:cubicBezTo>
                  <a:lnTo>
                    <a:pt x="2458720" y="595376"/>
                  </a:lnTo>
                  <a:cubicBezTo>
                    <a:pt x="2458720" y="600964"/>
                    <a:pt x="2454148" y="605536"/>
                    <a:pt x="2448560" y="605536"/>
                  </a:cubicBezTo>
                  <a:lnTo>
                    <a:pt x="10160" y="605536"/>
                  </a:lnTo>
                  <a:cubicBezTo>
                    <a:pt x="4572" y="605536"/>
                    <a:pt x="0" y="600964"/>
                    <a:pt x="0" y="59537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595376"/>
                  </a:lnTo>
                  <a:lnTo>
                    <a:pt x="10160" y="595376"/>
                  </a:lnTo>
                  <a:lnTo>
                    <a:pt x="10160" y="585216"/>
                  </a:lnTo>
                  <a:lnTo>
                    <a:pt x="2448560" y="585216"/>
                  </a:lnTo>
                  <a:lnTo>
                    <a:pt x="2448560" y="595376"/>
                  </a:lnTo>
                  <a:lnTo>
                    <a:pt x="2438400" y="595376"/>
                  </a:lnTo>
                  <a:lnTo>
                    <a:pt x="2438400" y="10160"/>
                  </a:lnTo>
                  <a:lnTo>
                    <a:pt x="2448560" y="10160"/>
                  </a:lnTo>
                  <a:lnTo>
                    <a:pt x="244856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423392" y="7196309"/>
            <a:ext cx="1828800" cy="438912"/>
            <a:chOff x="0" y="0"/>
            <a:chExt cx="243840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put_aside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372588" y="7188689"/>
            <a:ext cx="1844040" cy="454152"/>
            <a:chOff x="0" y="0"/>
            <a:chExt cx="2458720" cy="6055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0160" y="1016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475569">
                <a:alpha val="3137"/>
              </a:srgbClr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58720" cy="605536"/>
            </a:xfrm>
            <a:custGeom>
              <a:avLst/>
              <a:gdLst/>
              <a:ahLst/>
              <a:cxnLst/>
              <a:rect r="r" b="b" t="t" l="l"/>
              <a:pathLst>
                <a:path h="605536" w="2458720">
                  <a:moveTo>
                    <a:pt x="10160" y="0"/>
                  </a:moveTo>
                  <a:lnTo>
                    <a:pt x="2448560" y="0"/>
                  </a:lnTo>
                  <a:cubicBezTo>
                    <a:pt x="2454148" y="0"/>
                    <a:pt x="2458720" y="4572"/>
                    <a:pt x="2458720" y="10160"/>
                  </a:cubicBezTo>
                  <a:lnTo>
                    <a:pt x="2458720" y="595376"/>
                  </a:lnTo>
                  <a:cubicBezTo>
                    <a:pt x="2458720" y="600964"/>
                    <a:pt x="2454148" y="605536"/>
                    <a:pt x="2448560" y="605536"/>
                  </a:cubicBezTo>
                  <a:lnTo>
                    <a:pt x="10160" y="605536"/>
                  </a:lnTo>
                  <a:cubicBezTo>
                    <a:pt x="4572" y="605536"/>
                    <a:pt x="0" y="600964"/>
                    <a:pt x="0" y="595376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595376"/>
                  </a:lnTo>
                  <a:lnTo>
                    <a:pt x="10160" y="595376"/>
                  </a:lnTo>
                  <a:lnTo>
                    <a:pt x="10160" y="585216"/>
                  </a:lnTo>
                  <a:lnTo>
                    <a:pt x="2448560" y="585216"/>
                  </a:lnTo>
                  <a:lnTo>
                    <a:pt x="2448560" y="595376"/>
                  </a:lnTo>
                  <a:lnTo>
                    <a:pt x="2438400" y="595376"/>
                  </a:lnTo>
                  <a:lnTo>
                    <a:pt x="2438400" y="10160"/>
                  </a:lnTo>
                  <a:lnTo>
                    <a:pt x="2448560" y="10160"/>
                  </a:lnTo>
                  <a:lnTo>
                    <a:pt x="244856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380208" y="7196309"/>
            <a:ext cx="1828800" cy="438912"/>
            <a:chOff x="0" y="0"/>
            <a:chExt cx="2438400" cy="5852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rest_pause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509760" y="7688561"/>
            <a:ext cx="7534656" cy="101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Video ID, Segment ID, state label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Start frame, end frame, time range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Visibility and confidence notes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68096" y="9747504"/>
            <a:ext cx="14264640" cy="329184"/>
            <a:chOff x="0" y="0"/>
            <a:chExt cx="19019520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019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4351" r="0" b="-79435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9019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2 — Vision-Based Piece Counting &amp; Cycle Time Estimation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R26-IT-054 · FEATURE 2 · IT21255892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Selection &amp; Benchmarking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7933" y="2111245"/>
            <a:ext cx="5396989" cy="3037837"/>
            <a:chOff x="0" y="0"/>
            <a:chExt cx="7195985" cy="40504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3589" y="13589"/>
              <a:ext cx="7168896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68896">
                  <a:moveTo>
                    <a:pt x="0" y="0"/>
                  </a:moveTo>
                  <a:lnTo>
                    <a:pt x="7168896" y="0"/>
                  </a:lnTo>
                  <a:lnTo>
                    <a:pt x="7168896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96074" cy="4050538"/>
            </a:xfrm>
            <a:custGeom>
              <a:avLst/>
              <a:gdLst/>
              <a:ahLst/>
              <a:cxnLst/>
              <a:rect r="r" b="b" t="t" l="l"/>
              <a:pathLst>
                <a:path h="4050538" w="7196074">
                  <a:moveTo>
                    <a:pt x="13589" y="0"/>
                  </a:moveTo>
                  <a:lnTo>
                    <a:pt x="7182485" y="0"/>
                  </a:lnTo>
                  <a:cubicBezTo>
                    <a:pt x="7189978" y="0"/>
                    <a:pt x="7196074" y="6096"/>
                    <a:pt x="7196074" y="13589"/>
                  </a:cubicBezTo>
                  <a:lnTo>
                    <a:pt x="7196074" y="4036949"/>
                  </a:lnTo>
                  <a:cubicBezTo>
                    <a:pt x="7196074" y="4044442"/>
                    <a:pt x="7189978" y="4050538"/>
                    <a:pt x="7182485" y="4050538"/>
                  </a:cubicBezTo>
                  <a:lnTo>
                    <a:pt x="13589" y="4050538"/>
                  </a:lnTo>
                  <a:cubicBezTo>
                    <a:pt x="6096" y="4050538"/>
                    <a:pt x="0" y="4044442"/>
                    <a:pt x="0" y="40369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036949"/>
                  </a:lnTo>
                  <a:lnTo>
                    <a:pt x="13589" y="4036949"/>
                  </a:lnTo>
                  <a:lnTo>
                    <a:pt x="13589" y="4023360"/>
                  </a:lnTo>
                  <a:lnTo>
                    <a:pt x="7182485" y="4023360"/>
                  </a:lnTo>
                  <a:lnTo>
                    <a:pt x="7182485" y="4036949"/>
                  </a:lnTo>
                  <a:lnTo>
                    <a:pt x="7168896" y="4036949"/>
                  </a:lnTo>
                  <a:lnTo>
                    <a:pt x="7168896" y="13589"/>
                  </a:lnTo>
                  <a:lnTo>
                    <a:pt x="7182485" y="13589"/>
                  </a:lnTo>
                  <a:lnTo>
                    <a:pt x="7182485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4855" y="2291591"/>
            <a:ext cx="574043" cy="574043"/>
            <a:chOff x="0" y="0"/>
            <a:chExt cx="765391" cy="765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991B1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7552" y="2304288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9072" y="2340864"/>
            <a:ext cx="4133088" cy="475488"/>
            <a:chOff x="0" y="0"/>
            <a:chExt cx="5510784" cy="633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10784" cy="633984"/>
            </a:xfrm>
            <a:custGeom>
              <a:avLst/>
              <a:gdLst/>
              <a:ahLst/>
              <a:cxnLst/>
              <a:rect r="r" b="b" t="t" l="l"/>
              <a:pathLst>
                <a:path h="633984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69" r="0" b="-1193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510784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 Output-Zone Logic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42416" y="2997708"/>
            <a:ext cx="4864608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Initial idea for counting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Rejected after real video analysis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Not reliable in practical conditions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280909" y="2111245"/>
            <a:ext cx="5396989" cy="3037837"/>
            <a:chOff x="0" y="0"/>
            <a:chExt cx="7195985" cy="40504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3589" y="13589"/>
              <a:ext cx="7168896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68896">
                  <a:moveTo>
                    <a:pt x="0" y="0"/>
                  </a:moveTo>
                  <a:lnTo>
                    <a:pt x="7168896" y="0"/>
                  </a:lnTo>
                  <a:lnTo>
                    <a:pt x="7168896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96074" cy="4050538"/>
            </a:xfrm>
            <a:custGeom>
              <a:avLst/>
              <a:gdLst/>
              <a:ahLst/>
              <a:cxnLst/>
              <a:rect r="r" b="b" t="t" l="l"/>
              <a:pathLst>
                <a:path h="4050538" w="7196074">
                  <a:moveTo>
                    <a:pt x="13589" y="0"/>
                  </a:moveTo>
                  <a:lnTo>
                    <a:pt x="7182485" y="0"/>
                  </a:lnTo>
                  <a:cubicBezTo>
                    <a:pt x="7189978" y="0"/>
                    <a:pt x="7196074" y="6096"/>
                    <a:pt x="7196074" y="13589"/>
                  </a:cubicBezTo>
                  <a:lnTo>
                    <a:pt x="7196074" y="4036949"/>
                  </a:lnTo>
                  <a:cubicBezTo>
                    <a:pt x="7196074" y="4044442"/>
                    <a:pt x="7189978" y="4050538"/>
                    <a:pt x="7182485" y="4050538"/>
                  </a:cubicBezTo>
                  <a:lnTo>
                    <a:pt x="13589" y="4050538"/>
                  </a:lnTo>
                  <a:cubicBezTo>
                    <a:pt x="6096" y="4050538"/>
                    <a:pt x="0" y="4044442"/>
                    <a:pt x="0" y="40369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036949"/>
                  </a:lnTo>
                  <a:lnTo>
                    <a:pt x="13589" y="4036949"/>
                  </a:lnTo>
                  <a:lnTo>
                    <a:pt x="13589" y="4023360"/>
                  </a:lnTo>
                  <a:lnTo>
                    <a:pt x="7182485" y="4023360"/>
                  </a:lnTo>
                  <a:lnTo>
                    <a:pt x="7182485" y="4036949"/>
                  </a:lnTo>
                  <a:lnTo>
                    <a:pt x="7168896" y="4036949"/>
                  </a:lnTo>
                  <a:lnTo>
                    <a:pt x="7168896" y="13589"/>
                  </a:lnTo>
                  <a:lnTo>
                    <a:pt x="7182485" y="13589"/>
                  </a:lnTo>
                  <a:lnTo>
                    <a:pt x="7182485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97831" y="2291591"/>
            <a:ext cx="574043" cy="574043"/>
            <a:chOff x="0" y="0"/>
            <a:chExt cx="76539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510528" y="2304288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42048" y="2340864"/>
            <a:ext cx="4133088" cy="475488"/>
            <a:chOff x="0" y="0"/>
            <a:chExt cx="5510784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10784" cy="633984"/>
            </a:xfrm>
            <a:custGeom>
              <a:avLst/>
              <a:gdLst/>
              <a:ahLst/>
              <a:cxnLst/>
              <a:rect r="r" b="b" t="t" l="l"/>
              <a:pathLst>
                <a:path h="633984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69" r="0" b="-1193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510784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put_aside Model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565392" y="2997708"/>
            <a:ext cx="4864608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Task: classify windows as put_aside or not_put_aside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Main use: completed-piece event detection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Result: strongest counting baseline so far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803885" y="2111245"/>
            <a:ext cx="5396989" cy="3037837"/>
            <a:chOff x="0" y="0"/>
            <a:chExt cx="7195985" cy="40504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3589" y="13589"/>
              <a:ext cx="7168896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68896">
                  <a:moveTo>
                    <a:pt x="0" y="0"/>
                  </a:moveTo>
                  <a:lnTo>
                    <a:pt x="7168896" y="0"/>
                  </a:lnTo>
                  <a:lnTo>
                    <a:pt x="7168896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CCFBF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96074" cy="4050538"/>
            </a:xfrm>
            <a:custGeom>
              <a:avLst/>
              <a:gdLst/>
              <a:ahLst/>
              <a:cxnLst/>
              <a:rect r="r" b="b" t="t" l="l"/>
              <a:pathLst>
                <a:path h="4050538" w="7196074">
                  <a:moveTo>
                    <a:pt x="13589" y="0"/>
                  </a:moveTo>
                  <a:lnTo>
                    <a:pt x="7182485" y="0"/>
                  </a:lnTo>
                  <a:cubicBezTo>
                    <a:pt x="7189978" y="0"/>
                    <a:pt x="7196074" y="6096"/>
                    <a:pt x="7196074" y="13589"/>
                  </a:cubicBezTo>
                  <a:lnTo>
                    <a:pt x="7196074" y="4036949"/>
                  </a:lnTo>
                  <a:cubicBezTo>
                    <a:pt x="7196074" y="4044442"/>
                    <a:pt x="7189978" y="4050538"/>
                    <a:pt x="7182485" y="4050538"/>
                  </a:cubicBezTo>
                  <a:lnTo>
                    <a:pt x="13589" y="4050538"/>
                  </a:lnTo>
                  <a:cubicBezTo>
                    <a:pt x="6096" y="4050538"/>
                    <a:pt x="0" y="4044442"/>
                    <a:pt x="0" y="40369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036949"/>
                  </a:lnTo>
                  <a:lnTo>
                    <a:pt x="13589" y="4036949"/>
                  </a:lnTo>
                  <a:lnTo>
                    <a:pt x="13589" y="4023360"/>
                  </a:lnTo>
                  <a:lnTo>
                    <a:pt x="7182485" y="4023360"/>
                  </a:lnTo>
                  <a:lnTo>
                    <a:pt x="7182485" y="4036949"/>
                  </a:lnTo>
                  <a:lnTo>
                    <a:pt x="7168896" y="4036949"/>
                  </a:lnTo>
                  <a:lnTo>
                    <a:pt x="7168896" y="13589"/>
                  </a:lnTo>
                  <a:lnTo>
                    <a:pt x="7182485" y="13589"/>
                  </a:lnTo>
                  <a:lnTo>
                    <a:pt x="7182485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20807" y="2291591"/>
            <a:ext cx="574043" cy="574043"/>
            <a:chOff x="0" y="0"/>
            <a:chExt cx="765391" cy="7653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33504" y="2304288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65024" y="2340864"/>
            <a:ext cx="4133088" cy="475488"/>
            <a:chOff x="0" y="0"/>
            <a:chExt cx="5510784" cy="6339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10784" cy="633984"/>
            </a:xfrm>
            <a:custGeom>
              <a:avLst/>
              <a:gdLst/>
              <a:ahLst/>
              <a:cxnLst/>
              <a:rect r="r" b="b" t="t" l="l"/>
              <a:pathLst>
                <a:path h="633984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69" r="0" b="-11936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510784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Multiclass State Model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088368" y="2997708"/>
            <a:ext cx="4864608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Classes: idle_setup, sewing, put_aside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Main use: workflow understanding</a:t>
            </a:r>
          </a:p>
          <a:p>
            <a:pPr algn="l" marL="458470" indent="-229235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Used for future transition-based counting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68096" y="5468112"/>
            <a:ext cx="11887200" cy="365760"/>
            <a:chOff x="0" y="0"/>
            <a:chExt cx="15849600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84960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5849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Benchmarking Flow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9209" y="5934713"/>
            <a:ext cx="2687831" cy="1297943"/>
            <a:chOff x="0" y="0"/>
            <a:chExt cx="3583775" cy="17305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1811" y="11811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83686" cy="1730502"/>
            </a:xfrm>
            <a:custGeom>
              <a:avLst/>
              <a:gdLst/>
              <a:ahLst/>
              <a:cxnLst/>
              <a:rect r="r" b="b" t="t" l="l"/>
              <a:pathLst>
                <a:path h="1730502" w="3583686">
                  <a:moveTo>
                    <a:pt x="11811" y="0"/>
                  </a:moveTo>
                  <a:lnTo>
                    <a:pt x="3571875" y="0"/>
                  </a:lnTo>
                  <a:cubicBezTo>
                    <a:pt x="3578479" y="0"/>
                    <a:pt x="3583686" y="5334"/>
                    <a:pt x="3583686" y="11811"/>
                  </a:cubicBezTo>
                  <a:lnTo>
                    <a:pt x="3583686" y="1718691"/>
                  </a:lnTo>
                  <a:cubicBezTo>
                    <a:pt x="3583686" y="1725295"/>
                    <a:pt x="3578352" y="1730502"/>
                    <a:pt x="3571875" y="1730502"/>
                  </a:cubicBezTo>
                  <a:lnTo>
                    <a:pt x="11811" y="1730502"/>
                  </a:lnTo>
                  <a:cubicBezTo>
                    <a:pt x="5207" y="1730502"/>
                    <a:pt x="0" y="1725168"/>
                    <a:pt x="0" y="17186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718691"/>
                  </a:lnTo>
                  <a:lnTo>
                    <a:pt x="11811" y="1718691"/>
                  </a:lnTo>
                  <a:lnTo>
                    <a:pt x="11811" y="1706880"/>
                  </a:lnTo>
                  <a:lnTo>
                    <a:pt x="3571875" y="1706880"/>
                  </a:lnTo>
                  <a:lnTo>
                    <a:pt x="3571875" y="1718691"/>
                  </a:lnTo>
                  <a:lnTo>
                    <a:pt x="3560064" y="1718691"/>
                  </a:lnTo>
                  <a:lnTo>
                    <a:pt x="3560064" y="11811"/>
                  </a:lnTo>
                  <a:lnTo>
                    <a:pt x="3571875" y="11811"/>
                  </a:lnTo>
                  <a:lnTo>
                    <a:pt x="3571875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68096" y="5943600"/>
            <a:ext cx="2670048" cy="1280160"/>
            <a:chOff x="0" y="0"/>
            <a:chExt cx="3560064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15" t="0" r="-11515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560064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Fixed-Window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422904" y="6568440"/>
            <a:ext cx="176784" cy="30480"/>
            <a:chOff x="0" y="0"/>
            <a:chExt cx="235712" cy="40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20320" y="0"/>
              <a:ext cx="195072" cy="40640"/>
            </a:xfrm>
            <a:custGeom>
              <a:avLst/>
              <a:gdLst/>
              <a:ahLst/>
              <a:cxnLst/>
              <a:rect r="r" b="b" t="t" l="l"/>
              <a:pathLst>
                <a:path h="4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492246" y="6382517"/>
            <a:ext cx="329184" cy="402336"/>
            <a:chOff x="0" y="0"/>
            <a:chExt cx="438912" cy="5364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389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575561" y="5934713"/>
            <a:ext cx="2687831" cy="1297943"/>
            <a:chOff x="0" y="0"/>
            <a:chExt cx="3583775" cy="17305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1811" y="11811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83686" cy="1730502"/>
            </a:xfrm>
            <a:custGeom>
              <a:avLst/>
              <a:gdLst/>
              <a:ahLst/>
              <a:cxnLst/>
              <a:rect r="r" b="b" t="t" l="l"/>
              <a:pathLst>
                <a:path h="1730502" w="3583686">
                  <a:moveTo>
                    <a:pt x="11811" y="0"/>
                  </a:moveTo>
                  <a:lnTo>
                    <a:pt x="3571875" y="0"/>
                  </a:lnTo>
                  <a:cubicBezTo>
                    <a:pt x="3578479" y="0"/>
                    <a:pt x="3583686" y="5334"/>
                    <a:pt x="3583686" y="11811"/>
                  </a:cubicBezTo>
                  <a:lnTo>
                    <a:pt x="3583686" y="1718691"/>
                  </a:lnTo>
                  <a:cubicBezTo>
                    <a:pt x="3583686" y="1725295"/>
                    <a:pt x="3578352" y="1730502"/>
                    <a:pt x="3571875" y="1730502"/>
                  </a:cubicBezTo>
                  <a:lnTo>
                    <a:pt x="11811" y="1730502"/>
                  </a:lnTo>
                  <a:cubicBezTo>
                    <a:pt x="5207" y="1730502"/>
                    <a:pt x="0" y="1725168"/>
                    <a:pt x="0" y="17186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718691"/>
                  </a:lnTo>
                  <a:lnTo>
                    <a:pt x="11811" y="1718691"/>
                  </a:lnTo>
                  <a:lnTo>
                    <a:pt x="11811" y="1706880"/>
                  </a:lnTo>
                  <a:lnTo>
                    <a:pt x="3571875" y="1706880"/>
                  </a:lnTo>
                  <a:lnTo>
                    <a:pt x="3571875" y="1718691"/>
                  </a:lnTo>
                  <a:lnTo>
                    <a:pt x="3560064" y="1718691"/>
                  </a:lnTo>
                  <a:lnTo>
                    <a:pt x="3560064" y="11811"/>
                  </a:lnTo>
                  <a:lnTo>
                    <a:pt x="3571875" y="11811"/>
                  </a:lnTo>
                  <a:lnTo>
                    <a:pt x="3571875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584448" y="5943600"/>
            <a:ext cx="2670048" cy="1280160"/>
            <a:chOff x="0" y="0"/>
            <a:chExt cx="3560064" cy="17068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15" t="0" r="-1151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560064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Binary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239256" y="6568440"/>
            <a:ext cx="176784" cy="30480"/>
            <a:chOff x="0" y="0"/>
            <a:chExt cx="235712" cy="40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20320" y="0"/>
              <a:ext cx="195072" cy="40640"/>
            </a:xfrm>
            <a:custGeom>
              <a:avLst/>
              <a:gdLst/>
              <a:ahLst/>
              <a:cxnLst/>
              <a:rect r="r" b="b" t="t" l="l"/>
              <a:pathLst>
                <a:path h="4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299959" y="6382517"/>
            <a:ext cx="329184" cy="402336"/>
            <a:chOff x="0" y="0"/>
            <a:chExt cx="438912" cy="5364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389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391913" y="5934713"/>
            <a:ext cx="2687831" cy="1297943"/>
            <a:chOff x="0" y="0"/>
            <a:chExt cx="3583775" cy="17305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1811" y="11811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83686" cy="1730502"/>
            </a:xfrm>
            <a:custGeom>
              <a:avLst/>
              <a:gdLst/>
              <a:ahLst/>
              <a:cxnLst/>
              <a:rect r="r" b="b" t="t" l="l"/>
              <a:pathLst>
                <a:path h="1730502" w="3583686">
                  <a:moveTo>
                    <a:pt x="11811" y="0"/>
                  </a:moveTo>
                  <a:lnTo>
                    <a:pt x="3571875" y="0"/>
                  </a:lnTo>
                  <a:cubicBezTo>
                    <a:pt x="3578479" y="0"/>
                    <a:pt x="3583686" y="5334"/>
                    <a:pt x="3583686" y="11811"/>
                  </a:cubicBezTo>
                  <a:lnTo>
                    <a:pt x="3583686" y="1718691"/>
                  </a:lnTo>
                  <a:cubicBezTo>
                    <a:pt x="3583686" y="1725295"/>
                    <a:pt x="3578352" y="1730502"/>
                    <a:pt x="3571875" y="1730502"/>
                  </a:cubicBezTo>
                  <a:lnTo>
                    <a:pt x="11811" y="1730502"/>
                  </a:lnTo>
                  <a:cubicBezTo>
                    <a:pt x="5207" y="1730502"/>
                    <a:pt x="0" y="1725168"/>
                    <a:pt x="0" y="17186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718691"/>
                  </a:lnTo>
                  <a:lnTo>
                    <a:pt x="11811" y="1718691"/>
                  </a:lnTo>
                  <a:lnTo>
                    <a:pt x="11811" y="1706880"/>
                  </a:lnTo>
                  <a:lnTo>
                    <a:pt x="3571875" y="1706880"/>
                  </a:lnTo>
                  <a:lnTo>
                    <a:pt x="3571875" y="1718691"/>
                  </a:lnTo>
                  <a:lnTo>
                    <a:pt x="3560064" y="1718691"/>
                  </a:lnTo>
                  <a:lnTo>
                    <a:pt x="3560064" y="11811"/>
                  </a:lnTo>
                  <a:lnTo>
                    <a:pt x="3571875" y="11811"/>
                  </a:lnTo>
                  <a:lnTo>
                    <a:pt x="3571875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0" y="5943600"/>
            <a:ext cx="2670048" cy="1280160"/>
            <a:chOff x="0" y="0"/>
            <a:chExt cx="3560064" cy="17068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15" t="0" r="-1151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560064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Multiclass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055608" y="6568440"/>
            <a:ext cx="176784" cy="30480"/>
            <a:chOff x="0" y="0"/>
            <a:chExt cx="235712" cy="40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0320" y="0"/>
              <a:ext cx="195072" cy="40640"/>
            </a:xfrm>
            <a:custGeom>
              <a:avLst/>
              <a:gdLst/>
              <a:ahLst/>
              <a:cxnLst/>
              <a:rect r="r" b="b" t="t" l="l"/>
              <a:pathLst>
                <a:path h="4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117844" y="6373749"/>
            <a:ext cx="329184" cy="402336"/>
            <a:chOff x="0" y="0"/>
            <a:chExt cx="438912" cy="536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389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208265" y="5934713"/>
            <a:ext cx="2687831" cy="1297943"/>
            <a:chOff x="0" y="0"/>
            <a:chExt cx="3583775" cy="173059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1811" y="11811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583686" cy="1730502"/>
            </a:xfrm>
            <a:custGeom>
              <a:avLst/>
              <a:gdLst/>
              <a:ahLst/>
              <a:cxnLst/>
              <a:rect r="r" b="b" t="t" l="l"/>
              <a:pathLst>
                <a:path h="1730502" w="3583686">
                  <a:moveTo>
                    <a:pt x="11811" y="0"/>
                  </a:moveTo>
                  <a:lnTo>
                    <a:pt x="3571875" y="0"/>
                  </a:lnTo>
                  <a:cubicBezTo>
                    <a:pt x="3578479" y="0"/>
                    <a:pt x="3583686" y="5334"/>
                    <a:pt x="3583686" y="11811"/>
                  </a:cubicBezTo>
                  <a:lnTo>
                    <a:pt x="3583686" y="1718691"/>
                  </a:lnTo>
                  <a:cubicBezTo>
                    <a:pt x="3583686" y="1725295"/>
                    <a:pt x="3578352" y="1730502"/>
                    <a:pt x="3571875" y="1730502"/>
                  </a:cubicBezTo>
                  <a:lnTo>
                    <a:pt x="11811" y="1730502"/>
                  </a:lnTo>
                  <a:cubicBezTo>
                    <a:pt x="5207" y="1730502"/>
                    <a:pt x="0" y="1725168"/>
                    <a:pt x="0" y="17186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718691"/>
                  </a:lnTo>
                  <a:lnTo>
                    <a:pt x="11811" y="1718691"/>
                  </a:lnTo>
                  <a:lnTo>
                    <a:pt x="11811" y="1706880"/>
                  </a:lnTo>
                  <a:lnTo>
                    <a:pt x="3571875" y="1706880"/>
                  </a:lnTo>
                  <a:lnTo>
                    <a:pt x="3571875" y="1718691"/>
                  </a:lnTo>
                  <a:lnTo>
                    <a:pt x="3560064" y="1718691"/>
                  </a:lnTo>
                  <a:lnTo>
                    <a:pt x="3560064" y="11811"/>
                  </a:lnTo>
                  <a:lnTo>
                    <a:pt x="3571875" y="11811"/>
                  </a:lnTo>
                  <a:lnTo>
                    <a:pt x="3571875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217152" y="5943600"/>
            <a:ext cx="2670048" cy="1280160"/>
            <a:chOff x="0" y="0"/>
            <a:chExt cx="3560064" cy="17068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15" t="0" r="-11515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560064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Event/Transition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Decoding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871960" y="6568440"/>
            <a:ext cx="176784" cy="30480"/>
            <a:chOff x="0" y="0"/>
            <a:chExt cx="235712" cy="40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20320" y="0"/>
              <a:ext cx="195072" cy="40640"/>
            </a:xfrm>
            <a:custGeom>
              <a:avLst/>
              <a:gdLst/>
              <a:ahLst/>
              <a:cxnLst/>
              <a:rect r="r" b="b" t="t" l="l"/>
              <a:pathLst>
                <a:path h="4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934196" y="6382512"/>
            <a:ext cx="329184" cy="402336"/>
            <a:chOff x="0" y="0"/>
            <a:chExt cx="438912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389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024617" y="5934713"/>
            <a:ext cx="2687831" cy="1297943"/>
            <a:chOff x="0" y="0"/>
            <a:chExt cx="3583775" cy="173059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1811" y="11811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583686" cy="1730502"/>
            </a:xfrm>
            <a:custGeom>
              <a:avLst/>
              <a:gdLst/>
              <a:ahLst/>
              <a:cxnLst/>
              <a:rect r="r" b="b" t="t" l="l"/>
              <a:pathLst>
                <a:path h="1730502" w="3583686">
                  <a:moveTo>
                    <a:pt x="11811" y="0"/>
                  </a:moveTo>
                  <a:lnTo>
                    <a:pt x="3571875" y="0"/>
                  </a:lnTo>
                  <a:cubicBezTo>
                    <a:pt x="3578479" y="0"/>
                    <a:pt x="3583686" y="5334"/>
                    <a:pt x="3583686" y="11811"/>
                  </a:cubicBezTo>
                  <a:lnTo>
                    <a:pt x="3583686" y="1718691"/>
                  </a:lnTo>
                  <a:cubicBezTo>
                    <a:pt x="3583686" y="1725295"/>
                    <a:pt x="3578352" y="1730502"/>
                    <a:pt x="3571875" y="1730502"/>
                  </a:cubicBezTo>
                  <a:lnTo>
                    <a:pt x="11811" y="1730502"/>
                  </a:lnTo>
                  <a:cubicBezTo>
                    <a:pt x="5207" y="1730502"/>
                    <a:pt x="0" y="1725168"/>
                    <a:pt x="0" y="17186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718691"/>
                  </a:lnTo>
                  <a:lnTo>
                    <a:pt x="11811" y="1718691"/>
                  </a:lnTo>
                  <a:lnTo>
                    <a:pt x="11811" y="1706880"/>
                  </a:lnTo>
                  <a:lnTo>
                    <a:pt x="3571875" y="1706880"/>
                  </a:lnTo>
                  <a:lnTo>
                    <a:pt x="3571875" y="1718691"/>
                  </a:lnTo>
                  <a:lnTo>
                    <a:pt x="3560064" y="1718691"/>
                  </a:lnTo>
                  <a:lnTo>
                    <a:pt x="3560064" y="11811"/>
                  </a:lnTo>
                  <a:lnTo>
                    <a:pt x="3571875" y="11811"/>
                  </a:lnTo>
                  <a:lnTo>
                    <a:pt x="3571875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033504" y="5943600"/>
            <a:ext cx="2670048" cy="1280160"/>
            <a:chOff x="0" y="0"/>
            <a:chExt cx="3560064" cy="17068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15" t="0" r="-11515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560064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 Count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Behavior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688312" y="6568440"/>
            <a:ext cx="176784" cy="30480"/>
            <a:chOff x="0" y="0"/>
            <a:chExt cx="235712" cy="40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20320" y="0"/>
              <a:ext cx="195072" cy="40640"/>
            </a:xfrm>
            <a:custGeom>
              <a:avLst/>
              <a:gdLst/>
              <a:ahLst/>
              <a:cxnLst/>
              <a:rect r="r" b="b" t="t" l="l"/>
              <a:pathLst>
                <a:path h="4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750548" y="6382517"/>
            <a:ext cx="329184" cy="402336"/>
            <a:chOff x="0" y="0"/>
            <a:chExt cx="438912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8912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815" t="0" r="-106815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389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840969" y="5934713"/>
            <a:ext cx="2687831" cy="1297943"/>
            <a:chOff x="0" y="0"/>
            <a:chExt cx="3583775" cy="173059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1811" y="11811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583686" cy="1730502"/>
            </a:xfrm>
            <a:custGeom>
              <a:avLst/>
              <a:gdLst/>
              <a:ahLst/>
              <a:cxnLst/>
              <a:rect r="r" b="b" t="t" l="l"/>
              <a:pathLst>
                <a:path h="1730502" w="3583686">
                  <a:moveTo>
                    <a:pt x="11811" y="0"/>
                  </a:moveTo>
                  <a:lnTo>
                    <a:pt x="3571875" y="0"/>
                  </a:lnTo>
                  <a:cubicBezTo>
                    <a:pt x="3578479" y="0"/>
                    <a:pt x="3583686" y="5334"/>
                    <a:pt x="3583686" y="11811"/>
                  </a:cubicBezTo>
                  <a:lnTo>
                    <a:pt x="3583686" y="1718691"/>
                  </a:lnTo>
                  <a:cubicBezTo>
                    <a:pt x="3583686" y="1725295"/>
                    <a:pt x="3578352" y="1730502"/>
                    <a:pt x="3571875" y="1730502"/>
                  </a:cubicBezTo>
                  <a:lnTo>
                    <a:pt x="11811" y="1730502"/>
                  </a:lnTo>
                  <a:cubicBezTo>
                    <a:pt x="5207" y="1730502"/>
                    <a:pt x="0" y="1725168"/>
                    <a:pt x="0" y="17186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718691"/>
                  </a:lnTo>
                  <a:lnTo>
                    <a:pt x="11811" y="1718691"/>
                  </a:lnTo>
                  <a:lnTo>
                    <a:pt x="11811" y="1706880"/>
                  </a:lnTo>
                  <a:lnTo>
                    <a:pt x="3571875" y="1706880"/>
                  </a:lnTo>
                  <a:lnTo>
                    <a:pt x="3571875" y="1718691"/>
                  </a:lnTo>
                  <a:lnTo>
                    <a:pt x="3560064" y="1718691"/>
                  </a:lnTo>
                  <a:lnTo>
                    <a:pt x="3560064" y="11811"/>
                  </a:lnTo>
                  <a:lnTo>
                    <a:pt x="3571875" y="11811"/>
                  </a:lnTo>
                  <a:lnTo>
                    <a:pt x="3571875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849856" y="5943600"/>
            <a:ext cx="2670048" cy="1280160"/>
            <a:chOff x="0" y="0"/>
            <a:chExt cx="3560064" cy="17068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560064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15" t="0" r="-11515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560064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 Cases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55399" y="7485383"/>
            <a:ext cx="16777211" cy="1579883"/>
            <a:chOff x="0" y="0"/>
            <a:chExt cx="22369615" cy="210651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2335745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335745">
                  <a:moveTo>
                    <a:pt x="0" y="0"/>
                  </a:moveTo>
                  <a:lnTo>
                    <a:pt x="22335745" y="0"/>
                  </a:lnTo>
                  <a:lnTo>
                    <a:pt x="22335745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369526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369526">
                  <a:moveTo>
                    <a:pt x="16891" y="0"/>
                  </a:moveTo>
                  <a:lnTo>
                    <a:pt x="22352636" y="0"/>
                  </a:lnTo>
                  <a:cubicBezTo>
                    <a:pt x="22362033" y="0"/>
                    <a:pt x="22369526" y="7620"/>
                    <a:pt x="22369526" y="16891"/>
                  </a:cubicBezTo>
                  <a:lnTo>
                    <a:pt x="22369526" y="2089531"/>
                  </a:lnTo>
                  <a:cubicBezTo>
                    <a:pt x="22369526" y="2098929"/>
                    <a:pt x="22361906" y="2106422"/>
                    <a:pt x="22352636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352636" y="2072640"/>
                  </a:lnTo>
                  <a:lnTo>
                    <a:pt x="22352636" y="2089531"/>
                  </a:lnTo>
                  <a:lnTo>
                    <a:pt x="22335745" y="2089531"/>
                  </a:lnTo>
                  <a:lnTo>
                    <a:pt x="22335745" y="16891"/>
                  </a:lnTo>
                  <a:lnTo>
                    <a:pt x="22352636" y="16891"/>
                  </a:lnTo>
                  <a:lnTo>
                    <a:pt x="223526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sp>
        <p:nvSpPr>
          <p:cNvPr name="TextBox 116" id="116"/>
          <p:cNvSpPr txBox="true"/>
          <p:nvPr/>
        </p:nvSpPr>
        <p:spPr>
          <a:xfrm rot="0">
            <a:off x="1133856" y="7596759"/>
            <a:ext cx="16093440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D4E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Chosen counting baseline:  </a:t>
            </a:r>
            <a:r>
              <a:rPr lang="en-US" sz="22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put_aside model + event decoder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D948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Chosen support model:  </a:t>
            </a: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Multiclass state model for workflow understanding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768096" y="9747504"/>
            <a:ext cx="14264640" cy="329184"/>
            <a:chOff x="0" y="0"/>
            <a:chExt cx="19019520" cy="43891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9019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4351" r="0" b="-79435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19019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2 — Vision-Based Piece Counting &amp; Cycle Time Estimation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" y="329184"/>
            <a:ext cx="16824960" cy="329184"/>
            <a:chOff x="0" y="0"/>
            <a:chExt cx="2243328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5901" r="0" b="-9459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R26-IT-054 · FEATURE 2 · IT21255892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1188720"/>
            <a:chOff x="0" y="0"/>
            <a:chExt cx="2243328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E3A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Current Progress and Proof of Concept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933" y="1928365"/>
            <a:ext cx="16772125" cy="20317"/>
            <a:chOff x="0" y="0"/>
            <a:chExt cx="22362833" cy="270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22335744" cy="27051"/>
            </a:xfrm>
            <a:custGeom>
              <a:avLst/>
              <a:gdLst/>
              <a:ahLst/>
              <a:cxnLst/>
              <a:rect r="r" b="b" t="t" l="l"/>
              <a:pathLst>
                <a:path h="27051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27051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209" y="2112521"/>
            <a:ext cx="7881623" cy="7241543"/>
            <a:chOff x="0" y="0"/>
            <a:chExt cx="10508831" cy="9655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811" y="11811"/>
              <a:ext cx="10485120" cy="9631680"/>
            </a:xfrm>
            <a:custGeom>
              <a:avLst/>
              <a:gdLst/>
              <a:ahLst/>
              <a:cxnLst/>
              <a:rect r="r" b="b" t="t" l="l"/>
              <a:pathLst>
                <a:path h="9631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08742" cy="9655302"/>
            </a:xfrm>
            <a:custGeom>
              <a:avLst/>
              <a:gdLst/>
              <a:ahLst/>
              <a:cxnLst/>
              <a:rect r="r" b="b" t="t" l="l"/>
              <a:pathLst>
                <a:path h="9655302" w="10508742">
                  <a:moveTo>
                    <a:pt x="11811" y="0"/>
                  </a:moveTo>
                  <a:lnTo>
                    <a:pt x="10496931" y="0"/>
                  </a:lnTo>
                  <a:cubicBezTo>
                    <a:pt x="10503535" y="0"/>
                    <a:pt x="10508742" y="5334"/>
                    <a:pt x="10508742" y="11811"/>
                  </a:cubicBezTo>
                  <a:lnTo>
                    <a:pt x="10508742" y="9643491"/>
                  </a:lnTo>
                  <a:cubicBezTo>
                    <a:pt x="10508742" y="9650095"/>
                    <a:pt x="10503408" y="9655302"/>
                    <a:pt x="10496931" y="9655302"/>
                  </a:cubicBezTo>
                  <a:lnTo>
                    <a:pt x="11811" y="9655302"/>
                  </a:lnTo>
                  <a:cubicBezTo>
                    <a:pt x="5207" y="9655302"/>
                    <a:pt x="0" y="9649968"/>
                    <a:pt x="0" y="964349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9643491"/>
                  </a:lnTo>
                  <a:lnTo>
                    <a:pt x="11811" y="9643491"/>
                  </a:lnTo>
                  <a:lnTo>
                    <a:pt x="11811" y="9631680"/>
                  </a:lnTo>
                  <a:lnTo>
                    <a:pt x="10496931" y="9631680"/>
                  </a:lnTo>
                  <a:lnTo>
                    <a:pt x="10496931" y="9643491"/>
                  </a:lnTo>
                  <a:lnTo>
                    <a:pt x="10485120" y="9643491"/>
                  </a:lnTo>
                  <a:lnTo>
                    <a:pt x="10485120" y="11811"/>
                  </a:lnTo>
                  <a:lnTo>
                    <a:pt x="10496931" y="11811"/>
                  </a:lnTo>
                  <a:lnTo>
                    <a:pt x="1049693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5399" y="2108711"/>
            <a:ext cx="125987" cy="7249163"/>
            <a:chOff x="0" y="0"/>
            <a:chExt cx="167983" cy="9665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34112" cy="9631681"/>
            </a:xfrm>
            <a:custGeom>
              <a:avLst/>
              <a:gdLst/>
              <a:ahLst/>
              <a:cxnLst/>
              <a:rect r="r" b="b" t="t" l="l"/>
              <a:pathLst>
                <a:path h="9631681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894" cy="9665462"/>
            </a:xfrm>
            <a:custGeom>
              <a:avLst/>
              <a:gdLst/>
              <a:ahLst/>
              <a:cxnLst/>
              <a:rect r="r" b="b" t="t" l="l"/>
              <a:pathLst>
                <a:path h="9665462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9648572"/>
                  </a:lnTo>
                  <a:cubicBezTo>
                    <a:pt x="167894" y="9657969"/>
                    <a:pt x="160274" y="9665462"/>
                    <a:pt x="151003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51003" y="9631680"/>
                  </a:lnTo>
                  <a:lnTo>
                    <a:pt x="151003" y="9648572"/>
                  </a:lnTo>
                  <a:lnTo>
                    <a:pt x="134112" y="9648572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3856" y="2340864"/>
            <a:ext cx="7132320" cy="365760"/>
            <a:chOff x="0" y="0"/>
            <a:chExt cx="950976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509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 WORK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33856" y="2814828"/>
            <a:ext cx="7351776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Reviewed workstation videos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Defined workflow states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Created video_info.csv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Annotated state segments in state_segments.csv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Generated state clips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Built fixed-window dataset (window=16, stride=8)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binary put_aside model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multiclass state model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event decoding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Evaluated counting baseline on validation videos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79081" y="2112521"/>
            <a:ext cx="8649719" cy="2248919"/>
            <a:chOff x="0" y="0"/>
            <a:chExt cx="11532959" cy="2998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1811" y="11811"/>
              <a:ext cx="11509248" cy="2974848"/>
            </a:xfrm>
            <a:custGeom>
              <a:avLst/>
              <a:gdLst/>
              <a:ahLst/>
              <a:cxnLst/>
              <a:rect r="r" b="b" t="t" l="l"/>
              <a:pathLst>
                <a:path h="2974848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32870" cy="2998470"/>
            </a:xfrm>
            <a:custGeom>
              <a:avLst/>
              <a:gdLst/>
              <a:ahLst/>
              <a:cxnLst/>
              <a:rect r="r" b="b" t="t" l="l"/>
              <a:pathLst>
                <a:path h="2998470" w="11532870">
                  <a:moveTo>
                    <a:pt x="11811" y="0"/>
                  </a:moveTo>
                  <a:lnTo>
                    <a:pt x="11521059" y="0"/>
                  </a:lnTo>
                  <a:cubicBezTo>
                    <a:pt x="11527663" y="0"/>
                    <a:pt x="11532870" y="5334"/>
                    <a:pt x="11532870" y="11811"/>
                  </a:cubicBezTo>
                  <a:lnTo>
                    <a:pt x="11532870" y="2986659"/>
                  </a:lnTo>
                  <a:cubicBezTo>
                    <a:pt x="11532870" y="2993263"/>
                    <a:pt x="11527536" y="2998470"/>
                    <a:pt x="11521059" y="2998470"/>
                  </a:cubicBezTo>
                  <a:lnTo>
                    <a:pt x="11811" y="2998470"/>
                  </a:lnTo>
                  <a:cubicBezTo>
                    <a:pt x="5207" y="2998470"/>
                    <a:pt x="0" y="2993136"/>
                    <a:pt x="0" y="298665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986659"/>
                  </a:lnTo>
                  <a:lnTo>
                    <a:pt x="11811" y="2986659"/>
                  </a:lnTo>
                  <a:lnTo>
                    <a:pt x="11811" y="2974848"/>
                  </a:lnTo>
                  <a:lnTo>
                    <a:pt x="11521059" y="2974848"/>
                  </a:lnTo>
                  <a:lnTo>
                    <a:pt x="11521059" y="2986659"/>
                  </a:lnTo>
                  <a:lnTo>
                    <a:pt x="11509248" y="2986659"/>
                  </a:lnTo>
                  <a:lnTo>
                    <a:pt x="11509248" y="11811"/>
                  </a:lnTo>
                  <a:lnTo>
                    <a:pt x="11521059" y="11811"/>
                  </a:lnTo>
                  <a:lnTo>
                    <a:pt x="11521059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75271" y="2108711"/>
            <a:ext cx="125987" cy="2256539"/>
            <a:chOff x="0" y="0"/>
            <a:chExt cx="167983" cy="3008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34112" cy="2974848"/>
            </a:xfrm>
            <a:custGeom>
              <a:avLst/>
              <a:gdLst/>
              <a:ahLst/>
              <a:cxnLst/>
              <a:rect r="r" b="b" t="t" l="l"/>
              <a:pathLst>
                <a:path h="297484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7894" cy="3008630"/>
            </a:xfrm>
            <a:custGeom>
              <a:avLst/>
              <a:gdLst/>
              <a:ahLst/>
              <a:cxnLst/>
              <a:rect r="r" b="b" t="t" l="l"/>
              <a:pathLst>
                <a:path h="300863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2991739"/>
                  </a:lnTo>
                  <a:cubicBezTo>
                    <a:pt x="167894" y="3001137"/>
                    <a:pt x="160274" y="3008630"/>
                    <a:pt x="151003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51003" y="2974848"/>
                  </a:lnTo>
                  <a:lnTo>
                    <a:pt x="151003" y="2991739"/>
                  </a:lnTo>
                  <a:lnTo>
                    <a:pt x="134112" y="299173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53728" y="2340864"/>
            <a:ext cx="7863840" cy="365760"/>
            <a:chOff x="0" y="0"/>
            <a:chExt cx="1048512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485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BEST BASELINE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253728" y="2768727"/>
            <a:ext cx="7936992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put_aside model is the main counting component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decoder provides the strongest count baseline so far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879081" y="4563113"/>
            <a:ext cx="8649719" cy="2431799"/>
            <a:chOff x="0" y="0"/>
            <a:chExt cx="11532959" cy="32423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1811" y="11811"/>
              <a:ext cx="1150924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32870" cy="3242310"/>
            </a:xfrm>
            <a:custGeom>
              <a:avLst/>
              <a:gdLst/>
              <a:ahLst/>
              <a:cxnLst/>
              <a:rect r="r" b="b" t="t" l="l"/>
              <a:pathLst>
                <a:path h="3242310" w="11532870">
                  <a:moveTo>
                    <a:pt x="11811" y="0"/>
                  </a:moveTo>
                  <a:lnTo>
                    <a:pt x="11521059" y="0"/>
                  </a:lnTo>
                  <a:cubicBezTo>
                    <a:pt x="11527663" y="0"/>
                    <a:pt x="11532870" y="5334"/>
                    <a:pt x="11532870" y="11811"/>
                  </a:cubicBezTo>
                  <a:lnTo>
                    <a:pt x="11532870" y="3230499"/>
                  </a:lnTo>
                  <a:cubicBezTo>
                    <a:pt x="11532870" y="3237103"/>
                    <a:pt x="11527536" y="3242310"/>
                    <a:pt x="11521059" y="3242310"/>
                  </a:cubicBezTo>
                  <a:lnTo>
                    <a:pt x="11811" y="3242310"/>
                  </a:lnTo>
                  <a:cubicBezTo>
                    <a:pt x="5207" y="3242310"/>
                    <a:pt x="0" y="3236976"/>
                    <a:pt x="0" y="323049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3230499"/>
                  </a:lnTo>
                  <a:lnTo>
                    <a:pt x="11811" y="3230499"/>
                  </a:lnTo>
                  <a:lnTo>
                    <a:pt x="11811" y="3218688"/>
                  </a:lnTo>
                  <a:lnTo>
                    <a:pt x="11521059" y="3218688"/>
                  </a:lnTo>
                  <a:lnTo>
                    <a:pt x="11521059" y="3230499"/>
                  </a:lnTo>
                  <a:lnTo>
                    <a:pt x="11509248" y="3230499"/>
                  </a:lnTo>
                  <a:lnTo>
                    <a:pt x="11509248" y="11811"/>
                  </a:lnTo>
                  <a:lnTo>
                    <a:pt x="11521059" y="11811"/>
                  </a:lnTo>
                  <a:lnTo>
                    <a:pt x="11521059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75271" y="4559303"/>
            <a:ext cx="125987" cy="2439419"/>
            <a:chOff x="0" y="0"/>
            <a:chExt cx="167983" cy="32525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34112" cy="3218688"/>
            </a:xfrm>
            <a:custGeom>
              <a:avLst/>
              <a:gdLst/>
              <a:ahLst/>
              <a:cxnLst/>
              <a:rect r="r" b="b" t="t" l="l"/>
              <a:pathLst>
                <a:path h="3218688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16653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894" cy="3252470"/>
            </a:xfrm>
            <a:custGeom>
              <a:avLst/>
              <a:gdLst/>
              <a:ahLst/>
              <a:cxnLst/>
              <a:rect r="r" b="b" t="t" l="l"/>
              <a:pathLst>
                <a:path h="3252470" w="167894">
                  <a:moveTo>
                    <a:pt x="16891" y="0"/>
                  </a:moveTo>
                  <a:lnTo>
                    <a:pt x="151003" y="0"/>
                  </a:lnTo>
                  <a:cubicBezTo>
                    <a:pt x="160401" y="0"/>
                    <a:pt x="167894" y="7620"/>
                    <a:pt x="167894" y="16891"/>
                  </a:cubicBezTo>
                  <a:lnTo>
                    <a:pt x="167894" y="3235579"/>
                  </a:lnTo>
                  <a:cubicBezTo>
                    <a:pt x="167894" y="3244977"/>
                    <a:pt x="160274" y="3252470"/>
                    <a:pt x="151003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51003" y="3218688"/>
                  </a:lnTo>
                  <a:lnTo>
                    <a:pt x="151003" y="3235579"/>
                  </a:lnTo>
                  <a:lnTo>
                    <a:pt x="134112" y="3235579"/>
                  </a:lnTo>
                  <a:lnTo>
                    <a:pt x="134112" y="16891"/>
                  </a:lnTo>
                  <a:lnTo>
                    <a:pt x="151003" y="16891"/>
                  </a:lnTo>
                  <a:lnTo>
                    <a:pt x="15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53728" y="4791456"/>
            <a:ext cx="7863840" cy="365760"/>
            <a:chOff x="0" y="0"/>
            <a:chExt cx="10485120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0485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BASELINE RESULT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53728" y="5266944"/>
            <a:ext cx="2926080" cy="1024128"/>
            <a:chOff x="0" y="0"/>
            <a:chExt cx="3901440" cy="1365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014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901440" cy="1375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16653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~80%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89536" y="5449824"/>
            <a:ext cx="4754880" cy="658368"/>
            <a:chOff x="0" y="0"/>
            <a:chExt cx="633984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39840" cy="877824"/>
            </a:xfrm>
            <a:custGeom>
              <a:avLst/>
              <a:gdLst/>
              <a:ahLst/>
              <a:cxnLst/>
              <a:rect r="r" b="b" t="t" l="l"/>
              <a:pathLst>
                <a:path h="87782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3398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validation count accuracy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253728" y="6326124"/>
            <a:ext cx="7936992" cy="80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V018 — counted correctly</a:t>
            </a:r>
          </a:p>
          <a:p>
            <a:pPr algn="l" marL="482600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V019 — main hard case (occlusion, unclear put_aside)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879081" y="7196585"/>
            <a:ext cx="8649719" cy="2066039"/>
            <a:chOff x="0" y="0"/>
            <a:chExt cx="11532959" cy="27547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1811" y="11811"/>
              <a:ext cx="11509248" cy="2731008"/>
            </a:xfrm>
            <a:custGeom>
              <a:avLst/>
              <a:gdLst/>
              <a:ahLst/>
              <a:cxnLst/>
              <a:rect r="r" b="b" t="t" l="l"/>
              <a:pathLst>
                <a:path h="2731008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532870" cy="2754630"/>
            </a:xfrm>
            <a:custGeom>
              <a:avLst/>
              <a:gdLst/>
              <a:ahLst/>
              <a:cxnLst/>
              <a:rect r="r" b="b" t="t" l="l"/>
              <a:pathLst>
                <a:path h="2754630" w="11532870">
                  <a:moveTo>
                    <a:pt x="11811" y="0"/>
                  </a:moveTo>
                  <a:lnTo>
                    <a:pt x="11521059" y="0"/>
                  </a:lnTo>
                  <a:cubicBezTo>
                    <a:pt x="11527663" y="0"/>
                    <a:pt x="11532870" y="5334"/>
                    <a:pt x="11532870" y="11811"/>
                  </a:cubicBezTo>
                  <a:lnTo>
                    <a:pt x="11532870" y="2742819"/>
                  </a:lnTo>
                  <a:cubicBezTo>
                    <a:pt x="11532870" y="2749423"/>
                    <a:pt x="11527536" y="2754630"/>
                    <a:pt x="11521059" y="2754630"/>
                  </a:cubicBezTo>
                  <a:lnTo>
                    <a:pt x="11811" y="2754630"/>
                  </a:lnTo>
                  <a:cubicBezTo>
                    <a:pt x="5207" y="2754630"/>
                    <a:pt x="0" y="2749296"/>
                    <a:pt x="0" y="274281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742819"/>
                  </a:lnTo>
                  <a:lnTo>
                    <a:pt x="11811" y="2742819"/>
                  </a:lnTo>
                  <a:lnTo>
                    <a:pt x="11811" y="2731008"/>
                  </a:lnTo>
                  <a:lnTo>
                    <a:pt x="11521059" y="2731008"/>
                  </a:lnTo>
                  <a:lnTo>
                    <a:pt x="11521059" y="2742819"/>
                  </a:lnTo>
                  <a:lnTo>
                    <a:pt x="11509248" y="2742819"/>
                  </a:lnTo>
                  <a:lnTo>
                    <a:pt x="11509248" y="11811"/>
                  </a:lnTo>
                  <a:lnTo>
                    <a:pt x="11521059" y="11811"/>
                  </a:lnTo>
                  <a:lnTo>
                    <a:pt x="11521059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6653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253728" y="7388352"/>
            <a:ext cx="7900416" cy="365760"/>
            <a:chOff x="0" y="0"/>
            <a:chExt cx="10533888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533888" cy="487680"/>
            </a:xfrm>
            <a:custGeom>
              <a:avLst/>
              <a:gdLst/>
              <a:ahLst/>
              <a:cxnLst/>
              <a:rect r="r" b="b" t="t" l="l"/>
              <a:pathLst>
                <a:path h="48768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0533888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300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THIS MEANS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253728" y="7743063"/>
            <a:ext cx="7900416" cy="13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provides a working proof of concept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The feature is beyond the idea stage with measurable results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68096" y="9747504"/>
            <a:ext cx="14264640" cy="329184"/>
            <a:chOff x="0" y="0"/>
            <a:chExt cx="19019520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019520" cy="438912"/>
            </a:xfrm>
            <a:custGeom>
              <a:avLst/>
              <a:gdLst/>
              <a:ahLst/>
              <a:cxnLst/>
              <a:rect r="r" b="b" t="t" l="l"/>
              <a:pathLst>
                <a:path h="43891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4351" r="0" b="-7943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019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2 — Vision-Based Piece Counting &amp; Cycle Time Estimation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916400" y="9747504"/>
            <a:ext cx="548640" cy="329184"/>
            <a:chOff x="0" y="0"/>
            <a:chExt cx="731520" cy="4389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438912"/>
            </a:xfrm>
            <a:custGeom>
              <a:avLst/>
              <a:gdLst/>
              <a:ahLst/>
              <a:cxnLst/>
              <a:rect r="r" b="b" t="t" l="l"/>
              <a:pathLst>
                <a:path h="43891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315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56547" y="9663019"/>
            <a:ext cx="389904" cy="4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67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40912" y="9691684"/>
            <a:ext cx="382953" cy="4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67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55216" y="9663019"/>
            <a:ext cx="392567" cy="4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67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7725" cy="10287000"/>
          </a:xfrm>
          <a:custGeom>
            <a:avLst/>
            <a:gdLst/>
            <a:ahLst/>
            <a:cxnLst/>
            <a:rect r="r" b="b" t="t" l="l"/>
            <a:pathLst>
              <a:path h="10287000" w="18267725">
                <a:moveTo>
                  <a:pt x="0" y="0"/>
                </a:moveTo>
                <a:lnTo>
                  <a:pt x="18267725" y="0"/>
                </a:lnTo>
                <a:lnTo>
                  <a:pt x="182677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2" t="-452" r="0" b="-4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95" y="3978471"/>
            <a:ext cx="7017590" cy="5117290"/>
          </a:xfrm>
          <a:custGeom>
            <a:avLst/>
            <a:gdLst/>
            <a:ahLst/>
            <a:cxnLst/>
            <a:rect r="r" b="b" t="t" l="l"/>
            <a:pathLst>
              <a:path h="5117290" w="7017590">
                <a:moveTo>
                  <a:pt x="0" y="0"/>
                </a:moveTo>
                <a:lnTo>
                  <a:pt x="7017590" y="0"/>
                </a:lnTo>
                <a:lnTo>
                  <a:pt x="7017590" y="5117290"/>
                </a:lnTo>
                <a:lnTo>
                  <a:pt x="0" y="5117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670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52661" y="9697119"/>
            <a:ext cx="338205" cy="4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67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670" y="4264119"/>
            <a:ext cx="6631515" cy="417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Defined feature objective &amp; real factory use case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Identified the research gap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Designed high-level system architecture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Defined preprocessing steps for garment images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Selected HSV-based colour analysis direction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Identified style classification requirement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737" y="4732394"/>
            <a:ext cx="9777117" cy="4740605"/>
          </a:xfrm>
          <a:custGeom>
            <a:avLst/>
            <a:gdLst/>
            <a:ahLst/>
            <a:cxnLst/>
            <a:rect r="r" b="b" t="t" l="l"/>
            <a:pathLst>
              <a:path h="4740605" w="9777117">
                <a:moveTo>
                  <a:pt x="0" y="0"/>
                </a:moveTo>
                <a:lnTo>
                  <a:pt x="9777117" y="0"/>
                </a:lnTo>
                <a:lnTo>
                  <a:pt x="9777117" y="4740606"/>
                </a:lnTo>
                <a:lnTo>
                  <a:pt x="0" y="474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42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67725" cy="10298430"/>
          </a:xfrm>
          <a:custGeom>
            <a:avLst/>
            <a:gdLst/>
            <a:ahLst/>
            <a:cxnLst/>
            <a:rect r="r" b="b" t="t" l="l"/>
            <a:pathLst>
              <a:path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845572"/>
          </a:xfrm>
          <a:custGeom>
            <a:avLst/>
            <a:gdLst/>
            <a:ahLst/>
            <a:cxnLst/>
            <a:rect r="r" b="b" t="t" l="l"/>
            <a:pathLst>
              <a:path h="10845572" w="18288000">
                <a:moveTo>
                  <a:pt x="0" y="0"/>
                </a:moveTo>
                <a:lnTo>
                  <a:pt x="18288000" y="0"/>
                </a:lnTo>
                <a:lnTo>
                  <a:pt x="18288000" y="10845572"/>
                </a:lnTo>
                <a:lnTo>
                  <a:pt x="0" y="1084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" t="0" r="-2487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5" t="-12836" r="-1185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F09275-BDA5-4D39-A7BC-38F4C653529F}"/>
</file>

<file path=customXml/itemProps2.xml><?xml version="1.0" encoding="utf-8"?>
<ds:datastoreItem xmlns:ds="http://schemas.openxmlformats.org/officeDocument/2006/customXml" ds:itemID="{7632479D-33CD-4FC4-B6CD-3EB8FE12EC91}"/>
</file>

<file path=customXml/itemProps3.xml><?xml version="1.0" encoding="utf-8"?>
<ds:datastoreItem xmlns:ds="http://schemas.openxmlformats.org/officeDocument/2006/customXml" ds:itemID="{D10F8A23-090E-4069-A364-0C59A13FA9C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progress_presentation.pptx</dc:title>
  <cp:revision>1</cp:revision>
  <dcterms:created xsi:type="dcterms:W3CDTF">2006-08-16T00:00:00Z</dcterms:created>
  <dcterms:modified xsi:type="dcterms:W3CDTF">2011-08-01T06:04:30Z</dcterms:modified>
  <dc:identifier>DAHJF5FFwmI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