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27C66C-E055-42E7-A884-5AB969E8559D}" v="5" dt="2026-08-31T18:01:28.8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10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as jayaweera" userId="442cb86a2de8e17b" providerId="LiveId" clId="{E16B7109-3A68-4E6F-B0A2-44E4E53CCECD}"/>
    <pc:docChg chg="modSld">
      <pc:chgData name="yasas jayaweera" userId="442cb86a2de8e17b" providerId="LiveId" clId="{E16B7109-3A68-4E6F-B0A2-44E4E53CCECD}" dt="2026-08-31T18:01:42.943" v="45" actId="20577"/>
      <pc:docMkLst>
        <pc:docMk/>
      </pc:docMkLst>
      <pc:sldChg chg="modSp">
        <pc:chgData name="yasas jayaweera" userId="442cb86a2de8e17b" providerId="LiveId" clId="{E16B7109-3A68-4E6F-B0A2-44E4E53CCECD}" dt="2026-08-31T17:57:30.470" v="0"/>
        <pc:sldMkLst>
          <pc:docMk/>
          <pc:sldMk cId="0" sldId="257"/>
        </pc:sldMkLst>
        <pc:spChg chg="mod">
          <ac:chgData name="yasas jayaweera" userId="442cb86a2de8e17b" providerId="LiveId" clId="{E16B7109-3A68-4E6F-B0A2-44E4E53CCECD}" dt="2026-08-31T17:57:30.470" v="0"/>
          <ac:spMkLst>
            <pc:docMk/>
            <pc:sldMk cId="0" sldId="257"/>
            <ac:spMk id="2" creationId="{00000000-0000-0000-0000-000000000000}"/>
          </ac:spMkLst>
        </pc:spChg>
      </pc:sldChg>
      <pc:sldChg chg="modSp">
        <pc:chgData name="yasas jayaweera" userId="442cb86a2de8e17b" providerId="LiveId" clId="{E16B7109-3A68-4E6F-B0A2-44E4E53CCECD}" dt="2026-08-31T17:57:46.598" v="1"/>
        <pc:sldMkLst>
          <pc:docMk/>
          <pc:sldMk cId="0" sldId="258"/>
        </pc:sldMkLst>
        <pc:spChg chg="mod">
          <ac:chgData name="yasas jayaweera" userId="442cb86a2de8e17b" providerId="LiveId" clId="{E16B7109-3A68-4E6F-B0A2-44E4E53CCECD}" dt="2026-08-31T17:57:46.598" v="1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yasas jayaweera" userId="442cb86a2de8e17b" providerId="LiveId" clId="{E16B7109-3A68-4E6F-B0A2-44E4E53CCECD}" dt="2026-08-31T17:59:12.068" v="30" actId="1036"/>
        <pc:sldMkLst>
          <pc:docMk/>
          <pc:sldMk cId="0" sldId="259"/>
        </pc:sldMkLst>
        <pc:spChg chg="mod">
          <ac:chgData name="yasas jayaweera" userId="442cb86a2de8e17b" providerId="LiveId" clId="{E16B7109-3A68-4E6F-B0A2-44E4E53CCECD}" dt="2026-08-31T17:58:09.970" v="2"/>
          <ac:spMkLst>
            <pc:docMk/>
            <pc:sldMk cId="0" sldId="259"/>
            <ac:spMk id="2" creationId="{00000000-0000-0000-0000-000000000000}"/>
          </ac:spMkLst>
        </pc:spChg>
        <pc:spChg chg="mod">
          <ac:chgData name="yasas jayaweera" userId="442cb86a2de8e17b" providerId="LiveId" clId="{E16B7109-3A68-4E6F-B0A2-44E4E53CCECD}" dt="2026-08-31T17:58:47.244" v="10" actId="10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yasas jayaweera" userId="442cb86a2de8e17b" providerId="LiveId" clId="{E16B7109-3A68-4E6F-B0A2-44E4E53CCECD}" dt="2026-08-31T17:58:55.307" v="17" actId="1036"/>
          <ac:spMkLst>
            <pc:docMk/>
            <pc:sldMk cId="0" sldId="259"/>
            <ac:spMk id="8" creationId="{00000000-0000-0000-0000-000000000000}"/>
          </ac:spMkLst>
        </pc:spChg>
        <pc:spChg chg="mod">
          <ac:chgData name="yasas jayaweera" userId="442cb86a2de8e17b" providerId="LiveId" clId="{E16B7109-3A68-4E6F-B0A2-44E4E53CCECD}" dt="2026-08-31T17:59:06.075" v="23" actId="103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yasas jayaweera" userId="442cb86a2de8e17b" providerId="LiveId" clId="{E16B7109-3A68-4E6F-B0A2-44E4E53CCECD}" dt="2026-08-31T17:59:12.068" v="30" actId="1036"/>
          <ac:spMkLst>
            <pc:docMk/>
            <pc:sldMk cId="0" sldId="259"/>
            <ac:spMk id="18" creationId="{00000000-0000-0000-0000-000000000000}"/>
          </ac:spMkLst>
        </pc:spChg>
      </pc:sldChg>
      <pc:sldChg chg="modSp mod">
        <pc:chgData name="yasas jayaweera" userId="442cb86a2de8e17b" providerId="LiveId" clId="{E16B7109-3A68-4E6F-B0A2-44E4E53CCECD}" dt="2026-08-31T18:00:29.110" v="41" actId="20577"/>
        <pc:sldMkLst>
          <pc:docMk/>
          <pc:sldMk cId="0" sldId="260"/>
        </pc:sldMkLst>
        <pc:spChg chg="mod">
          <ac:chgData name="yasas jayaweera" userId="442cb86a2de8e17b" providerId="LiveId" clId="{E16B7109-3A68-4E6F-B0A2-44E4E53CCECD}" dt="2026-08-31T18:00:29.110" v="41" actId="20577"/>
          <ac:spMkLst>
            <pc:docMk/>
            <pc:sldMk cId="0" sldId="260"/>
            <ac:spMk id="2" creationId="{00000000-0000-0000-0000-000000000000}"/>
          </ac:spMkLst>
        </pc:spChg>
      </pc:sldChg>
      <pc:sldChg chg="modSp">
        <pc:chgData name="yasas jayaweera" userId="442cb86a2de8e17b" providerId="LiveId" clId="{E16B7109-3A68-4E6F-B0A2-44E4E53CCECD}" dt="2026-08-31T18:01:00.061" v="42"/>
        <pc:sldMkLst>
          <pc:docMk/>
          <pc:sldMk cId="0" sldId="261"/>
        </pc:sldMkLst>
        <pc:spChg chg="mod">
          <ac:chgData name="yasas jayaweera" userId="442cb86a2de8e17b" providerId="LiveId" clId="{E16B7109-3A68-4E6F-B0A2-44E4E53CCECD}" dt="2026-08-31T18:01:00.061" v="42"/>
          <ac:spMkLst>
            <pc:docMk/>
            <pc:sldMk cId="0" sldId="261"/>
            <ac:spMk id="2" creationId="{00000000-0000-0000-0000-000000000000}"/>
          </ac:spMkLst>
        </pc:spChg>
      </pc:sldChg>
      <pc:sldChg chg="modSp">
        <pc:chgData name="yasas jayaweera" userId="442cb86a2de8e17b" providerId="LiveId" clId="{E16B7109-3A68-4E6F-B0A2-44E4E53CCECD}" dt="2026-08-31T18:01:28.809" v="43"/>
        <pc:sldMkLst>
          <pc:docMk/>
          <pc:sldMk cId="0" sldId="262"/>
        </pc:sldMkLst>
        <pc:spChg chg="mod">
          <ac:chgData name="yasas jayaweera" userId="442cb86a2de8e17b" providerId="LiveId" clId="{E16B7109-3A68-4E6F-B0A2-44E4E53CCECD}" dt="2026-08-31T18:01:28.809" v="43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yasas jayaweera" userId="442cb86a2de8e17b" providerId="LiveId" clId="{E16B7109-3A68-4E6F-B0A2-44E4E53CCECD}" dt="2026-08-31T18:01:42.943" v="45" actId="20577"/>
        <pc:sldMkLst>
          <pc:docMk/>
          <pc:sldMk cId="0" sldId="263"/>
        </pc:sldMkLst>
        <pc:spChg chg="mod">
          <ac:chgData name="yasas jayaweera" userId="442cb86a2de8e17b" providerId="LiveId" clId="{E16B7109-3A68-4E6F-B0A2-44E4E53CCECD}" dt="2026-08-31T18:01:42.943" v="45" actId="20577"/>
          <ac:spMkLst>
            <pc:docMk/>
            <pc:sldMk cId="0" sldId="263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6596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0:00 - Opening. One desktop application, four garment-vision research components, running offline on the factory floor. Version 3.1 is the integrated production release, source-verified on 29 August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0:00-0:45. The problem. On an apparel line, four things get measured by hand: piece counts at the sewing station, good-versus-rework at quality checking, and style, colour and size at packing. The measurable pain point is the middle number: zero garments have a recorded cycle time, because nobody can hold a stopwatch on every piece. Rework and downtime are reported once a shift, from memory. Stakeholders run from the operator to the IE manager, and none of them can install a server room to fix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0:45-1:30. The gap has three parts. Existing shop-floor analytics assumes a network and an IT department. Vision research ships as isolated prototypes that cannot be merged without destroying provenance. And counting from video frame by frame over-counts, because repair motion looks like sewing. So the objectives: one offline installer, four preserved and independently owned components, evidence-based counting, an authenticated boundary between the UI and the AI runtime, and automated proof of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1:30-2:30. The solution is one Electron shell with a four-card selector. Top row: the four components and where they sit on the floor. Middle: the security boundary — React never reaches Python. Requests go renderer, preload, Electron main, and only main attaches the per-launch bearer token to a random loopback port. Below that, the counting rule that answers the over-counting gap: YOLO first asks whether a real workstation is even visible; only then does an eight-frame temporal MobileNetV3 classify sewing versus idle; a piece is counted only on a confirmed sewing-to-idle transition, and only while the operator controller says the mode is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2:30-3:30. Integration status. Every card is available and opens the original project, but nothing was merged: each member still owns their frontend folder, backend folder, checkpoint and database, and no backend can call another. Development shares one virtual environment and one node_modules; production freezes four separate sidecars into the installer. Version 3.1 was a corrective release that closed the four defects found on Windows — camera index ordering, the style/colour vision launcher, the size sidebar drag region, and an inconsistent startup screen. What remains is physical: a hardware rehearsal on the presentation machine and signing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3:30-4:30. Evaluation. 74 backend tests and 54 Electron and policy tests pass; TypeScript and ESLint are clean; the size model loads on real CPU and the style/colour launcher genuinely starts its vision service. Seven supplied artifacts — five checkpoints and two seed databases — are pinned by SHA-256, and the rework and size hashes match the standalone projects byte for byte, which is how we prove provenance was preserved. On the right, the non-functional requirements: the security model, transactional reliability, CPU-level performance at roughly three classifications a second, data integrity, portability to a clean machine, and maintainability enforced by tests rather than convention.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4:30-5:00. Commercialisation. This is licensed per workstation and can be sold one area at a time, and its strongest selling point is what it does not need — no server, no network, no IT department, just a PC, a camera and a five-dollar controller. Recurring revenue comes from support and per-customer retraining, because every plant sews its own styles. The demo now runs in this order: landing, then each of the four cards, then the filtered Analytics and Excel export. After that: hardware rehearsal, a signed installer, and a single-line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/ backup slide. The panel issued a warning at PP I on two points: synthetic data and progress below 50 percent for IT22627582, and a single RF model with no back end for IT22187796. This slide shows the letter and the direct answer: the submitted system now runs four trained models rather than one, every feature has a working FastAPI back end with its own database, and the whole thing is verified by 128 automated tests rather than asserted. REPLACE OR EXTEND the synthetic-data response before presenting — that point is not answered by the code in this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2A3596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3291840"/>
            <a:ext cx="3108960" cy="3108960"/>
          </a:xfrm>
          <a:prstGeom prst="ellipse">
            <a:avLst/>
          </a:prstGeom>
          <a:solidFill>
            <a:srgbClr val="2FC79A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8368"/>
            <a:ext cx="1051560" cy="1051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83080" y="89611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GARMENT INTELLIGENCE  ·  INTEGRATED PRODUCTION RELEASE  v3.1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057400"/>
            <a:ext cx="8778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desktop application.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garment-vision components.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36118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offline, installable Electron + Python platform that counts, inspects and measures garments across the sewing, quality-checking and packing areas — while keeping each research member's frontend, backend, trained model and database independently owned and verifiable.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4846320"/>
            <a:ext cx="2633472" cy="804672"/>
          </a:xfrm>
          <a:prstGeom prst="roundRect">
            <a:avLst>
              <a:gd name="adj" fmla="val 10227"/>
            </a:avLst>
          </a:prstGeom>
          <a:solidFill>
            <a:srgbClr val="1E23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9224" y="4992624"/>
            <a:ext cx="118872" cy="512064"/>
          </a:xfrm>
          <a:prstGeom prst="roundRect">
            <a:avLst>
              <a:gd name="adj" fmla="val 46154"/>
            </a:avLst>
          </a:prstGeom>
          <a:solidFill>
            <a:srgbClr val="2FA3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86968" y="4992624"/>
            <a:ext cx="2139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b="1" kern="0" spc="12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CHECKING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Counter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346704" y="4846320"/>
            <a:ext cx="2633472" cy="804672"/>
          </a:xfrm>
          <a:prstGeom prst="roundRect">
            <a:avLst>
              <a:gd name="adj" fmla="val 10227"/>
            </a:avLst>
          </a:prstGeom>
          <a:solidFill>
            <a:srgbClr val="1E23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93008" y="4992624"/>
            <a:ext cx="118872" cy="512064"/>
          </a:xfrm>
          <a:prstGeom prst="roundRect">
            <a:avLst>
              <a:gd name="adj" fmla="val 46154"/>
            </a:avLst>
          </a:prstGeom>
          <a:solidFill>
            <a:srgbClr val="3B4B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3730752" y="4992624"/>
            <a:ext cx="2139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b="1" kern="0" spc="12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SEWING AREA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Monitoring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90488" y="4846320"/>
            <a:ext cx="2633472" cy="804672"/>
          </a:xfrm>
          <a:prstGeom prst="roundRect">
            <a:avLst>
              <a:gd name="adj" fmla="val 10227"/>
            </a:avLst>
          </a:prstGeom>
          <a:solidFill>
            <a:srgbClr val="1E23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336792" y="4992624"/>
            <a:ext cx="118872" cy="512064"/>
          </a:xfrm>
          <a:prstGeom prst="roundRect">
            <a:avLst>
              <a:gd name="adj" fmla="val 46154"/>
            </a:avLst>
          </a:prstGeom>
          <a:solidFill>
            <a:srgbClr val="7C4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574536" y="4992624"/>
            <a:ext cx="2139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b="1" kern="0" spc="12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AREA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&amp; Colour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9034272" y="4846320"/>
            <a:ext cx="2633472" cy="804672"/>
          </a:xfrm>
          <a:prstGeom prst="roundRect">
            <a:avLst>
              <a:gd name="adj" fmla="val 10227"/>
            </a:avLst>
          </a:prstGeom>
          <a:solidFill>
            <a:srgbClr val="1E23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180576" y="4992624"/>
            <a:ext cx="118872" cy="512064"/>
          </a:xfrm>
          <a:prstGeom prst="roundRect">
            <a:avLst>
              <a:gd name="adj" fmla="val 46154"/>
            </a:avLst>
          </a:prstGeom>
          <a:solidFill>
            <a:srgbClr val="1C7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9418320" y="4992624"/>
            <a:ext cx="2139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b="1" kern="0" spc="12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AREA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Detection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60533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verification 2026-08-29   ·   128 automated tests passing   ·   Windows &amp; macOS installers   ·   No cloud, no server, no factory IT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latin typeface="Cambria" panose="02040503050406030204" pitchFamily="18" charset="0"/>
                <a:ea typeface="Cambria" panose="02040503050406030204" pitchFamily="18" charset="0"/>
              </a:rPr>
              <a:t>The Problem: Manual Production Tracking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02920" y="106070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apparel line runs four separate manual checkpoints — and none of them leaves usable data behind.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82496"/>
            <a:ext cx="420624" cy="420624"/>
          </a:xfrm>
          <a:prstGeom prst="ellipse">
            <a:avLst/>
          </a:prstGeom>
          <a:solidFill>
            <a:srgbClr val="3B4B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02920" y="1682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2763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Sewing area — tallied on a clipboard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975104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piece counts are written by hand. Cycle time per garment is never captured at all, so line balancing and target setting run on estimates.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420624" cy="420624"/>
          </a:xfrm>
          <a:prstGeom prst="ellipse">
            <a:avLst/>
          </a:prstGeom>
          <a:solidFill>
            <a:srgbClr val="7C4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96265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packing — judged by eye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310128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Good-versus-rework split, garment style, dominant colour and finished size are each verified visually at a different station, with no shared record.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352544"/>
            <a:ext cx="420624" cy="420624"/>
          </a:xfrm>
          <a:prstGeom prst="ellipse">
            <a:avLst/>
          </a:prstGeom>
          <a:solidFill>
            <a:srgbClr val="2FC7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02920" y="4352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29768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— retyped at shift end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645152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and downtime are reported from operator memory, then retyped into spreadsheets before a supervisor ever sees a number.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60920" y="1572768"/>
            <a:ext cx="4297680" cy="1170432"/>
          </a:xfrm>
          <a:prstGeom prst="roundRect">
            <a:avLst>
              <a:gd name="adj" fmla="val 7031"/>
            </a:avLst>
          </a:prstGeom>
          <a:solidFill>
            <a:srgbClr val="E9F7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607808" y="1664208"/>
            <a:ext cx="1234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FA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8796528" y="1700784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garments with a measured cycle time under the manual baseline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60920" y="2962656"/>
            <a:ext cx="4297680" cy="1170432"/>
          </a:xfrm>
          <a:prstGeom prst="roundRect">
            <a:avLst>
              <a:gd name="adj" fmla="val 7031"/>
            </a:avLst>
          </a:prstGeom>
          <a:solidFill>
            <a:srgbClr val="F1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607808" y="3054096"/>
            <a:ext cx="1234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3B4B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8796528" y="3090672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manual checkpoints on a single production line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60920" y="4352544"/>
            <a:ext cx="4297680" cy="1170432"/>
          </a:xfrm>
          <a:prstGeom prst="roundRect">
            <a:avLst>
              <a:gd name="adj" fmla="val 7031"/>
            </a:avLst>
          </a:prstGeom>
          <a:solidFill>
            <a:srgbClr val="F1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607808" y="4443984"/>
            <a:ext cx="1234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3B4B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1×</a:t>
            </a:r>
            <a:endParaRPr lang="en-US" sz="4400" dirty="0"/>
          </a:p>
        </p:txBody>
      </p:sp>
      <p:sp>
        <p:nvSpPr>
          <p:cNvPr id="24" name="Text 22"/>
          <p:cNvSpPr txBox="1"/>
          <p:nvPr/>
        </p:nvSpPr>
        <p:spPr>
          <a:xfrm>
            <a:off x="8796528" y="44805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shift — rework and downtime recorded, from memory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5705856"/>
            <a:ext cx="11155680" cy="676656"/>
          </a:xfrm>
          <a:prstGeom prst="roundRect">
            <a:avLst>
              <a:gd name="adj" fmla="val 12162"/>
            </a:avLst>
          </a:prstGeom>
          <a:solidFill>
            <a:srgbClr val="1417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22960" y="5705856"/>
            <a:ext cx="1051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   </a:t>
            </a:r>
            <a:r>
              <a:rPr lang="en-US" sz="120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Sewing operator   ·   Quality checker   ·   Packing team   ·   Line supervisor   ·   Production / IE manager   ·   Plant IT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latin typeface="Cambria" panose="02040503050406030204" pitchFamily="18" charset="0"/>
                <a:ea typeface="Cambria" panose="02040503050406030204" pitchFamily="18" charset="0"/>
              </a:rPr>
              <a:t>Research Gap and Project Objectives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02920" y="106070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worked on its own. None of them was a product, and putting them together was the unsolved part.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40680" cy="4709160"/>
          </a:xfrm>
          <a:prstGeom prst="roundRect">
            <a:avLst>
              <a:gd name="adj" fmla="val 1748"/>
            </a:avLst>
          </a:prstGeom>
          <a:solidFill>
            <a:srgbClr val="F1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8470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2A3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23591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B4B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78992" y="2276856"/>
            <a:ext cx="4590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Shop-floor analytics assumes connectivity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2578608"/>
            <a:ext cx="4590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systems are web or cloud dashboards needing a server, a network and factory IT. A sewing floor needs an offline installable application that runs on one PC.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71246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B4B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078992" y="3630168"/>
            <a:ext cx="4590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components ship as isolated prototypes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3931920"/>
            <a:ext cx="4590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its own repository, virtual environment, ports, checkpoint and database. Merging the code destroys authorship and model provenance; leaving them apart destroys the product.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506577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B4B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078992" y="4983480"/>
            <a:ext cx="4590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Frame-wise counting over-counts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5285232"/>
            <a:ext cx="4590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every frame as “sewing” also counts repair motion and unrelated scenes, and nothing ties the count to what the operator is actually doing at that moment.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45352" y="1645920"/>
            <a:ext cx="5440680" cy="4709160"/>
          </a:xfrm>
          <a:prstGeom prst="roundRect">
            <a:avLst>
              <a:gd name="adj" fmla="val 1748"/>
            </a:avLst>
          </a:prstGeom>
          <a:solidFill>
            <a:srgbClr val="1417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565392" y="18470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2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65392" y="2322576"/>
            <a:ext cx="310896" cy="310896"/>
          </a:xfrm>
          <a:prstGeom prst="ellipse">
            <a:avLst/>
          </a:prstGeom>
          <a:solidFill>
            <a:srgbClr val="3B4B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565392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004304" y="226771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one offline desktop installer covering sewing, quality checking and packing.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3127248"/>
            <a:ext cx="310896" cy="310896"/>
          </a:xfrm>
          <a:prstGeom prst="ellipse">
            <a:avLst/>
          </a:prstGeom>
          <a:solidFill>
            <a:srgbClr val="3B4B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565392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004304" y="3072384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each member's frontend, backend, checkpoint and database as independently verifiable assets.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65392" y="3931920"/>
            <a:ext cx="310896" cy="310896"/>
          </a:xfrm>
          <a:prstGeom prst="ellipse">
            <a:avLst/>
          </a:prstGeom>
          <a:solidFill>
            <a:srgbClr val="3B4B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565392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004304" y="3877056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count evidence-based: a scene gate, a confirmed temporal transition and a hardware interlock, not a single frame.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65392" y="4736592"/>
            <a:ext cx="310896" cy="310896"/>
          </a:xfrm>
          <a:prstGeom prst="ellipse">
            <a:avLst/>
          </a:prstGeom>
          <a:solidFill>
            <a:srgbClr val="3B4B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565392" y="4736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004304" y="468172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AI runtime behind an authenticated boundary the user interface cannot reach.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65392" y="5541264"/>
            <a:ext cx="310896" cy="310896"/>
          </a:xfrm>
          <a:prstGeom prst="ellipse">
            <a:avLst/>
          </a:prstGeom>
          <a:solidFill>
            <a:srgbClr val="3B4B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565392" y="5541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004304" y="54864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production readiness with automated policy tests and a reproducible release pipeline.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41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shell, four owned components, one authenticated boundary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97600"/>
            <a:ext cx="263347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DE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9224" y="1115568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33272" y="106984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1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CHECKING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49224" y="132588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Counter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9224" y="1600200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Good-piece and rework-piece counting from live camera or video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46704" y="1081558"/>
            <a:ext cx="263347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DE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93008" y="1115568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3B4B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877056" y="106984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1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SEWING AREA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132588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Monitoring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1600200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 counting, cycle-time analysis, ESP32-C3 operator events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90488" y="1065516"/>
            <a:ext cx="263347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DE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36792" y="1115568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7C4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720840" y="106984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1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AREA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6336792" y="132588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&amp; Colour Detection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36792" y="1600200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recognition, dominant-colour extraction, packing analytics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34272" y="1081558"/>
            <a:ext cx="263347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DE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80576" y="1115568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1C7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9564624" y="106984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1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AREA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9180576" y="132588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Detection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180576" y="1600200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Marker-free measurement and production-size classification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23408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2A3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DESKTOP BOUNDARY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2615184"/>
            <a:ext cx="2099462" cy="731520"/>
          </a:xfrm>
          <a:prstGeom prst="roundRect">
            <a:avLst>
              <a:gd name="adj" fmla="val 11250"/>
            </a:avLst>
          </a:prstGeom>
          <a:solidFill>
            <a:srgbClr val="F1F3FC"/>
          </a:solidFill>
          <a:ln w="12700">
            <a:solidFill>
              <a:srgbClr val="DDE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30936" y="2688336"/>
            <a:ext cx="184343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renderer</a:t>
            </a:r>
            <a:endParaRPr lang="en-US" sz="115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90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Sandboxed, no Node access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625242" y="2930652"/>
            <a:ext cx="118872" cy="100584"/>
          </a:xfrm>
          <a:prstGeom prst="rightArrow">
            <a:avLst/>
          </a:prstGeom>
          <a:solidFill>
            <a:srgbClr val="3B4B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66974" y="2615184"/>
            <a:ext cx="2099462" cy="731520"/>
          </a:xfrm>
          <a:prstGeom prst="roundRect">
            <a:avLst>
              <a:gd name="adj" fmla="val 11250"/>
            </a:avLst>
          </a:prstGeom>
          <a:solidFill>
            <a:srgbClr val="F1F3FC"/>
          </a:solidFill>
          <a:ln w="12700">
            <a:solidFill>
              <a:srgbClr val="DDE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2894990" y="2688336"/>
            <a:ext cx="184343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Preload bridge</a:t>
            </a:r>
            <a:endParaRPr lang="en-US" sz="115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90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allow-listed IPC only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89297" y="2930652"/>
            <a:ext cx="118872" cy="100584"/>
          </a:xfrm>
          <a:prstGeom prst="rightArrow">
            <a:avLst/>
          </a:prstGeom>
          <a:solidFill>
            <a:srgbClr val="3B4B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31029" y="2615184"/>
            <a:ext cx="2099462" cy="731520"/>
          </a:xfrm>
          <a:prstGeom prst="roundRect">
            <a:avLst>
              <a:gd name="adj" fmla="val 11250"/>
            </a:avLst>
          </a:prstGeom>
          <a:solidFill>
            <a:srgbClr val="F1F3FC"/>
          </a:solidFill>
          <a:ln w="12700">
            <a:solidFill>
              <a:srgbClr val="DDE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5159045" y="2688336"/>
            <a:ext cx="184343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main</a:t>
            </a:r>
            <a:endParaRPr lang="en-US" sz="115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90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every privileged action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153351" y="2930652"/>
            <a:ext cx="118872" cy="100584"/>
          </a:xfrm>
          <a:prstGeom prst="rightArrow">
            <a:avLst/>
          </a:prstGeom>
          <a:solidFill>
            <a:srgbClr val="3B4B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295083" y="2615184"/>
            <a:ext cx="2099462" cy="731520"/>
          </a:xfrm>
          <a:prstGeom prst="roundRect">
            <a:avLst>
              <a:gd name="adj" fmla="val 11250"/>
            </a:avLst>
          </a:prstGeom>
          <a:solidFill>
            <a:srgbClr val="F1F3FC"/>
          </a:solidFill>
          <a:ln w="12700">
            <a:solidFill>
              <a:srgbClr val="DDE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7423099" y="2688336"/>
            <a:ext cx="184343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sidecar</a:t>
            </a:r>
            <a:endParaRPr lang="en-US" sz="115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90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port + per-launch token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417406" y="2930652"/>
            <a:ext cx="118872" cy="100584"/>
          </a:xfrm>
          <a:prstGeom prst="rightArrow">
            <a:avLst/>
          </a:prstGeom>
          <a:solidFill>
            <a:srgbClr val="3B4B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559138" y="2615184"/>
            <a:ext cx="2099462" cy="731520"/>
          </a:xfrm>
          <a:prstGeom prst="roundRect">
            <a:avLst>
              <a:gd name="adj" fmla="val 11250"/>
            </a:avLst>
          </a:prstGeom>
          <a:solidFill>
            <a:srgbClr val="F1F3FC"/>
          </a:solidFill>
          <a:ln w="12700">
            <a:solidFill>
              <a:srgbClr val="DDE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9687154" y="2688336"/>
            <a:ext cx="184343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models</a:t>
            </a:r>
            <a:endParaRPr lang="en-US" sz="115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90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per feature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356616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COUNTING RULE  ·  PRODUCTION MONITORING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3840480"/>
            <a:ext cx="2099462" cy="731520"/>
          </a:xfrm>
          <a:prstGeom prst="roundRect">
            <a:avLst>
              <a:gd name="adj" fmla="val 11250"/>
            </a:avLst>
          </a:prstGeom>
          <a:solidFill>
            <a:srgbClr val="E9F7F1"/>
          </a:solidFill>
          <a:ln w="12700">
            <a:solidFill>
              <a:srgbClr val="CF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630936" y="3913632"/>
            <a:ext cx="184343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</a:t>
            </a:r>
            <a:endParaRPr lang="en-US" sz="115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90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OpenCV, real device index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625242" y="4155948"/>
            <a:ext cx="118872" cy="100584"/>
          </a:xfrm>
          <a:prstGeom prst="rightArrow">
            <a:avLst/>
          </a:prstGeom>
          <a:solidFill>
            <a:srgbClr val="2FA3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766974" y="3840480"/>
            <a:ext cx="2099462" cy="731520"/>
          </a:xfrm>
          <a:prstGeom prst="roundRect">
            <a:avLst>
              <a:gd name="adj" fmla="val 11250"/>
            </a:avLst>
          </a:prstGeom>
          <a:solidFill>
            <a:srgbClr val="E9F7F1"/>
          </a:solidFill>
          <a:ln w="12700">
            <a:solidFill>
              <a:srgbClr val="CF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2894990" y="3913632"/>
            <a:ext cx="184343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gate</a:t>
            </a:r>
            <a:endParaRPr lang="en-US" sz="115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90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workstation visible? 640×640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889297" y="4155948"/>
            <a:ext cx="118872" cy="100584"/>
          </a:xfrm>
          <a:prstGeom prst="rightArrow">
            <a:avLst/>
          </a:prstGeom>
          <a:solidFill>
            <a:srgbClr val="2FA3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031029" y="3840480"/>
            <a:ext cx="2099462" cy="731520"/>
          </a:xfrm>
          <a:prstGeom prst="roundRect">
            <a:avLst>
              <a:gd name="adj" fmla="val 11250"/>
            </a:avLst>
          </a:prstGeom>
          <a:solidFill>
            <a:srgbClr val="E9F7F1"/>
          </a:solidFill>
          <a:ln w="12700">
            <a:solidFill>
              <a:srgbClr val="CF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5159045" y="3913632"/>
            <a:ext cx="184343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MobileNetV3</a:t>
            </a:r>
            <a:endParaRPr lang="en-US" sz="115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90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frames, 1.5 s, 224×224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153351" y="4155948"/>
            <a:ext cx="118872" cy="100584"/>
          </a:xfrm>
          <a:prstGeom prst="rightArrow">
            <a:avLst/>
          </a:prstGeom>
          <a:solidFill>
            <a:srgbClr val="2FA3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295083" y="3840480"/>
            <a:ext cx="2099462" cy="731520"/>
          </a:xfrm>
          <a:prstGeom prst="roundRect">
            <a:avLst>
              <a:gd name="adj" fmla="val 11250"/>
            </a:avLst>
          </a:prstGeom>
          <a:solidFill>
            <a:srgbClr val="E9F7F1"/>
          </a:solidFill>
          <a:ln w="12700">
            <a:solidFill>
              <a:srgbClr val="CF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7423099" y="3913632"/>
            <a:ext cx="184343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transition</a:t>
            </a:r>
            <a:endParaRPr lang="en-US" sz="115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90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SEWING ≥2.0 s → IDLE ≥0.6 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417406" y="4155948"/>
            <a:ext cx="118872" cy="100584"/>
          </a:xfrm>
          <a:prstGeom prst="rightArrow">
            <a:avLst/>
          </a:prstGeom>
          <a:solidFill>
            <a:srgbClr val="2FA3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559138" y="3840480"/>
            <a:ext cx="2099462" cy="731520"/>
          </a:xfrm>
          <a:prstGeom prst="roundRect">
            <a:avLst>
              <a:gd name="adj" fmla="val 11250"/>
            </a:avLst>
          </a:prstGeom>
          <a:solidFill>
            <a:srgbClr val="E9F7F1"/>
          </a:solidFill>
          <a:ln w="12700">
            <a:solidFill>
              <a:srgbClr val="CFE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9687154" y="3913632"/>
            <a:ext cx="184343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garment</a:t>
            </a:r>
            <a:endParaRPr lang="en-US" sz="115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90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Transactional, cycle time recorded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02920" y="4864608"/>
            <a:ext cx="5440680" cy="1481328"/>
          </a:xfrm>
          <a:prstGeom prst="roundRect">
            <a:avLst>
              <a:gd name="adj" fmla="val 5556"/>
            </a:avLst>
          </a:prstGeom>
          <a:solidFill>
            <a:srgbClr val="F1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804672" y="50109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interlock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04672" y="5285232"/>
            <a:ext cx="4846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ESP32-C3 controller over Bluetooth: B records rework, C records downtime, D returns to normal. Counting pauses during rework, downtime and any controller outage — and the confirmed garment count is never reset by any of them.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245352" y="4864608"/>
            <a:ext cx="5440680" cy="1481328"/>
          </a:xfrm>
          <a:prstGeom prst="roundRect">
            <a:avLst>
              <a:gd name="adj" fmla="val 5556"/>
            </a:avLst>
          </a:prstGeom>
          <a:solidFill>
            <a:srgbClr val="F1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6547104" y="50109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model isolation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6547104" y="5285232"/>
            <a:ext cx="4846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stay read-only under models/&lt;feature&gt;. Each service writes only to its own folder in Electron's per-user data directory, so one member's records are unreachable from another's service and an app update cannot overwrite them.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41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without merging and corrected 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607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cards are implemented, wired to their own service, and open the original project behind them.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7360920" cy="1847088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CARD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OWNER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OWNER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42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Rework Counter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42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garment-rework-frontend/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42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garment-rework-backend/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42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best.pt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42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42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Monitoring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42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garment-counter-frontend/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42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garment-counter-backend/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42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best.pt + best_model.pt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42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42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 &amp; Colour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42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garment-style-colour-frontend/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42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garment-style-colour-backend/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42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best.pt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42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42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42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garment-size-frontend/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42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garment-size-backend/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42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best_model.pt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E42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anchor="ctr">
                    <a:lnL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1645920"/>
            <a:ext cx="7360920" cy="310896"/>
          </a:xfrm>
          <a:prstGeom prst="rect">
            <a:avLst/>
          </a:prstGeom>
          <a:solidFill>
            <a:srgbClr val="1417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3"/>
          <p:cNvSpPr txBox="1"/>
          <p:nvPr/>
        </p:nvSpPr>
        <p:spPr>
          <a:xfrm>
            <a:off x="585216" y="164592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CARD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2185416" y="1645920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OWNER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968496" y="164592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OWNER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843016" y="1645920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1645920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3675888"/>
            <a:ext cx="7360920" cy="1207008"/>
          </a:xfrm>
          <a:prstGeom prst="roundRect">
            <a:avLst>
              <a:gd name="adj" fmla="val 6818"/>
            </a:avLst>
          </a:prstGeom>
          <a:solidFill>
            <a:srgbClr val="F1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804672" y="380390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runtimes, separate code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" y="4078224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runs one Python 3.12 environment and one node_modules tree. Production freezes four independent executable sidecars into the installer. No backend imports or calls another backend, and adding an endpoint requires an owning-backend route, an IPC allow-list entry, a typed preload method and a policy test.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02920" y="5102352"/>
            <a:ext cx="7360920" cy="1243584"/>
          </a:xfrm>
          <a:prstGeom prst="roundRect">
            <a:avLst>
              <a:gd name="adj" fmla="val 6618"/>
            </a:avLst>
          </a:prstGeom>
          <a:solidFill>
            <a:srgbClr val="E9F7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804672" y="523036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lifecycle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04672" y="550468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starts only the service the selected card needs, on a dynamic loopback port the feature UI never sees. Style &amp; Colour keeps its original 8000 / 5050 API-plus-vision split, restricted to 127.0.0.1. Leaving a card releases its camera before the next one opens it.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092440" y="1645920"/>
            <a:ext cx="3593592" cy="3072384"/>
          </a:xfrm>
          <a:prstGeom prst="roundRect">
            <a:avLst>
              <a:gd name="adj" fmla="val 2679"/>
            </a:avLst>
          </a:prstGeom>
          <a:solidFill>
            <a:srgbClr val="1417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8366760" y="18288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2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IN v3.1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366760" y="229514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FC7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613648" y="21945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camera selection now opens the same physical device it names, in DirectShow index order.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366760" y="289864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FC7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8613648" y="27980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&amp; Colour vision service exposes a real run_service() entry point, with separate API and vision logs.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366760" y="350215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FC7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8613648" y="3401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Detection navigation no longer inherits the title-bar drag region, so its sidebar accepts clicks.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366760" y="410565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FC7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8613648" y="400507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features share one centred, branded startup screen with retry and return actions.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092440" y="4937760"/>
            <a:ext cx="3593592" cy="1408176"/>
          </a:xfrm>
          <a:prstGeom prst="roundRect">
            <a:avLst>
              <a:gd name="adj" fmla="val 5844"/>
            </a:avLst>
          </a:prstGeom>
          <a:solidFill>
            <a:srgbClr val="F1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8366760" y="50840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2A3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BEFORE HANDOVER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430768" y="5376672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camera, lighting and ESP32 rehearsal on the presentation machine.</a:t>
            </a:r>
            <a:endParaRPr lang="en-US" sz="105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signing / notarisation credentials for outside-team distribution.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latin typeface="Cambria" panose="02040503050406030204" pitchFamily="18" charset="0"/>
                <a:ea typeface="Cambria" panose="02040503050406030204" pitchFamily="18" charset="0"/>
              </a:rPr>
              <a:t>Production Monitoring: Evidence-Based Counting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02920" y="10607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was executed against the integrated source, not asserted in a document.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578608" cy="1133856"/>
          </a:xfrm>
          <a:prstGeom prst="roundRect">
            <a:avLst>
              <a:gd name="adj" fmla="val 7258"/>
            </a:avLst>
          </a:prstGeom>
          <a:solidFill>
            <a:srgbClr val="F1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85800" y="1719072"/>
            <a:ext cx="868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B4B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581912" y="175564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Monitoring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 passed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82696" y="1645920"/>
            <a:ext cx="2578608" cy="1133856"/>
          </a:xfrm>
          <a:prstGeom prst="roundRect">
            <a:avLst>
              <a:gd name="adj" fmla="val 7258"/>
            </a:avLst>
          </a:prstGeom>
          <a:solidFill>
            <a:srgbClr val="F1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465576" y="1719072"/>
            <a:ext cx="868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7C4D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75564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Electron, policy and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tests passed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962656"/>
            <a:ext cx="2578608" cy="1133856"/>
          </a:xfrm>
          <a:prstGeom prst="roundRect">
            <a:avLst>
              <a:gd name="adj" fmla="val 7258"/>
            </a:avLst>
          </a:prstGeom>
          <a:solidFill>
            <a:srgbClr val="F1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85800" y="3035808"/>
            <a:ext cx="868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FA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1581912" y="3072384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warnings;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passed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82696" y="2962656"/>
            <a:ext cx="2578608" cy="1133856"/>
          </a:xfrm>
          <a:prstGeom prst="roundRect">
            <a:avLst>
              <a:gd name="adj" fmla="val 7258"/>
            </a:avLst>
          </a:prstGeom>
          <a:solidFill>
            <a:srgbClr val="F1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465576" y="3035808"/>
            <a:ext cx="868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C7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4361688" y="3072384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supplied artifacts pinned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SHA-256 checksum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315968"/>
            <a:ext cx="5358384" cy="2029968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DE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04672" y="44805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2A3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VERIFIED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73168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model loaded on real CPU; Style &amp; Colour launcher loaded its YOLO model and started the live vision service.</a:t>
            </a:r>
            <a:endParaRPr lang="en-US" sz="10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main, preload, React, Tailwind v4 and scoped feature CSS all compiled for production.</a:t>
            </a:r>
            <a:endParaRPr lang="en-US" sz="10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doctor validated scientific dependencies, all model files and branding; OpenCV pinned to 4.11.0.86 on Python 3.12.13.</a:t>
            </a:r>
            <a:endParaRPr lang="en-US" sz="10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and Size model and database hashes match their supplied standalone projects exactly.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14264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2A3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1719072"/>
            <a:ext cx="265176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DE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36792" y="190195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B4B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556248" y="1810512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336792" y="2130552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isolation, sandboxing and no Node access in the renderer; named IPC only, verified senders; the per-launch token never reaches React.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997696" y="1719072"/>
            <a:ext cx="265176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DE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162288" y="190195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9381744" y="1810512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162288" y="2130552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Serialised BEGIN IMMEDIATE writes, transactional piece and IoT events, active-session recovery after restart, bounded backoff reconnection.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72200" y="3291840"/>
            <a:ext cx="265176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DE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36792" y="347472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7C4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556248" y="338328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336792" y="3703320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classification roughly every 0.3 s over a 1.5-second window, five-prediction smoothing at a 0.55 confidence floor — on CPU.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997696" y="3291840"/>
            <a:ext cx="265176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DE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162288" y="347472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C7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9381744" y="338328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9162288" y="3703320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checkpoints, per-user writable database outside the installed app, employee and line snapshots frozen into each session record.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72200" y="4864608"/>
            <a:ext cx="265176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DE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336792" y="50474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FC7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6556248" y="495604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336792" y="5276088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Windows Setup EXE and macOS APP / ZIP / DMG at version 1.0.3; customers install no Python, Node.js or browser runtime.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997696" y="4864608"/>
            <a:ext cx="265176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DDE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162288" y="50474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A35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9381744" y="495604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9162288" y="5276088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ownership enforced by tests: no backend-to-backend calls, no arbitrary URL fetching, every new route explicitly allow-listed.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120640" cy="5120640"/>
          </a:xfrm>
          <a:prstGeom prst="ellipse">
            <a:avLst/>
          </a:prstGeom>
          <a:solidFill>
            <a:srgbClr val="2A3596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Commercialisation</a:t>
            </a:r>
            <a:r>
              <a:rPr lang="en-US" sz="33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Strategy &amp; Demo Roadmap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02920" y="1060704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sells because of what it does not need: no server, no network, no factory IT.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727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2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883664"/>
            <a:ext cx="310896" cy="310896"/>
          </a:xfrm>
          <a:prstGeom prst="ellipse">
            <a:avLst/>
          </a:prstGeom>
          <a:solidFill>
            <a:srgbClr val="3B4B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02920" y="1883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183794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per workstation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21031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as a plant bundle or per area — sewing, quality checking or packing — so a line can start with one module and add the others.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852928"/>
            <a:ext cx="310896" cy="310896"/>
          </a:xfrm>
          <a:prstGeom prst="ellipse">
            <a:avLst/>
          </a:prstGeom>
          <a:solidFill>
            <a:srgbClr val="3B4B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02920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50976" y="280720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hardware floor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50976" y="3072384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commodity Windows PC, a USB camera and one ESP32-C3 controller per sewing station. No rewiring, no machine retrofit.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822192"/>
            <a:ext cx="310896" cy="310896"/>
          </a:xfrm>
          <a:prstGeom prst="ellipse">
            <a:avLst/>
          </a:prstGeom>
          <a:solidFill>
            <a:srgbClr val="3B4B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2920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950976" y="377647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50976" y="404164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support and a per-customer retraining service, since every plant sews its own styles on its own workstations.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791456"/>
            <a:ext cx="310896" cy="310896"/>
          </a:xfrm>
          <a:prstGeom prst="ellipse">
            <a:avLst/>
          </a:prstGeom>
          <a:solidFill>
            <a:srgbClr val="3B4B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02920" y="4791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50976" y="474573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asset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50976" y="501091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preserved trained checkpoints plus the integration and security architecture that makes them one shippable product.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55080" y="1517904"/>
            <a:ext cx="5330952" cy="3986784"/>
          </a:xfrm>
          <a:prstGeom prst="roundRect">
            <a:avLst>
              <a:gd name="adj" fmla="val 2064"/>
            </a:avLst>
          </a:prstGeom>
          <a:solidFill>
            <a:srgbClr val="1E23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656832" y="17007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2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ROADMAP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656832" y="208483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4304" y="2039112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landing page into the four-card selector.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656832" y="263347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04304" y="2587752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Counter — good versus rework pieces on the live feed.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656832" y="318211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004304" y="3136392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Monitoring — session, live count, cycle-time chart, and the ESP32 rework, downtime and reset buttons.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656832" y="373075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004304" y="3685032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&amp; Colour — style recognised, dominant colours extracted, history saved.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656832" y="427939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004304" y="4233672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Detection — garment measured at the calibrated camera height and classified.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656832" y="482803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004304" y="4782312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with filters, then the styled five-sheet Excel export.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5687568"/>
            <a:ext cx="11183112" cy="694944"/>
          </a:xfrm>
          <a:prstGeom prst="roundRect">
            <a:avLst>
              <a:gd name="adj" fmla="val 11842"/>
            </a:avLst>
          </a:prstGeom>
          <a:solidFill>
            <a:srgbClr val="2A35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822960" y="5687568"/>
            <a:ext cx="10607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F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rehearsal on the target machine   →   signed installer   →   single-line pilot   →   full line rollout   →   multi-line plant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41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 I warning </a:t>
            </a:r>
            <a:r>
              <a:rPr lang="en-US" sz="3300" b="1">
                <a:solidFill>
                  <a:srgbClr val="141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letter and </a:t>
            </a:r>
            <a:r>
              <a:rPr lang="en-US" sz="3300" b="1" dirty="0">
                <a:solidFill>
                  <a:srgbClr val="141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 since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6070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R26-IT-054  ·  AI-Powered Vision System for Real-Time Garment Tracking in Apparel Manufacturing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4754880" cy="4718304"/>
          </a:xfrm>
          <a:prstGeom prst="roundRect">
            <a:avLst>
              <a:gd name="adj" fmla="val 1744"/>
            </a:avLst>
          </a:prstGeom>
          <a:solidFill>
            <a:srgbClr val="F1F3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warning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83080"/>
            <a:ext cx="4443984" cy="40782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5925312"/>
            <a:ext cx="4443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27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of Warning, issued at Proposal Presentation I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17007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2A3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RAISED BY THE PANEL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577840" y="2011680"/>
            <a:ext cx="610819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779008" y="21945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D24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998464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IT22627582  ·  Pathiraja H.P.M.H.D.S.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998464" y="239572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working with synthetic data, and progress is below 50%.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577840" y="3054096"/>
            <a:ext cx="610819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1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779008" y="323697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D24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998464" y="31455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IT22187796  ·  Jayarathna W.G.U.C.G.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998464" y="343814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model (RF) was used, and no back-end implementation was provided.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4224528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IN THIS SUBMISSION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577840" y="4562856"/>
            <a:ext cx="256032" cy="256032"/>
          </a:xfrm>
          <a:prstGeom prst="ellipse">
            <a:avLst/>
          </a:prstGeom>
          <a:solidFill>
            <a:srgbClr val="2FA3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5577840" y="4562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961888" y="4498848"/>
            <a:ext cx="5724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trained models, not one — </a:t>
            </a:r>
            <a:r>
              <a:rPr lang="en-US" sz="10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workstation detector, temporal MobileNetV3 classifier, and the rework, style/colour and size detectors — each with its checkpoint pinned by SHA-256.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577840" y="5184648"/>
            <a:ext cx="256032" cy="256032"/>
          </a:xfrm>
          <a:prstGeom prst="ellipse">
            <a:avLst/>
          </a:prstGeom>
          <a:solidFill>
            <a:srgbClr val="2FA3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5577840" y="5184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961888" y="5120640"/>
            <a:ext cx="5724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 end exists for every feature — </a:t>
            </a:r>
            <a:r>
              <a:rPr lang="en-US" sz="10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FastAPI services with their own SQLite databases, started by Electron on isolated loopback ports.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577840" y="5806440"/>
            <a:ext cx="256032" cy="256032"/>
          </a:xfrm>
          <a:prstGeom prst="ellipse">
            <a:avLst/>
          </a:prstGeom>
          <a:solidFill>
            <a:srgbClr val="2FA3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5577840" y="5806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961888" y="5742432"/>
            <a:ext cx="5724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14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not asserted — </a:t>
            </a:r>
            <a:r>
              <a:rPr lang="en-US" sz="1050" dirty="0">
                <a:solidFill>
                  <a:srgbClr val="3E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backend tests, 54 platform tests, TypeScript and ESLint clean, on the source verified 29 August 2026.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2514</Words>
  <Application>Microsoft Office PowerPoint</Application>
  <PresentationFormat>Widescreen</PresentationFormat>
  <Paragraphs>226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Garment Intelligence 3.1</dc:title>
  <dc:subject>PptxGenJS Presentation</dc:subject>
  <dc:creator>Garment Intelligence Team</dc:creator>
  <cp:lastModifiedBy>yasas jayaweera</cp:lastModifiedBy>
  <cp:revision>1</cp:revision>
  <dcterms:created xsi:type="dcterms:W3CDTF">2026-08-31T17:47:24Z</dcterms:created>
  <dcterms:modified xsi:type="dcterms:W3CDTF">2026-08-31T18:01:46Z</dcterms:modified>
</cp:coreProperties>
</file>